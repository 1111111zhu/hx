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heme/themeOverride2.xml" ContentType="application/vnd.openxmlformats-officedocument.themeOverr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9" r:id="rId2"/>
  </p:sldMasterIdLst>
  <p:notesMasterIdLst>
    <p:notesMasterId r:id="rId36"/>
  </p:notesMasterIdLst>
  <p:handoutMasterIdLst>
    <p:handoutMasterId r:id="rId37"/>
  </p:handoutMasterIdLst>
  <p:sldIdLst>
    <p:sldId id="1352" r:id="rId3"/>
    <p:sldId id="1382" r:id="rId4"/>
    <p:sldId id="1353" r:id="rId5"/>
    <p:sldId id="1357" r:id="rId6"/>
    <p:sldId id="1360" r:id="rId7"/>
    <p:sldId id="1358" r:id="rId8"/>
    <p:sldId id="1359" r:id="rId9"/>
    <p:sldId id="1322" r:id="rId10"/>
    <p:sldId id="1361" r:id="rId11"/>
    <p:sldId id="1362" r:id="rId12"/>
    <p:sldId id="346" r:id="rId13"/>
    <p:sldId id="365" r:id="rId14"/>
    <p:sldId id="1209" r:id="rId15"/>
    <p:sldId id="269" r:id="rId16"/>
    <p:sldId id="270" r:id="rId17"/>
    <p:sldId id="1281" r:id="rId18"/>
    <p:sldId id="1282" r:id="rId19"/>
    <p:sldId id="1283" r:id="rId20"/>
    <p:sldId id="1215" r:id="rId21"/>
    <p:sldId id="1383" r:id="rId22"/>
    <p:sldId id="1284" r:id="rId23"/>
    <p:sldId id="1365" r:id="rId24"/>
    <p:sldId id="1366" r:id="rId25"/>
    <p:sldId id="258" r:id="rId26"/>
    <p:sldId id="1377" r:id="rId27"/>
    <p:sldId id="1378" r:id="rId28"/>
    <p:sldId id="1379" r:id="rId29"/>
    <p:sldId id="1380" r:id="rId30"/>
    <p:sldId id="1381" r:id="rId31"/>
    <p:sldId id="1373" r:id="rId32"/>
    <p:sldId id="1374" r:id="rId33"/>
    <p:sldId id="1375" r:id="rId34"/>
    <p:sldId id="1376" r:id="rId35"/>
  </p:sldIdLst>
  <p:sldSz cx="12192000" cy="6858000"/>
  <p:notesSz cx="7102475" cy="10233025"/>
  <p:embeddedFontLst>
    <p:embeddedFont>
      <p:font typeface="Calibri Light" panose="020F0302020204030204" pitchFamily="34" charset="0"/>
      <p:regular r:id="rId38"/>
      <p:italic r:id="rId39"/>
    </p:embeddedFont>
    <p:embeddedFont>
      <p:font typeface="黑体" panose="02010609060101010101" pitchFamily="49" charset="-122"/>
      <p:regular r:id="rId40"/>
    </p:embeddedFont>
    <p:embeddedFont>
      <p:font typeface="Arial Black" panose="020B0A04020102020204" pitchFamily="34" charset="0"/>
      <p:bold r:id="rId41"/>
    </p:embeddedFont>
    <p:embeddedFont>
      <p:font typeface="Calibri" panose="020F0502020204030204" pitchFamily="34" charset="0"/>
      <p:regular r:id="rId42"/>
      <p:bold r:id="rId43"/>
      <p:italic r:id="rId44"/>
      <p:boldItalic r:id="rId45"/>
    </p:embeddedFont>
    <p:embeddedFont>
      <p:font typeface="汉仪文黑-55W" panose="00020600040101010101" pitchFamily="18" charset="-122"/>
      <p:regular r:id="rId46"/>
    </p:embeddedFont>
    <p:embeddedFont>
      <p:font typeface="微软雅黑" panose="020B0503020204020204" pitchFamily="34" charset="-122"/>
      <p:regular r:id="rId47"/>
      <p:bold r:id="rId48"/>
    </p:embeddedFont>
  </p:embeddedFontLst>
  <p:custDataLst>
    <p:tags r:id="rId4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055" userDrawn="1">
          <p15:clr>
            <a:srgbClr val="A4A3A4"/>
          </p15:clr>
        </p15:guide>
        <p15:guide id="2" orient="horz" pos="39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FFFFFF"/>
    <a:srgbClr val="D7CEE1"/>
    <a:srgbClr val="E6E0EC"/>
    <a:srgbClr val="5A2781"/>
    <a:srgbClr val="531C93"/>
    <a:srgbClr val="B2B2B0"/>
    <a:srgbClr val="FF8C34"/>
    <a:srgbClr val="46255D"/>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15" autoAdjust="0"/>
    <p:restoredTop sz="91679" autoAdjust="0"/>
  </p:normalViewPr>
  <p:slideViewPr>
    <p:cSldViewPr snapToGrid="0" showGuides="1">
      <p:cViewPr varScale="1">
        <p:scale>
          <a:sx n="60" d="100"/>
          <a:sy n="60" d="100"/>
        </p:scale>
        <p:origin x="700" y="40"/>
      </p:cViewPr>
      <p:guideLst>
        <p:guide pos="4055"/>
        <p:guide orient="horz" pos="3998"/>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624"/>
    </p:cViewPr>
  </p:sorter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2.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8.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4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7602" cy="513412"/>
          </a:xfrm>
          <a:prstGeom prst="rect">
            <a:avLst/>
          </a:prstGeom>
        </p:spPr>
        <p:txBody>
          <a:bodyPr vert="horz" lIns="91415" tIns="45708" rIns="91415" bIns="45708" rtlCol="0"/>
          <a:lstStyle>
            <a:lvl1pPr algn="l">
              <a:defRPr sz="1200"/>
            </a:lvl1pPr>
          </a:lstStyle>
          <a:p>
            <a:endParaRPr lang="zh-CN" altLang="en-US"/>
          </a:p>
        </p:txBody>
      </p:sp>
      <p:sp>
        <p:nvSpPr>
          <p:cNvPr id="3" name="日期占位符 2"/>
          <p:cNvSpPr>
            <a:spLocks noGrp="1"/>
          </p:cNvSpPr>
          <p:nvPr>
            <p:ph type="dt" sz="quarter" idx="1"/>
          </p:nvPr>
        </p:nvSpPr>
        <p:spPr>
          <a:xfrm>
            <a:off x="4022912" y="0"/>
            <a:ext cx="3077602" cy="513412"/>
          </a:xfrm>
          <a:prstGeom prst="rect">
            <a:avLst/>
          </a:prstGeom>
        </p:spPr>
        <p:txBody>
          <a:bodyPr vert="horz" lIns="91415" tIns="45708" rIns="91415" bIns="45708" rtlCol="0"/>
          <a:lstStyle>
            <a:lvl1pPr algn="r">
              <a:defRPr sz="1200"/>
            </a:lvl1pPr>
          </a:lstStyle>
          <a:p>
            <a:fld id="{0F9B84EA-7D68-4D60-9CB1-D50884785D1C}" type="datetimeFigureOut">
              <a:rPr lang="zh-CN" altLang="en-US" smtClean="0"/>
              <a:t>2026/8/28</a:t>
            </a:fld>
            <a:endParaRPr lang="zh-CN" altLang="en-US"/>
          </a:p>
        </p:txBody>
      </p:sp>
      <p:sp>
        <p:nvSpPr>
          <p:cNvPr id="4" name="页脚占位符 3"/>
          <p:cNvSpPr>
            <a:spLocks noGrp="1"/>
          </p:cNvSpPr>
          <p:nvPr>
            <p:ph type="ftr" sz="quarter" idx="2"/>
          </p:nvPr>
        </p:nvSpPr>
        <p:spPr>
          <a:xfrm>
            <a:off x="0" y="9719297"/>
            <a:ext cx="3077602" cy="513411"/>
          </a:xfrm>
          <a:prstGeom prst="rect">
            <a:avLst/>
          </a:prstGeom>
        </p:spPr>
        <p:txBody>
          <a:bodyPr vert="horz" lIns="91415" tIns="45708" rIns="91415" bIns="45708"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4022912" y="9719297"/>
            <a:ext cx="3077602" cy="513411"/>
          </a:xfrm>
          <a:prstGeom prst="rect">
            <a:avLst/>
          </a:prstGeom>
        </p:spPr>
        <p:txBody>
          <a:bodyPr vert="horz" lIns="91415" tIns="45708" rIns="91415" bIns="45708"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3077475" cy="512683"/>
          </a:xfrm>
          <a:prstGeom prst="rect">
            <a:avLst/>
          </a:prstGeom>
        </p:spPr>
        <p:txBody>
          <a:bodyPr vert="horz" lIns="91415" tIns="45708" rIns="91415" bIns="45708" rtlCol="0"/>
          <a:lstStyle>
            <a:lvl1pPr algn="l">
              <a:defRPr sz="1200"/>
            </a:lvl1pPr>
          </a:lstStyle>
          <a:p>
            <a:endParaRPr lang="zh-CN" altLang="en-US"/>
          </a:p>
        </p:txBody>
      </p:sp>
      <p:sp>
        <p:nvSpPr>
          <p:cNvPr id="3" name="日期占位符 2"/>
          <p:cNvSpPr>
            <a:spLocks noGrp="1"/>
          </p:cNvSpPr>
          <p:nvPr>
            <p:ph type="dt" idx="1"/>
          </p:nvPr>
        </p:nvSpPr>
        <p:spPr>
          <a:xfrm>
            <a:off x="4023414" y="1"/>
            <a:ext cx="3077474" cy="512683"/>
          </a:xfrm>
          <a:prstGeom prst="rect">
            <a:avLst/>
          </a:prstGeom>
        </p:spPr>
        <p:txBody>
          <a:bodyPr vert="horz" lIns="91415" tIns="45708" rIns="91415" bIns="45708" rtlCol="0"/>
          <a:lstStyle>
            <a:lvl1pPr algn="r">
              <a:defRPr sz="1200"/>
            </a:lvl1pPr>
          </a:lstStyle>
          <a:p>
            <a:fld id="{D6C8D182-E4C8-4120-9249-FC9774456FFA}" type="datetimeFigureOut">
              <a:rPr lang="zh-CN" altLang="en-US" smtClean="0"/>
              <a:t>2026/8/28</a:t>
            </a:fld>
            <a:endParaRPr lang="zh-CN" altLang="en-US"/>
          </a:p>
        </p:txBody>
      </p:sp>
      <p:sp>
        <p:nvSpPr>
          <p:cNvPr id="4" name="幻灯片图像占位符 3"/>
          <p:cNvSpPr>
            <a:spLocks noGrp="1" noRot="1" noChangeAspect="1"/>
          </p:cNvSpPr>
          <p:nvPr>
            <p:ph type="sldImg" idx="2"/>
          </p:nvPr>
        </p:nvSpPr>
        <p:spPr>
          <a:xfrm>
            <a:off x="481013" y="1279525"/>
            <a:ext cx="6142037" cy="3454400"/>
          </a:xfrm>
          <a:prstGeom prst="rect">
            <a:avLst/>
          </a:prstGeom>
          <a:noFill/>
          <a:ln w="12700">
            <a:solidFill>
              <a:prstClr val="black"/>
            </a:solidFill>
          </a:ln>
        </p:spPr>
        <p:txBody>
          <a:bodyPr vert="horz" lIns="91415" tIns="45708" rIns="91415" bIns="45708" rtlCol="0" anchor="ctr"/>
          <a:lstStyle/>
          <a:p>
            <a:endParaRPr lang="zh-CN" altLang="en-US"/>
          </a:p>
        </p:txBody>
      </p:sp>
      <p:sp>
        <p:nvSpPr>
          <p:cNvPr id="5" name="备注占位符 4"/>
          <p:cNvSpPr>
            <a:spLocks noGrp="1"/>
          </p:cNvSpPr>
          <p:nvPr>
            <p:ph type="body" sz="quarter" idx="3"/>
          </p:nvPr>
        </p:nvSpPr>
        <p:spPr>
          <a:xfrm>
            <a:off x="711041" y="4925249"/>
            <a:ext cx="5681980" cy="4028450"/>
          </a:xfrm>
          <a:prstGeom prst="rect">
            <a:avLst/>
          </a:prstGeom>
        </p:spPr>
        <p:txBody>
          <a:bodyPr vert="horz" lIns="91415" tIns="45708" rIns="91415" bIns="45708"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1" y="9720343"/>
            <a:ext cx="3077475" cy="512683"/>
          </a:xfrm>
          <a:prstGeom prst="rect">
            <a:avLst/>
          </a:prstGeom>
        </p:spPr>
        <p:txBody>
          <a:bodyPr vert="horz" lIns="91415" tIns="45708" rIns="91415" bIns="45708"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414" y="9720343"/>
            <a:ext cx="3077474" cy="512683"/>
          </a:xfrm>
          <a:prstGeom prst="rect">
            <a:avLst/>
          </a:prstGeom>
        </p:spPr>
        <p:txBody>
          <a:bodyPr vert="horz" lIns="91415" tIns="45708" rIns="91415" bIns="45708"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96133-794D-A5B4-7DA3-097163CB33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A11E5D-5E28-3BEA-936A-6610A4A16F3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4080DA6-FDC5-FD80-4F65-CE3FF30B62D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05DE354-5751-B01A-9B5F-B5EFC2C8C7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D0DACE-38E0-42D2-9336-2B707D34BC6D}" type="slidenum">
              <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endParaRPr>
          </a:p>
        </p:txBody>
      </p:sp>
    </p:spTree>
    <p:extLst>
      <p:ext uri="{BB962C8B-B14F-4D97-AF65-F5344CB8AC3E}">
        <p14:creationId xmlns:p14="http://schemas.microsoft.com/office/powerpoint/2010/main" val="691051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D0DACE-38E0-42D2-9336-2B707D34BC6D}" type="slidenum">
              <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rPr>
              <a:t>3</a:t>
            </a:fld>
            <a:endPar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D0DACE-38E0-42D2-9336-2B707D34BC6D}" type="slidenum">
              <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rPr>
              <a:t>4</a:t>
            </a:fld>
            <a:endPar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D0DACE-38E0-42D2-9336-2B707D34BC6D}" type="slidenum">
              <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rPr>
              <a:t>5</a:t>
            </a:fld>
            <a:endPar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D0DACE-38E0-42D2-9336-2B707D34BC6D}" type="slidenum">
              <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rPr>
              <a:t>6</a:t>
            </a:fld>
            <a:endPar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D0DACE-38E0-42D2-9336-2B707D34BC6D}" type="slidenum">
              <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rPr>
              <a:t>7</a:t>
            </a:fld>
            <a:endPar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D0DACE-38E0-42D2-9336-2B707D34BC6D}" type="slidenum">
              <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rPr>
              <a:t>8</a:t>
            </a:fld>
            <a:endPar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D0DACE-38E0-42D2-9336-2B707D34BC6D}" type="slidenum">
              <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rPr>
              <a:t>9</a:t>
            </a:fld>
            <a:endParaRPr kumimoji="0" lang="zh-CN" altLang="en-US" sz="1200" b="0" i="0" u="none" strike="noStrike" kern="1200" cap="none" spc="0" normalizeH="0" baseline="0" noProof="0">
              <a:ln>
                <a:noFill/>
              </a:ln>
              <a:solidFill>
                <a:prstClr val="black"/>
              </a:solidFill>
              <a:effectLst/>
              <a:uLnTx/>
              <a:uFillTx/>
              <a:latin typeface="微软雅黑" charset="-122"/>
              <a:ea typeface="微软雅黑"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pPr defTabSz="914400">
              <a:defRPr/>
            </a:pPr>
            <a:r>
              <a:rPr lang="en-US" altLang="zh-CN" b="1" dirty="0">
                <a:solidFill>
                  <a:schemeClr val="bg1">
                    <a:lumMod val="85000"/>
                  </a:schemeClr>
                </a:solidFill>
                <a:latin typeface="汉仪文黑-55W" pitchFamily="18" charset="-122"/>
                <a:ea typeface="汉仪文黑-55W" pitchFamily="18" charset="-122"/>
                <a:sym typeface="+mn-ea"/>
              </a:rPr>
              <a:t>9</a:t>
            </a:r>
            <a:endParaRPr lang="zh-CN" altLang="en-US" b="1" dirty="0">
              <a:solidFill>
                <a:schemeClr val="bg1">
                  <a:lumMod val="85000"/>
                </a:schemeClr>
              </a:solidFill>
              <a:latin typeface="汉仪文黑-55W" pitchFamily="18" charset="-122"/>
              <a:ea typeface="汉仪文黑-55W" pitchFamily="18" charset="-122"/>
            </a:endParaRPr>
          </a:p>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a:p>
          <a:p>
            <a:r>
              <a:t>
[Sources]
- 医药行业周报底稿20260807-快照1.xlsx：申万一级行业周涨跌幅，数据截至2026-08-07。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5D0DACE-38E0-42D2-9336-2B707D34BC6D}"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5D0DACE-38E0-42D2-9336-2B707D34BC6D}"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5D0DACE-38E0-42D2-9336-2B707D34BC6D}"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5D0DACE-38E0-42D2-9336-2B707D34BC6D}" type="slidenum">
              <a:rPr lang="zh-CN" altLang="en-US" smtClean="0"/>
              <a:t>20</a:t>
            </a:fld>
            <a:endParaRPr lang="zh-CN" altLang="en-US"/>
          </a:p>
        </p:txBody>
      </p:sp>
    </p:spTree>
    <p:extLst>
      <p:ext uri="{BB962C8B-B14F-4D97-AF65-F5344CB8AC3E}">
        <p14:creationId xmlns:p14="http://schemas.microsoft.com/office/powerpoint/2010/main" val="8176900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5D0DACE-38E0-42D2-9336-2B707D34BC6D}"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[Sources]</a:t>
            </a:r>
          </a:p>
          <a:p>
            <a:r>
              <a:t>- https://www.nhsa.gov.cn/art/2026/8/20/art_109_21834.html</a:t>
            </a:r>
          </a:p>
          <a:p>
            <a:r>
              <a:t>- https://www.nmpa.gov.cn/zhuanti/cxylqx/cxypxx/20260820090036159.html</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269178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[Sources]</a:t>
            </a:r>
          </a:p>
          <a:p>
            <a:r>
              <a:t>- https://mp.weixin.qq.com/s?__biz=Mzg2NjY2OTYxNw==&amp;mid=2247633074&amp;idx=1&amp;sn=d74a0a33e85deadcf5f8407760790f1a&amp;chksm=bu9tel4sfts6x2lpzd00qaicqrfsbla9z3l2kdq5zomc9d97wvv35qdec0whm1ct8ipx6ezvz5tb</a:t>
            </a:r>
          </a:p>
          <a:p>
            <a:r>
              <a:t>- https://mp.weixin.qq.com/s?__biz=Mzg2NjY2OTYxNw==&amp;mid=2247633067&amp;idx=1&amp;sn=8079c343260b9e9248d294d07be9579d&amp;chksm=ilow7epnyn3j21wr8ng62gzf0b956mb672aov1z08egnve6v3euzxlqeaod3cjse2ndtcovoe6q3</a:t>
            </a:r>
          </a:p>
          <a:p>
            <a:r>
              <a:t>- https://mp.weixin.qq.com/s?__biz=Mzg2NjY2OTYxNw==&amp;mid=2247633062&amp;idx=2&amp;sn=79c8c25cc11c5693b91648571e0e35f7&amp;chksm=0tal4e3f5wh3llk8mk8amc1ev158vis0tx39an80692ggha7asxojy8ehbsea15g0nec7c6ois0z</a:t>
            </a:r>
          </a:p>
          <a:p>
            <a:r>
              <a:t>- https://mp.weixin.qq.com/s?__biz=Mzg2NjY2OTYxNw==&amp;mid=2247633027&amp;idx=1&amp;sn=85421f63a5bd01c252b38507346bd637&amp;chksm=j8v4r2dylf68znmqyzn8dzuwz2dgjjludvky3h2sl17vne77ylua4wqfks5uji065w4hvq3yz899</a:t>
            </a:r>
          </a:p>
          <a:p>
            <a:r>
              <a:t>- https://mp.weixin.qq.com/s?__biz=Mzg2NjY2OTYxNw==&amp;mid=2247633027&amp;idx=2&amp;sn=69724b2dbf4a2f9d94ee104c21631c23&amp;chksm=zx0yox0n5na9syhbws03c74m84nzxl28ula219fg7jk8o62a8by8boandt4qkdnysrxu2y54dhop</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20596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[Sources]</a:t>
            </a:r>
          </a:p>
          <a:p>
            <a:r>
              <a:t>- https://mp.weixin.qq.com/s?__biz=Mzg2NjY2OTYxNw==&amp;mid=2247632973&amp;idx=1&amp;sn=fa55610731c57b110c9247aa5450dec1&amp;chksm=6mi1je1uvnuci0w11w1y0ymq2zaqp1k2ntgp2i378o65hsako4n5hcpznmchuxpfhx4tr1pcdku9</a:t>
            </a:r>
          </a:p>
          <a:p>
            <a:r>
              <a:t>- https://mp.weixin.qq.com/s?__biz=Mzg2NjY2OTYxNw==&amp;mid=2247632969&amp;idx=1&amp;sn=6aebc2f4e23855744da58873e2ee8616&amp;chksm=u2tblyf107zzjfups24m7rgbtvkth5qxpmi9fhx89g0gf5w8gttl9do4e78zur2uvbyu90jiqtgn</a:t>
            </a:r>
          </a:p>
          <a:p>
            <a:r>
              <a:t>- https://mp.weixin.qq.com/s?__biz=Mzg2NjY2OTYxNw==&amp;mid=2247632940&amp;idx=1&amp;sn=54d35dbda26510235320a408cd7b031e&amp;chksm=bhsjt5ia6kqc8b0jat0ho7hsjzpndnnlkmsbyqbgf257kcd4q2bn8c1shui3as0dgh9k6vdwhssn</a:t>
            </a:r>
          </a:p>
          <a:p>
            <a:r>
              <a:t>- https://mp.weixin.qq.com/s?__biz=Mzg2NjY2OTYxNw==&amp;mid=2247632922&amp;idx=1&amp;sn=93736cc6e0c79830698a9d47a93ab81b&amp;chksm=sb424ku59wbmnq8ip6j6ifmtau1p78h2ytqbht64ty01146qunyti82ilwdwa0wkslv91wclucos</a:t>
            </a:r>
          </a:p>
          <a:p>
            <a:r>
              <a:t>- https://mp.weixin.qq.com/s?__biz=Mzg2NjY2OTYxNw==&amp;mid=2247632912&amp;idx=1&amp;sn=c60745ddc305a37bd1c68e75df08455a&amp;chksm=tt24uhemjpc6watuvdloe47bqi0whmquy9gg8gc3nblbjw6uefrucf9hzxpwfu4k51zmyrlli9lf</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445585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[Sources]</a:t>
            </a:r>
          </a:p>
          <a:p>
            <a:r>
              <a:t>- https://static.sse.com.cn/disclosure/listedinfo/announcement/c/new/2026-08-21/688336_20260821_F20R.pdf</a:t>
            </a:r>
          </a:p>
          <a:p>
            <a:r>
              <a:t>- https://static.sse.com.cn/disclosure/listedinfo/announcement/c/new/2026-08-20/600276_20260820_4A1E.pdf</a:t>
            </a:r>
          </a:p>
          <a:p>
            <a:r>
              <a:t>- https://static.sse.com.cn/disclosure/listedinfo/announcement/c/new/2026-08-20/688578_20260820_O8KR.pdf</a:t>
            </a:r>
          </a:p>
          <a:p>
            <a:r>
              <a:t>- https://static.sse.com.cn/disclosure/listedinfo/announcement/c/new/2026-08-20/688271_20260820_4223.pdf</a:t>
            </a:r>
          </a:p>
          <a:p>
            <a:r>
              <a:t>- https://static.sse.com.cn/disclosure/listedinfo/announcement/c/new/2026-08-20/688617_20260820_M1Q0.pdf</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387101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t>[Sources]</a:t>
            </a:r>
          </a:p>
          <a:p>
            <a:r>
              <a:t>- https://static.sse.com.cn/disclosure/listedinfo/announcement/c/new/2026-08-19/688278_20260819_28F5.pdf</a:t>
            </a:r>
          </a:p>
          <a:p>
            <a:r>
              <a:t>- https://static.sse.com.cn/disclosure/listedinfo/announcement/c/new/2026-08-18/688506_20260818_XHCA.pdf</a:t>
            </a:r>
          </a:p>
          <a:p>
            <a:r>
              <a:t>- https://www1.hkexnews.hk/listedco/listconews/sehk/2026/0818/2026081800785_c.pdf</a:t>
            </a:r>
          </a:p>
          <a:p>
            <a:r>
              <a:t>- https://static.sse.com.cn/disclosure/listedinfo/announcement/c/new/2026-08-17/600196_20260817_OLJQ.pdf</a:t>
            </a:r>
          </a:p>
          <a:p>
            <a:r>
              <a:t>- https://static.sse.com.cn/disclosure/listedinfo/announcement/c/new/2026-08-15/600329_20260815_AP6B.pdf</a:t>
            </a:r>
          </a:p>
          <a:p>
            <a:r>
              <a:t>[/Sources]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183090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txBody>
          <a:bodyPr/>
          <a:lstStyle/>
          <a:p>
            <a:endParaRPr lang="zh-CN" altLang="en-US"/>
          </a:p>
        </p:txBody>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4" name="矩形 13"/>
          <p:cNvSpPr/>
          <p:nvPr userDrawn="1"/>
        </p:nvSpPr>
        <p:spPr>
          <a:xfrm>
            <a:off x="0" y="4869180"/>
            <a:ext cx="12192000" cy="1988820"/>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pic>
        <p:nvPicPr>
          <p:cNvPr id="15" name="图片 14" descr="华鑫证券logo横版-紫色橙图-浅色背景使用"/>
          <p:cNvPicPr>
            <a:picLocks noChangeAspect="1"/>
          </p:cNvPicPr>
          <p:nvPr userDrawn="1"/>
        </p:nvPicPr>
        <p:blipFill>
          <a:blip r:embed="rId2"/>
          <a:stretch>
            <a:fillRect/>
          </a:stretch>
        </p:blipFill>
        <p:spPr>
          <a:xfrm>
            <a:off x="9911715" y="405130"/>
            <a:ext cx="1908175" cy="434340"/>
          </a:xfrm>
          <a:prstGeom prst="rect">
            <a:avLst/>
          </a:prstGeom>
        </p:spPr>
      </p:pic>
      <p:pic>
        <p:nvPicPr>
          <p:cNvPr id="2" name="图片 1" descr="图片1"/>
          <p:cNvPicPr>
            <a:picLocks noChangeAspect="1"/>
          </p:cNvPicPr>
          <p:nvPr userDrawn="1"/>
        </p:nvPicPr>
        <p:blipFill>
          <a:blip r:embed="rId3"/>
          <a:stretch>
            <a:fillRect/>
          </a:stretch>
        </p:blipFill>
        <p:spPr>
          <a:xfrm>
            <a:off x="9103995" y="5248275"/>
            <a:ext cx="2600325" cy="1190625"/>
          </a:xfrm>
          <a:prstGeom prst="rect">
            <a:avLst/>
          </a:prstGeom>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5" name="页脚占位符 4"/>
          <p:cNvSpPr>
            <a:spLocks noGrp="1"/>
          </p:cNvSpPr>
          <p:nvPr>
            <p:ph type="ftr" sz="quarter" idx="11"/>
          </p:nvPr>
        </p:nvSpPr>
        <p:spPr/>
        <p:txBody>
          <a:bodyPr/>
          <a:lstStyle/>
          <a:p>
            <a:endParaRPr lang="zh-CN" altLang="en-US"/>
          </a:p>
        </p:txBody>
      </p:sp>
      <p:cxnSp>
        <p:nvCxnSpPr>
          <p:cNvPr id="11" name="直接连接符 10"/>
          <p:cNvCxnSpPr/>
          <p:nvPr userDrawn="1"/>
        </p:nvCxnSpPr>
        <p:spPr>
          <a:xfrm>
            <a:off x="516000" y="749935"/>
            <a:ext cx="11160000" cy="0"/>
          </a:xfrm>
          <a:prstGeom prst="line">
            <a:avLst/>
          </a:prstGeom>
          <a:ln>
            <a:solidFill>
              <a:srgbClr val="46255D"/>
            </a:solidFill>
          </a:ln>
        </p:spPr>
        <p:style>
          <a:lnRef idx="1">
            <a:schemeClr val="accent1"/>
          </a:lnRef>
          <a:fillRef idx="0">
            <a:schemeClr val="accent1"/>
          </a:fillRef>
          <a:effectRef idx="0">
            <a:schemeClr val="accent1"/>
          </a:effectRef>
          <a:fontRef idx="minor">
            <a:schemeClr val="tx1"/>
          </a:fontRef>
        </p:style>
      </p:cxnSp>
      <p:pic>
        <p:nvPicPr>
          <p:cNvPr id="12" name="图片 11" descr="华鑫证券logo横版-紫色橙图-浅色背景使用"/>
          <p:cNvPicPr>
            <a:picLocks noChangeAspect="1"/>
          </p:cNvPicPr>
          <p:nvPr userDrawn="1"/>
        </p:nvPicPr>
        <p:blipFill>
          <a:blip r:embed="rId2"/>
          <a:stretch>
            <a:fillRect/>
          </a:stretch>
        </p:blipFill>
        <p:spPr>
          <a:xfrm>
            <a:off x="10187305" y="282575"/>
            <a:ext cx="1493520" cy="339725"/>
          </a:xfrm>
          <a:prstGeom prst="rect">
            <a:avLst/>
          </a:prstGeom>
        </p:spPr>
      </p:pic>
      <p:grpSp>
        <p:nvGrpSpPr>
          <p:cNvPr id="17" name="组合 16"/>
          <p:cNvGrpSpPr/>
          <p:nvPr userDrawn="1"/>
        </p:nvGrpSpPr>
        <p:grpSpPr>
          <a:xfrm>
            <a:off x="-19555" y="6606000"/>
            <a:ext cx="12240000" cy="252000"/>
            <a:chOff x="501" y="10175"/>
            <a:chExt cx="17567" cy="282"/>
          </a:xfrm>
        </p:grpSpPr>
        <p:sp>
          <p:nvSpPr>
            <p:cNvPr id="14" name="矩形 13"/>
            <p:cNvSpPr/>
            <p:nvPr/>
          </p:nvSpPr>
          <p:spPr>
            <a:xfrm>
              <a:off x="501" y="10175"/>
              <a:ext cx="15874" cy="283"/>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sp>
          <p:nvSpPr>
            <p:cNvPr id="15" name="矩形 14"/>
            <p:cNvSpPr/>
            <p:nvPr/>
          </p:nvSpPr>
          <p:spPr>
            <a:xfrm>
              <a:off x="16368" y="10175"/>
              <a:ext cx="1701" cy="2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grpSp>
      <p:sp>
        <p:nvSpPr>
          <p:cNvPr id="7" name="文本框 6"/>
          <p:cNvSpPr txBox="1"/>
          <p:nvPr userDrawn="1"/>
        </p:nvSpPr>
        <p:spPr>
          <a:xfrm>
            <a:off x="506730" y="6310630"/>
            <a:ext cx="11174095" cy="275590"/>
          </a:xfrm>
          <a:prstGeom prst="rect">
            <a:avLst/>
          </a:prstGeom>
          <a:noFill/>
        </p:spPr>
        <p:txBody>
          <a:bodyPr wrap="square" lIns="0" rtlCol="0">
            <a:spAutoFit/>
          </a:bodyPr>
          <a:lstStyle/>
          <a:p>
            <a:r>
              <a:rPr lang="en-US" altLang="zh-CN" sz="1200" dirty="0">
                <a:solidFill>
                  <a:schemeClr val="tx1">
                    <a:lumMod val="65000"/>
                    <a:lumOff val="35000"/>
                  </a:schemeClr>
                </a:solidFill>
                <a:latin typeface="汉仪文黑-55W" pitchFamily="18" charset="-122"/>
                <a:ea typeface="汉仪文黑-55W" pitchFamily="18" charset="-122"/>
              </a:rPr>
              <a:t>*</a:t>
            </a:r>
            <a:r>
              <a:rPr lang="zh-CN" altLang="en-US" sz="1200" dirty="0">
                <a:solidFill>
                  <a:schemeClr val="tx1">
                    <a:lumMod val="65000"/>
                    <a:lumOff val="35000"/>
                  </a:schemeClr>
                </a:solidFill>
                <a:latin typeface="汉仪文黑-55W" pitchFamily="18" charset="-122"/>
                <a:ea typeface="汉仪文黑-55W" pitchFamily="18" charset="-122"/>
              </a:rPr>
              <a:t>风险提示（示例）行业景气度下行风险、新产品进度不及预期风险、行业竞争加剧风险、海外政策变化的风险等。</a:t>
            </a:r>
          </a:p>
        </p:txBody>
      </p:sp>
      <p:sp>
        <p:nvSpPr>
          <p:cNvPr id="6" name="灯片编号占位符 5"/>
          <p:cNvSpPr>
            <a:spLocks noGrp="1"/>
          </p:cNvSpPr>
          <p:nvPr>
            <p:ph type="sldNum" sz="quarter" idx="12"/>
          </p:nvPr>
        </p:nvSpPr>
        <p:spPr>
          <a:xfrm>
            <a:off x="11093450" y="6569710"/>
            <a:ext cx="1110615" cy="365125"/>
          </a:xfrm>
        </p:spPr>
        <p:txBody>
          <a:bodyPr/>
          <a:lstStyle>
            <a:lvl1pPr>
              <a:defRPr sz="1400"/>
            </a:lvl1pPr>
          </a:lstStyle>
          <a:p>
            <a:r>
              <a:rPr lang="en-US" altLang="zh-CN" dirty="0">
                <a:solidFill>
                  <a:schemeClr val="bg1">
                    <a:lumMod val="85000"/>
                  </a:schemeClr>
                </a:solidFill>
                <a:latin typeface="汉仪文黑-55W" pitchFamily="18" charset="-122"/>
                <a:ea typeface="汉仪文黑-55W" pitchFamily="18" charset="-122"/>
                <a:sym typeface="+mn-ea"/>
              </a:rPr>
              <a:t>PAGE </a:t>
            </a:r>
            <a:fld id="{9A0DB2DC-4C9A-4742-B13C-FB6460FD3503}" type="slidenum">
              <a:rPr lang="en-US" altLang="zh-CN" smtClean="0">
                <a:solidFill>
                  <a:schemeClr val="bg1">
                    <a:lumMod val="85000"/>
                  </a:schemeClr>
                </a:solidFill>
                <a:latin typeface="汉仪文黑-55W" pitchFamily="18" charset="-122"/>
                <a:ea typeface="汉仪文黑-55W" pitchFamily="18" charset="-122"/>
                <a:sym typeface="+mn-ea"/>
              </a:rPr>
              <a:t>‹#›</a:t>
            </a:fld>
            <a:endParaRPr lang="zh-CN" altLang="en-US" dirty="0">
              <a:latin typeface="汉仪文黑-55W" pitchFamily="18" charset="-122"/>
              <a:ea typeface="汉仪文黑-55W" pitchFamily="18" charset="-122"/>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5" name="页脚占位符 4"/>
          <p:cNvSpPr>
            <a:spLocks noGrp="1"/>
          </p:cNvSpPr>
          <p:nvPr>
            <p:ph type="ftr" sz="quarter" idx="11"/>
          </p:nvPr>
        </p:nvSpPr>
        <p:spPr/>
        <p:txBody>
          <a:bodyPr/>
          <a:lstStyle/>
          <a:p>
            <a:endParaRPr lang="zh-CN" altLang="en-US"/>
          </a:p>
        </p:txBody>
      </p:sp>
      <p:cxnSp>
        <p:nvCxnSpPr>
          <p:cNvPr id="11" name="直接连接符 10"/>
          <p:cNvCxnSpPr/>
          <p:nvPr userDrawn="1"/>
        </p:nvCxnSpPr>
        <p:spPr>
          <a:xfrm>
            <a:off x="516000" y="749935"/>
            <a:ext cx="11160000" cy="0"/>
          </a:xfrm>
          <a:prstGeom prst="line">
            <a:avLst/>
          </a:prstGeom>
          <a:ln>
            <a:solidFill>
              <a:srgbClr val="46255D"/>
            </a:solidFill>
          </a:ln>
        </p:spPr>
        <p:style>
          <a:lnRef idx="1">
            <a:schemeClr val="accent1"/>
          </a:lnRef>
          <a:fillRef idx="0">
            <a:schemeClr val="accent1"/>
          </a:fillRef>
          <a:effectRef idx="0">
            <a:schemeClr val="accent1"/>
          </a:effectRef>
          <a:fontRef idx="minor">
            <a:schemeClr val="tx1"/>
          </a:fontRef>
        </p:style>
      </p:cxnSp>
      <p:pic>
        <p:nvPicPr>
          <p:cNvPr id="12" name="图片 11" descr="华鑫证券logo横版-紫色橙图-浅色背景使用"/>
          <p:cNvPicPr>
            <a:picLocks noChangeAspect="1"/>
          </p:cNvPicPr>
          <p:nvPr userDrawn="1"/>
        </p:nvPicPr>
        <p:blipFill>
          <a:blip r:embed="rId2"/>
          <a:stretch>
            <a:fillRect/>
          </a:stretch>
        </p:blipFill>
        <p:spPr>
          <a:xfrm>
            <a:off x="10187305" y="282575"/>
            <a:ext cx="1493520" cy="339725"/>
          </a:xfrm>
          <a:prstGeom prst="rect">
            <a:avLst/>
          </a:prstGeom>
        </p:spPr>
      </p:pic>
      <p:grpSp>
        <p:nvGrpSpPr>
          <p:cNvPr id="17" name="组合 16"/>
          <p:cNvGrpSpPr/>
          <p:nvPr userDrawn="1"/>
        </p:nvGrpSpPr>
        <p:grpSpPr>
          <a:xfrm>
            <a:off x="-19555" y="6606000"/>
            <a:ext cx="12240000" cy="252000"/>
            <a:chOff x="501" y="10175"/>
            <a:chExt cx="17567" cy="282"/>
          </a:xfrm>
        </p:grpSpPr>
        <p:sp>
          <p:nvSpPr>
            <p:cNvPr id="14" name="矩形 13"/>
            <p:cNvSpPr/>
            <p:nvPr/>
          </p:nvSpPr>
          <p:spPr>
            <a:xfrm>
              <a:off x="501" y="10175"/>
              <a:ext cx="15874" cy="283"/>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sp>
          <p:nvSpPr>
            <p:cNvPr id="15" name="矩形 14"/>
            <p:cNvSpPr/>
            <p:nvPr/>
          </p:nvSpPr>
          <p:spPr>
            <a:xfrm>
              <a:off x="16368" y="10175"/>
              <a:ext cx="1701" cy="2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grpSp>
      <p:sp>
        <p:nvSpPr>
          <p:cNvPr id="8" name="灯片编号占位符 7"/>
          <p:cNvSpPr>
            <a:spLocks noGrp="1"/>
          </p:cNvSpPr>
          <p:nvPr>
            <p:ph type="sldNum" sz="quarter" idx="12"/>
          </p:nvPr>
        </p:nvSpPr>
        <p:spPr>
          <a:xfrm>
            <a:off x="11093450" y="6569710"/>
            <a:ext cx="1110615" cy="365125"/>
          </a:xfrm>
        </p:spPr>
        <p:txBody>
          <a:bodyPr/>
          <a:lstStyle>
            <a:lvl1pPr>
              <a:defRPr sz="1400"/>
            </a:lvl1pPr>
          </a:lstStyle>
          <a:p>
            <a:r>
              <a:rPr lang="en-US" altLang="zh-CN" dirty="0">
                <a:solidFill>
                  <a:schemeClr val="bg1">
                    <a:lumMod val="85000"/>
                  </a:schemeClr>
                </a:solidFill>
                <a:latin typeface="汉仪文黑-55W" pitchFamily="18" charset="-122"/>
                <a:ea typeface="汉仪文黑-55W" pitchFamily="18" charset="-122"/>
                <a:sym typeface="+mn-ea"/>
              </a:rPr>
              <a:t>PAGE </a:t>
            </a:r>
            <a:fld id="{9A0DB2DC-4C9A-4742-B13C-FB6460FD3503}" type="slidenum">
              <a:rPr lang="en-US" altLang="zh-CN" smtClean="0">
                <a:solidFill>
                  <a:schemeClr val="bg1">
                    <a:lumMod val="85000"/>
                  </a:schemeClr>
                </a:solidFill>
                <a:latin typeface="汉仪文黑-55W" pitchFamily="18" charset="-122"/>
                <a:ea typeface="汉仪文黑-55W" pitchFamily="18" charset="-122"/>
                <a:sym typeface="+mn-ea"/>
              </a:rPr>
              <a:t>‹#›</a:t>
            </a:fld>
            <a:endParaRPr lang="zh-CN" altLang="en-US" dirty="0">
              <a:latin typeface="汉仪文黑-55W" pitchFamily="18" charset="-122"/>
              <a:ea typeface="汉仪文黑-55W" pitchFamily="18" charset="-122"/>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矩形 10"/>
          <p:cNvSpPr/>
          <p:nvPr userDrawn="1"/>
        </p:nvSpPr>
        <p:spPr>
          <a:xfrm>
            <a:off x="0" y="0"/>
            <a:ext cx="12192000" cy="4619625"/>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pic>
        <p:nvPicPr>
          <p:cNvPr id="8" name="图片 7" descr="图片3"/>
          <p:cNvPicPr>
            <a:picLocks noChangeAspect="1"/>
          </p:cNvPicPr>
          <p:nvPr userDrawn="1"/>
        </p:nvPicPr>
        <p:blipFill>
          <a:blip r:embed="rId2"/>
          <a:stretch>
            <a:fillRect/>
          </a:stretch>
        </p:blipFill>
        <p:spPr>
          <a:xfrm>
            <a:off x="9353550" y="5479415"/>
            <a:ext cx="2315845" cy="1172210"/>
          </a:xfrm>
          <a:prstGeom prst="rect">
            <a:avLst/>
          </a:prstGeom>
        </p:spPr>
      </p:pic>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63" name="文本框 62"/>
          <p:cNvSpPr txBox="1"/>
          <p:nvPr userDrawn="1"/>
        </p:nvSpPr>
        <p:spPr>
          <a:xfrm>
            <a:off x="2303145" y="2580640"/>
            <a:ext cx="2145665" cy="829945"/>
          </a:xfrm>
          <a:prstGeom prst="rect">
            <a:avLst/>
          </a:prstGeom>
          <a:noFill/>
        </p:spPr>
        <p:txBody>
          <a:bodyPr wrap="square" rtlCol="0">
            <a:spAutoFit/>
          </a:bodyPr>
          <a:lstStyle/>
          <a:p>
            <a:pPr algn="ctr"/>
            <a:r>
              <a:rPr lang="zh-CN" altLang="en-US" sz="4800" dirty="0">
                <a:solidFill>
                  <a:srgbClr val="5A2781"/>
                </a:solidFill>
                <a:latin typeface="汉仪文黑-55W" pitchFamily="18" charset="-122"/>
                <a:ea typeface="汉仪文黑-55W" pitchFamily="18" charset="-122"/>
                <a:cs typeface="思源黑体 CN Bold" charset="-122"/>
              </a:rPr>
              <a:t>目 录</a:t>
            </a:r>
          </a:p>
        </p:txBody>
      </p:sp>
      <p:sp>
        <p:nvSpPr>
          <p:cNvPr id="64" name="文本框 63"/>
          <p:cNvSpPr txBox="1"/>
          <p:nvPr userDrawn="1"/>
        </p:nvSpPr>
        <p:spPr>
          <a:xfrm>
            <a:off x="2303145" y="3533140"/>
            <a:ext cx="2145665" cy="460375"/>
          </a:xfrm>
          <a:prstGeom prst="rect">
            <a:avLst/>
          </a:prstGeom>
          <a:noFill/>
        </p:spPr>
        <p:txBody>
          <a:bodyPr wrap="square" rtlCol="0">
            <a:spAutoFit/>
          </a:bodyPr>
          <a:lstStyle/>
          <a:p>
            <a:pPr algn="ctr"/>
            <a:r>
              <a:rPr lang="en-US" altLang="zh-CN" sz="2400" dirty="0">
                <a:solidFill>
                  <a:schemeClr val="accent2"/>
                </a:solidFill>
                <a:latin typeface="汉仪文黑-55W" pitchFamily="18" charset="-122"/>
                <a:ea typeface="汉仪文黑-55W" pitchFamily="18" charset="-122"/>
              </a:rPr>
              <a:t>CONTENTS</a:t>
            </a:r>
          </a:p>
        </p:txBody>
      </p:sp>
      <p:sp>
        <p:nvSpPr>
          <p:cNvPr id="10" name="矩形 9"/>
          <p:cNvSpPr/>
          <p:nvPr userDrawn="1"/>
        </p:nvSpPr>
        <p:spPr>
          <a:xfrm>
            <a:off x="4960620" y="2184400"/>
            <a:ext cx="36000" cy="2362200"/>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dirty="0">
              <a:latin typeface="汉仪文黑-55W" pitchFamily="18" charset="-122"/>
              <a:ea typeface="汉仪文黑-55W" pitchFamily="18" charset="-122"/>
              <a:sym typeface="+mn-ea"/>
            </a:endParaRPr>
          </a:p>
        </p:txBody>
      </p:sp>
      <p:grpSp>
        <p:nvGrpSpPr>
          <p:cNvPr id="17" name="组合 16"/>
          <p:cNvGrpSpPr/>
          <p:nvPr userDrawn="1"/>
        </p:nvGrpSpPr>
        <p:grpSpPr>
          <a:xfrm>
            <a:off x="-24000" y="6606000"/>
            <a:ext cx="12240000" cy="252000"/>
            <a:chOff x="501" y="10175"/>
            <a:chExt cx="17567" cy="282"/>
          </a:xfrm>
        </p:grpSpPr>
        <p:sp>
          <p:nvSpPr>
            <p:cNvPr id="14" name="矩形 13"/>
            <p:cNvSpPr/>
            <p:nvPr/>
          </p:nvSpPr>
          <p:spPr>
            <a:xfrm>
              <a:off x="501" y="10175"/>
              <a:ext cx="15874" cy="283"/>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sp>
          <p:nvSpPr>
            <p:cNvPr id="15" name="矩形 14"/>
            <p:cNvSpPr/>
            <p:nvPr/>
          </p:nvSpPr>
          <p:spPr>
            <a:xfrm>
              <a:off x="16368" y="10175"/>
              <a:ext cx="1701" cy="2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grpSp>
      <p:sp>
        <p:nvSpPr>
          <p:cNvPr id="11" name="灯片编号占位符 10"/>
          <p:cNvSpPr>
            <a:spLocks noGrp="1"/>
          </p:cNvSpPr>
          <p:nvPr>
            <p:ph type="sldNum" sz="quarter" idx="12"/>
          </p:nvPr>
        </p:nvSpPr>
        <p:spPr>
          <a:xfrm>
            <a:off x="11093450" y="6569710"/>
            <a:ext cx="1110615" cy="365125"/>
          </a:xfrm>
        </p:spPr>
        <p:txBody>
          <a:bodyPr/>
          <a:lstStyle>
            <a:lvl1pPr>
              <a:defRPr sz="1400"/>
            </a:lvl1pPr>
          </a:lstStyle>
          <a:p>
            <a:r>
              <a:rPr lang="en-US" altLang="zh-CN" dirty="0">
                <a:solidFill>
                  <a:schemeClr val="bg1">
                    <a:lumMod val="85000"/>
                  </a:schemeClr>
                </a:solidFill>
                <a:latin typeface="汉仪文黑-55W" pitchFamily="18" charset="-122"/>
                <a:ea typeface="汉仪文黑-55W" pitchFamily="18" charset="-122"/>
                <a:sym typeface="+mn-ea"/>
              </a:rPr>
              <a:t>PAGE </a:t>
            </a:r>
            <a:fld id="{9A0DB2DC-4C9A-4742-B13C-FB6460FD3503}" type="slidenum">
              <a:rPr lang="en-US" altLang="zh-CN" smtClean="0">
                <a:solidFill>
                  <a:schemeClr val="bg1">
                    <a:lumMod val="85000"/>
                  </a:schemeClr>
                </a:solidFill>
                <a:latin typeface="汉仪文黑-55W" pitchFamily="18" charset="-122"/>
                <a:ea typeface="汉仪文黑-55W" pitchFamily="18" charset="-122"/>
                <a:sym typeface="+mn-ea"/>
              </a:rPr>
              <a:t>‹#›</a:t>
            </a:fld>
            <a:endParaRPr lang="zh-CN" altLang="en-US" dirty="0">
              <a:latin typeface="汉仪文黑-55W" pitchFamily="18" charset="-122"/>
              <a:ea typeface="汉仪文黑-55W" pitchFamily="18" charset="-122"/>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4" name="页脚占位符 3"/>
          <p:cNvSpPr>
            <a:spLocks noGrp="1"/>
          </p:cNvSpPr>
          <p:nvPr>
            <p:ph type="ftr" sz="quarter" idx="11"/>
          </p:nvPr>
        </p:nvSpPr>
        <p:spPr/>
        <p:txBody>
          <a:bodyPr/>
          <a:lstStyle/>
          <a:p>
            <a:endParaRPr lang="zh-CN" altLang="en-US"/>
          </a:p>
        </p:txBody>
      </p:sp>
      <p:cxnSp>
        <p:nvCxnSpPr>
          <p:cNvPr id="11" name="直接连接符 10"/>
          <p:cNvCxnSpPr/>
          <p:nvPr userDrawn="1"/>
        </p:nvCxnSpPr>
        <p:spPr>
          <a:xfrm>
            <a:off x="516000" y="749935"/>
            <a:ext cx="11160000" cy="0"/>
          </a:xfrm>
          <a:prstGeom prst="line">
            <a:avLst/>
          </a:prstGeom>
          <a:ln>
            <a:solidFill>
              <a:srgbClr val="46255D"/>
            </a:solidFill>
          </a:ln>
        </p:spPr>
        <p:style>
          <a:lnRef idx="1">
            <a:schemeClr val="accent1"/>
          </a:lnRef>
          <a:fillRef idx="0">
            <a:schemeClr val="accent1"/>
          </a:fillRef>
          <a:effectRef idx="0">
            <a:schemeClr val="accent1"/>
          </a:effectRef>
          <a:fontRef idx="minor">
            <a:schemeClr val="tx1"/>
          </a:fontRef>
        </p:style>
      </p:cxnSp>
      <p:pic>
        <p:nvPicPr>
          <p:cNvPr id="12" name="图片 11" descr="华鑫证券logo横版-紫色橙图-浅色背景使用"/>
          <p:cNvPicPr>
            <a:picLocks noChangeAspect="1"/>
          </p:cNvPicPr>
          <p:nvPr userDrawn="1"/>
        </p:nvPicPr>
        <p:blipFill>
          <a:blip r:embed="rId2"/>
          <a:stretch>
            <a:fillRect/>
          </a:stretch>
        </p:blipFill>
        <p:spPr>
          <a:xfrm>
            <a:off x="10187305" y="282575"/>
            <a:ext cx="1493520" cy="339725"/>
          </a:xfrm>
          <a:prstGeom prst="rect">
            <a:avLst/>
          </a:prstGeom>
        </p:spPr>
      </p:pic>
      <p:grpSp>
        <p:nvGrpSpPr>
          <p:cNvPr id="17" name="组合 16"/>
          <p:cNvGrpSpPr/>
          <p:nvPr userDrawn="1"/>
        </p:nvGrpSpPr>
        <p:grpSpPr>
          <a:xfrm>
            <a:off x="-19555" y="6606000"/>
            <a:ext cx="12240000" cy="252000"/>
            <a:chOff x="501" y="10175"/>
            <a:chExt cx="17567" cy="282"/>
          </a:xfrm>
        </p:grpSpPr>
        <p:sp>
          <p:nvSpPr>
            <p:cNvPr id="14" name="矩形 13"/>
            <p:cNvSpPr/>
            <p:nvPr/>
          </p:nvSpPr>
          <p:spPr>
            <a:xfrm>
              <a:off x="501" y="10175"/>
              <a:ext cx="15874" cy="283"/>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sp>
          <p:nvSpPr>
            <p:cNvPr id="15" name="矩形 14"/>
            <p:cNvSpPr/>
            <p:nvPr/>
          </p:nvSpPr>
          <p:spPr>
            <a:xfrm>
              <a:off x="16368" y="10175"/>
              <a:ext cx="1701" cy="2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grpSp>
      <p:sp>
        <p:nvSpPr>
          <p:cNvPr id="7" name="灯片编号占位符 6"/>
          <p:cNvSpPr>
            <a:spLocks noGrp="1"/>
          </p:cNvSpPr>
          <p:nvPr>
            <p:ph type="sldNum" sz="quarter" idx="12"/>
          </p:nvPr>
        </p:nvSpPr>
        <p:spPr>
          <a:xfrm>
            <a:off x="11093450" y="6569710"/>
            <a:ext cx="1110615" cy="365125"/>
          </a:xfrm>
        </p:spPr>
        <p:txBody>
          <a:bodyPr/>
          <a:lstStyle>
            <a:lvl1pPr>
              <a:defRPr sz="1400"/>
            </a:lvl1pPr>
          </a:lstStyle>
          <a:p>
            <a:r>
              <a:rPr lang="en-US" altLang="zh-CN" dirty="0">
                <a:solidFill>
                  <a:schemeClr val="bg1">
                    <a:lumMod val="85000"/>
                  </a:schemeClr>
                </a:solidFill>
                <a:latin typeface="汉仪文黑-55W" pitchFamily="18" charset="-122"/>
                <a:ea typeface="汉仪文黑-55W" pitchFamily="18" charset="-122"/>
                <a:sym typeface="+mn-ea"/>
              </a:rPr>
              <a:t>PAGE </a:t>
            </a:r>
            <a:fld id="{9A0DB2DC-4C9A-4742-B13C-FB6460FD3503}" type="slidenum">
              <a:rPr lang="en-US" altLang="zh-CN" smtClean="0">
                <a:solidFill>
                  <a:schemeClr val="bg1">
                    <a:lumMod val="85000"/>
                  </a:schemeClr>
                </a:solidFill>
                <a:latin typeface="汉仪文黑-55W" pitchFamily="18" charset="-122"/>
                <a:ea typeface="汉仪文黑-55W" pitchFamily="18" charset="-122"/>
                <a:sym typeface="+mn-ea"/>
              </a:rPr>
              <a:t>‹#›</a:t>
            </a:fld>
            <a:endParaRPr lang="zh-CN" altLang="en-US" dirty="0">
              <a:latin typeface="汉仪文黑-55W" pitchFamily="18" charset="-122"/>
              <a:ea typeface="汉仪文黑-55W" pitchFamily="18" charset="-122"/>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3" name="页脚占位符 2"/>
          <p:cNvSpPr>
            <a:spLocks noGrp="1"/>
          </p:cNvSpPr>
          <p:nvPr>
            <p:ph type="ftr" sz="quarter" idx="11"/>
          </p:nvPr>
        </p:nvSpPr>
        <p:spPr/>
        <p:txBody>
          <a:bodyPr/>
          <a:lstStyle/>
          <a:p>
            <a:endParaRPr lang="zh-CN" altLang="en-US"/>
          </a:p>
        </p:txBody>
      </p:sp>
      <p:grpSp>
        <p:nvGrpSpPr>
          <p:cNvPr id="20" name="组合 19"/>
          <p:cNvGrpSpPr/>
          <p:nvPr userDrawn="1"/>
        </p:nvGrpSpPr>
        <p:grpSpPr>
          <a:xfrm>
            <a:off x="-19555" y="6606000"/>
            <a:ext cx="12240000" cy="252000"/>
            <a:chOff x="501" y="10175"/>
            <a:chExt cx="17567" cy="282"/>
          </a:xfrm>
        </p:grpSpPr>
        <p:sp>
          <p:nvSpPr>
            <p:cNvPr id="21" name="矩形 20"/>
            <p:cNvSpPr/>
            <p:nvPr/>
          </p:nvSpPr>
          <p:spPr>
            <a:xfrm>
              <a:off x="501" y="10175"/>
              <a:ext cx="15874" cy="283"/>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sp>
          <p:nvSpPr>
            <p:cNvPr id="22" name="矩形 21"/>
            <p:cNvSpPr/>
            <p:nvPr/>
          </p:nvSpPr>
          <p:spPr>
            <a:xfrm>
              <a:off x="16368" y="10175"/>
              <a:ext cx="1701" cy="2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grpSp>
      <p:pic>
        <p:nvPicPr>
          <p:cNvPr id="23" name="图片 22" descr="华鑫证券logo横版-紫色橙图-浅色背景使用"/>
          <p:cNvPicPr>
            <a:picLocks noChangeAspect="1"/>
          </p:cNvPicPr>
          <p:nvPr userDrawn="1"/>
        </p:nvPicPr>
        <p:blipFill>
          <a:blip r:embed="rId2"/>
          <a:stretch>
            <a:fillRect/>
          </a:stretch>
        </p:blipFill>
        <p:spPr>
          <a:xfrm>
            <a:off x="10187305" y="282575"/>
            <a:ext cx="1493520" cy="339725"/>
          </a:xfrm>
          <a:prstGeom prst="rect">
            <a:avLst/>
          </a:prstGeom>
        </p:spPr>
      </p:pic>
      <p:sp>
        <p:nvSpPr>
          <p:cNvPr id="6" name="灯片编号占位符 5"/>
          <p:cNvSpPr>
            <a:spLocks noGrp="1"/>
          </p:cNvSpPr>
          <p:nvPr>
            <p:ph type="sldNum" sz="quarter" idx="12"/>
          </p:nvPr>
        </p:nvSpPr>
        <p:spPr>
          <a:xfrm>
            <a:off x="11093450" y="6569710"/>
            <a:ext cx="1110615" cy="365125"/>
          </a:xfrm>
        </p:spPr>
        <p:txBody>
          <a:bodyPr/>
          <a:lstStyle>
            <a:lvl1pPr>
              <a:defRPr sz="1400"/>
            </a:lvl1pPr>
          </a:lstStyle>
          <a:p>
            <a:r>
              <a:rPr lang="en-US" altLang="zh-CN" dirty="0">
                <a:solidFill>
                  <a:schemeClr val="bg1">
                    <a:lumMod val="85000"/>
                  </a:schemeClr>
                </a:solidFill>
                <a:latin typeface="汉仪文黑-55W" pitchFamily="18" charset="-122"/>
                <a:ea typeface="汉仪文黑-55W" pitchFamily="18" charset="-122"/>
                <a:sym typeface="+mn-ea"/>
              </a:rPr>
              <a:t>PAGE </a:t>
            </a:r>
            <a:fld id="{9A0DB2DC-4C9A-4742-B13C-FB6460FD3503}" type="slidenum">
              <a:rPr lang="en-US" altLang="zh-CN" smtClean="0">
                <a:solidFill>
                  <a:schemeClr val="bg1">
                    <a:lumMod val="85000"/>
                  </a:schemeClr>
                </a:solidFill>
                <a:latin typeface="汉仪文黑-55W" pitchFamily="18" charset="-122"/>
                <a:ea typeface="汉仪文黑-55W" pitchFamily="18" charset="-122"/>
                <a:sym typeface="+mn-ea"/>
              </a:rPr>
              <a:t>‹#›</a:t>
            </a:fld>
            <a:endParaRPr lang="zh-CN" altLang="en-US" dirty="0">
              <a:latin typeface="汉仪文黑-55W" pitchFamily="18" charset="-122"/>
              <a:ea typeface="汉仪文黑-55W" pitchFamily="18" charset="-122"/>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2026/8/28</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a:xfrm>
            <a:off x="9144000" y="6543040"/>
            <a:ext cx="2743200" cy="365125"/>
          </a:xfrm>
        </p:spPr>
        <p:txBody>
          <a:bodyPr/>
          <a:lstStyle>
            <a:lvl1pPr>
              <a:defRPr>
                <a:latin typeface="汉仪文黑-55W" pitchFamily="18" charset="-122"/>
                <a:ea typeface="汉仪文黑-55W" pitchFamily="18" charset="-122"/>
              </a:defRPr>
            </a:lvl1pPr>
          </a:lstStyle>
          <a:p>
            <a:fld id="{FABC47A4-756D-490B-A52F-7D9E2C9FC05F}" type="slidenum">
              <a:rPr lang="zh-CN" altLang="en-US" smtClean="0"/>
              <a:t>‹#›</a:t>
            </a:fld>
            <a:endParaRPr lang="zh-CN" alt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9144000" y="6543040"/>
            <a:ext cx="2743200" cy="365125"/>
          </a:xfrm>
        </p:spPr>
        <p:txBody>
          <a:bodyPr/>
          <a:lstStyle>
            <a:lvl1pPr>
              <a:defRPr>
                <a:latin typeface="汉仪文黑-55W" pitchFamily="18" charset="-122"/>
                <a:ea typeface="汉仪文黑-55W" pitchFamily="18" charset="-122"/>
              </a:defRPr>
            </a:lvl1pPr>
          </a:lstStyle>
          <a:p>
            <a:fld id="{49AE70B2-8BF9-45C0-BB95-33D1B9D3A854}" type="slidenum">
              <a:rPr lang="zh-CN" altLang="en-US" smtClean="0"/>
              <a:t>‹#›</a:t>
            </a:fld>
            <a:endParaRPr lang="zh-CN" alt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a:xfrm>
            <a:off x="9144000" y="6543040"/>
            <a:ext cx="2743200" cy="365125"/>
          </a:xfrm>
        </p:spPr>
        <p:txBody>
          <a:bodyPr/>
          <a:lstStyle>
            <a:lvl1pPr>
              <a:defRPr>
                <a:latin typeface="汉仪文黑-55W" pitchFamily="18" charset="-122"/>
                <a:ea typeface="汉仪文黑-55W" pitchFamily="18"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4" name="页脚占位符 3"/>
          <p:cNvSpPr>
            <a:spLocks noGrp="1"/>
          </p:cNvSpPr>
          <p:nvPr>
            <p:ph type="ftr" sz="quarter" idx="11"/>
          </p:nvPr>
        </p:nvSpPr>
        <p:spPr/>
        <p:txBody>
          <a:bodyPr/>
          <a:lstStyle/>
          <a:p>
            <a:endParaRPr lang="zh-CN" altLang="en-US"/>
          </a:p>
        </p:txBody>
      </p:sp>
      <p:cxnSp>
        <p:nvCxnSpPr>
          <p:cNvPr id="11" name="直接连接符 10"/>
          <p:cNvCxnSpPr/>
          <p:nvPr userDrawn="1"/>
        </p:nvCxnSpPr>
        <p:spPr>
          <a:xfrm>
            <a:off x="516000" y="749935"/>
            <a:ext cx="11160000" cy="0"/>
          </a:xfrm>
          <a:prstGeom prst="line">
            <a:avLst/>
          </a:prstGeom>
          <a:ln>
            <a:solidFill>
              <a:srgbClr val="46255D"/>
            </a:solidFill>
          </a:ln>
        </p:spPr>
        <p:style>
          <a:lnRef idx="1">
            <a:schemeClr val="accent1"/>
          </a:lnRef>
          <a:fillRef idx="0">
            <a:schemeClr val="accent1"/>
          </a:fillRef>
          <a:effectRef idx="0">
            <a:schemeClr val="accent1"/>
          </a:effectRef>
          <a:fontRef idx="minor">
            <a:schemeClr val="tx1"/>
          </a:fontRef>
        </p:style>
      </p:cxnSp>
      <p:pic>
        <p:nvPicPr>
          <p:cNvPr id="12" name="图片 11" descr="华鑫证券logo横版-紫色橙图-浅色背景使用"/>
          <p:cNvPicPr>
            <a:picLocks noChangeAspect="1"/>
          </p:cNvPicPr>
          <p:nvPr userDrawn="1"/>
        </p:nvPicPr>
        <p:blipFill>
          <a:blip r:embed="rId2"/>
          <a:stretch>
            <a:fillRect/>
          </a:stretch>
        </p:blipFill>
        <p:spPr>
          <a:xfrm>
            <a:off x="10187305" y="282575"/>
            <a:ext cx="1493520" cy="339725"/>
          </a:xfrm>
          <a:prstGeom prst="rect">
            <a:avLst/>
          </a:prstGeom>
        </p:spPr>
      </p:pic>
      <p:grpSp>
        <p:nvGrpSpPr>
          <p:cNvPr id="17" name="组合 16"/>
          <p:cNvGrpSpPr/>
          <p:nvPr userDrawn="1"/>
        </p:nvGrpSpPr>
        <p:grpSpPr>
          <a:xfrm>
            <a:off x="-19555" y="6606000"/>
            <a:ext cx="12240000" cy="252000"/>
            <a:chOff x="501" y="10175"/>
            <a:chExt cx="17567" cy="282"/>
          </a:xfrm>
        </p:grpSpPr>
        <p:sp>
          <p:nvSpPr>
            <p:cNvPr id="14" name="矩形 13"/>
            <p:cNvSpPr/>
            <p:nvPr/>
          </p:nvSpPr>
          <p:spPr>
            <a:xfrm>
              <a:off x="501" y="10175"/>
              <a:ext cx="15874" cy="283"/>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sp>
          <p:nvSpPr>
            <p:cNvPr id="15" name="矩形 14"/>
            <p:cNvSpPr/>
            <p:nvPr/>
          </p:nvSpPr>
          <p:spPr>
            <a:xfrm>
              <a:off x="16368" y="10175"/>
              <a:ext cx="1701" cy="2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grpSp>
      <p:sp>
        <p:nvSpPr>
          <p:cNvPr id="7" name="灯片编号占位符 6"/>
          <p:cNvSpPr>
            <a:spLocks noGrp="1"/>
          </p:cNvSpPr>
          <p:nvPr>
            <p:ph type="sldNum" sz="quarter" idx="12"/>
          </p:nvPr>
        </p:nvSpPr>
        <p:spPr>
          <a:xfrm>
            <a:off x="11093450" y="6569710"/>
            <a:ext cx="1110615" cy="365125"/>
          </a:xfrm>
        </p:spPr>
        <p:txBody>
          <a:bodyPr/>
          <a:lstStyle>
            <a:lvl1pPr>
              <a:defRPr sz="1400"/>
            </a:lvl1pPr>
          </a:lstStyle>
          <a:p>
            <a:r>
              <a:rPr lang="en-US" altLang="zh-CN" dirty="0">
                <a:solidFill>
                  <a:schemeClr val="bg1">
                    <a:lumMod val="85000"/>
                  </a:schemeClr>
                </a:solidFill>
                <a:latin typeface="汉仪文黑-55W" pitchFamily="18" charset="-122"/>
                <a:ea typeface="汉仪文黑-55W" pitchFamily="18" charset="-122"/>
                <a:sym typeface="+mn-ea"/>
              </a:rPr>
              <a:t>PAGE </a:t>
            </a:r>
            <a:fld id="{9A0DB2DC-4C9A-4742-B13C-FB6460FD3503}" type="slidenum">
              <a:rPr lang="en-US" altLang="zh-CN" smtClean="0">
                <a:solidFill>
                  <a:schemeClr val="bg1">
                    <a:lumMod val="85000"/>
                  </a:schemeClr>
                </a:solidFill>
                <a:latin typeface="汉仪文黑-55W" pitchFamily="18" charset="-122"/>
                <a:ea typeface="汉仪文黑-55W" pitchFamily="18" charset="-122"/>
                <a:sym typeface="+mn-ea"/>
              </a:rPr>
              <a:t>‹#›</a:t>
            </a:fld>
            <a:endParaRPr lang="zh-CN" altLang="en-US" dirty="0">
              <a:latin typeface="汉仪文黑-55W" pitchFamily="18" charset="-122"/>
              <a:ea typeface="汉仪文黑-55W" pitchFamily="18" charset="-122"/>
            </a:endParaRPr>
          </a:p>
        </p:txBody>
      </p:sp>
    </p:spTree>
    <p:extLst>
      <p:ext uri="{BB962C8B-B14F-4D97-AF65-F5344CB8AC3E}">
        <p14:creationId xmlns:p14="http://schemas.microsoft.com/office/powerpoint/2010/main" val="360058436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3" name="页脚占位符 2"/>
          <p:cNvSpPr>
            <a:spLocks noGrp="1"/>
          </p:cNvSpPr>
          <p:nvPr>
            <p:ph type="ftr" sz="quarter" idx="11"/>
          </p:nvPr>
        </p:nvSpPr>
        <p:spPr/>
        <p:txBody>
          <a:bodyPr/>
          <a:lstStyle/>
          <a:p>
            <a:endParaRPr lang="zh-CN" altLang="en-US"/>
          </a:p>
        </p:txBody>
      </p:sp>
      <p:grpSp>
        <p:nvGrpSpPr>
          <p:cNvPr id="20" name="组合 19"/>
          <p:cNvGrpSpPr/>
          <p:nvPr userDrawn="1"/>
        </p:nvGrpSpPr>
        <p:grpSpPr>
          <a:xfrm>
            <a:off x="-19555" y="6606000"/>
            <a:ext cx="12240000" cy="252000"/>
            <a:chOff x="501" y="10175"/>
            <a:chExt cx="17567" cy="282"/>
          </a:xfrm>
        </p:grpSpPr>
        <p:sp>
          <p:nvSpPr>
            <p:cNvPr id="21" name="矩形 20"/>
            <p:cNvSpPr/>
            <p:nvPr/>
          </p:nvSpPr>
          <p:spPr>
            <a:xfrm>
              <a:off x="501" y="10175"/>
              <a:ext cx="15874" cy="283"/>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sp>
          <p:nvSpPr>
            <p:cNvPr id="22" name="矩形 21"/>
            <p:cNvSpPr/>
            <p:nvPr/>
          </p:nvSpPr>
          <p:spPr>
            <a:xfrm>
              <a:off x="16368" y="10175"/>
              <a:ext cx="1701" cy="2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grpSp>
      <p:pic>
        <p:nvPicPr>
          <p:cNvPr id="23" name="图片 22" descr="华鑫证券logo横版-紫色橙图-浅色背景使用"/>
          <p:cNvPicPr>
            <a:picLocks noChangeAspect="1"/>
          </p:cNvPicPr>
          <p:nvPr userDrawn="1"/>
        </p:nvPicPr>
        <p:blipFill>
          <a:blip r:embed="rId2"/>
          <a:stretch>
            <a:fillRect/>
          </a:stretch>
        </p:blipFill>
        <p:spPr>
          <a:xfrm>
            <a:off x="10187305" y="282575"/>
            <a:ext cx="1493520" cy="339725"/>
          </a:xfrm>
          <a:prstGeom prst="rect">
            <a:avLst/>
          </a:prstGeom>
        </p:spPr>
      </p:pic>
      <p:sp>
        <p:nvSpPr>
          <p:cNvPr id="6" name="灯片编号占位符 5"/>
          <p:cNvSpPr>
            <a:spLocks noGrp="1"/>
          </p:cNvSpPr>
          <p:nvPr>
            <p:ph type="sldNum" sz="quarter" idx="12"/>
          </p:nvPr>
        </p:nvSpPr>
        <p:spPr>
          <a:xfrm>
            <a:off x="11093450" y="6569710"/>
            <a:ext cx="1110615" cy="365125"/>
          </a:xfrm>
        </p:spPr>
        <p:txBody>
          <a:bodyPr/>
          <a:lstStyle>
            <a:lvl1pPr>
              <a:defRPr sz="1400"/>
            </a:lvl1pPr>
          </a:lstStyle>
          <a:p>
            <a:r>
              <a:rPr lang="en-US" altLang="zh-CN" dirty="0">
                <a:solidFill>
                  <a:schemeClr val="bg1">
                    <a:lumMod val="85000"/>
                  </a:schemeClr>
                </a:solidFill>
                <a:latin typeface="汉仪文黑-55W" pitchFamily="18" charset="-122"/>
                <a:ea typeface="汉仪文黑-55W" pitchFamily="18" charset="-122"/>
                <a:sym typeface="+mn-ea"/>
              </a:rPr>
              <a:t>PAGE </a:t>
            </a:r>
            <a:fld id="{9A0DB2DC-4C9A-4742-B13C-FB6460FD3503}" type="slidenum">
              <a:rPr lang="en-US" altLang="zh-CN" smtClean="0">
                <a:solidFill>
                  <a:schemeClr val="bg1">
                    <a:lumMod val="85000"/>
                  </a:schemeClr>
                </a:solidFill>
                <a:latin typeface="汉仪文黑-55W" pitchFamily="18" charset="-122"/>
                <a:ea typeface="汉仪文黑-55W" pitchFamily="18" charset="-122"/>
                <a:sym typeface="+mn-ea"/>
              </a:rPr>
              <a:t>‹#›</a:t>
            </a:fld>
            <a:endParaRPr lang="zh-CN" altLang="en-US" dirty="0">
              <a:latin typeface="汉仪文黑-55W" pitchFamily="18" charset="-122"/>
              <a:ea typeface="汉仪文黑-55W" pitchFamily="18" charset="-122"/>
            </a:endParaRPr>
          </a:p>
        </p:txBody>
      </p:sp>
    </p:spTree>
    <p:extLst>
      <p:ext uri="{BB962C8B-B14F-4D97-AF65-F5344CB8AC3E}">
        <p14:creationId xmlns:p14="http://schemas.microsoft.com/office/powerpoint/2010/main" val="1663097156"/>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5" name="页脚占位符 4"/>
          <p:cNvSpPr>
            <a:spLocks noGrp="1"/>
          </p:cNvSpPr>
          <p:nvPr>
            <p:ph type="ftr" sz="quarter" idx="11"/>
          </p:nvPr>
        </p:nvSpPr>
        <p:spPr/>
        <p:txBody>
          <a:bodyPr/>
          <a:lstStyle/>
          <a:p>
            <a:endParaRPr lang="zh-CN" altLang="en-US"/>
          </a:p>
        </p:txBody>
      </p:sp>
      <p:cxnSp>
        <p:nvCxnSpPr>
          <p:cNvPr id="11" name="直接连接符 10"/>
          <p:cNvCxnSpPr/>
          <p:nvPr userDrawn="1"/>
        </p:nvCxnSpPr>
        <p:spPr>
          <a:xfrm>
            <a:off x="516000" y="749935"/>
            <a:ext cx="11160000" cy="0"/>
          </a:xfrm>
          <a:prstGeom prst="line">
            <a:avLst/>
          </a:prstGeom>
          <a:ln>
            <a:solidFill>
              <a:srgbClr val="46255D"/>
            </a:solidFill>
          </a:ln>
        </p:spPr>
        <p:style>
          <a:lnRef idx="1">
            <a:schemeClr val="accent1"/>
          </a:lnRef>
          <a:fillRef idx="0">
            <a:schemeClr val="accent1"/>
          </a:fillRef>
          <a:effectRef idx="0">
            <a:schemeClr val="accent1"/>
          </a:effectRef>
          <a:fontRef idx="minor">
            <a:schemeClr val="tx1"/>
          </a:fontRef>
        </p:style>
      </p:cxnSp>
      <p:pic>
        <p:nvPicPr>
          <p:cNvPr id="12" name="图片 11" descr="华鑫证券logo横版-紫色橙图-浅色背景使用"/>
          <p:cNvPicPr>
            <a:picLocks noChangeAspect="1"/>
          </p:cNvPicPr>
          <p:nvPr userDrawn="1"/>
        </p:nvPicPr>
        <p:blipFill>
          <a:blip r:embed="rId2"/>
          <a:stretch>
            <a:fillRect/>
          </a:stretch>
        </p:blipFill>
        <p:spPr>
          <a:xfrm>
            <a:off x="10187305" y="282575"/>
            <a:ext cx="1493520" cy="339725"/>
          </a:xfrm>
          <a:prstGeom prst="rect">
            <a:avLst/>
          </a:prstGeom>
        </p:spPr>
      </p:pic>
      <p:grpSp>
        <p:nvGrpSpPr>
          <p:cNvPr id="17" name="组合 16"/>
          <p:cNvGrpSpPr/>
          <p:nvPr userDrawn="1"/>
        </p:nvGrpSpPr>
        <p:grpSpPr>
          <a:xfrm>
            <a:off x="-19555" y="6606000"/>
            <a:ext cx="12240000" cy="252000"/>
            <a:chOff x="501" y="10175"/>
            <a:chExt cx="17567" cy="282"/>
          </a:xfrm>
        </p:grpSpPr>
        <p:sp>
          <p:nvSpPr>
            <p:cNvPr id="14" name="矩形 13"/>
            <p:cNvSpPr/>
            <p:nvPr/>
          </p:nvSpPr>
          <p:spPr>
            <a:xfrm>
              <a:off x="501" y="10175"/>
              <a:ext cx="15874" cy="283"/>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sp>
          <p:nvSpPr>
            <p:cNvPr id="15" name="矩形 14"/>
            <p:cNvSpPr/>
            <p:nvPr/>
          </p:nvSpPr>
          <p:spPr>
            <a:xfrm>
              <a:off x="16368" y="10175"/>
              <a:ext cx="1701" cy="2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grpSp>
      <p:sp>
        <p:nvSpPr>
          <p:cNvPr id="8" name="灯片编号占位符 7"/>
          <p:cNvSpPr>
            <a:spLocks noGrp="1"/>
          </p:cNvSpPr>
          <p:nvPr>
            <p:ph type="sldNum" sz="quarter" idx="12"/>
          </p:nvPr>
        </p:nvSpPr>
        <p:spPr>
          <a:xfrm>
            <a:off x="11093450" y="6569710"/>
            <a:ext cx="1110615" cy="365125"/>
          </a:xfrm>
        </p:spPr>
        <p:txBody>
          <a:bodyPr/>
          <a:lstStyle>
            <a:lvl1pPr>
              <a:defRPr sz="1400"/>
            </a:lvl1pPr>
          </a:lstStyle>
          <a:p>
            <a:r>
              <a:rPr lang="en-US" altLang="zh-CN" dirty="0">
                <a:solidFill>
                  <a:schemeClr val="bg1">
                    <a:lumMod val="85000"/>
                  </a:schemeClr>
                </a:solidFill>
                <a:latin typeface="汉仪文黑-55W" pitchFamily="18" charset="-122"/>
                <a:ea typeface="汉仪文黑-55W" pitchFamily="18" charset="-122"/>
                <a:sym typeface="+mn-ea"/>
              </a:rPr>
              <a:t>PAGE </a:t>
            </a:r>
            <a:fld id="{9A0DB2DC-4C9A-4742-B13C-FB6460FD3503}" type="slidenum">
              <a:rPr lang="en-US" altLang="zh-CN" smtClean="0">
                <a:solidFill>
                  <a:schemeClr val="bg1">
                    <a:lumMod val="85000"/>
                  </a:schemeClr>
                </a:solidFill>
                <a:latin typeface="汉仪文黑-55W" pitchFamily="18" charset="-122"/>
                <a:ea typeface="汉仪文黑-55W" pitchFamily="18" charset="-122"/>
                <a:sym typeface="+mn-ea"/>
              </a:rPr>
              <a:t>‹#›</a:t>
            </a:fld>
            <a:endParaRPr lang="zh-CN" altLang="en-US" dirty="0">
              <a:latin typeface="汉仪文黑-55W" pitchFamily="18" charset="-122"/>
              <a:ea typeface="汉仪文黑-55W" pitchFamily="18" charset="-122"/>
            </a:endParaRPr>
          </a:p>
        </p:txBody>
      </p:sp>
    </p:spTree>
    <p:extLst>
      <p:ext uri="{BB962C8B-B14F-4D97-AF65-F5344CB8AC3E}">
        <p14:creationId xmlns:p14="http://schemas.microsoft.com/office/powerpoint/2010/main" val="29133645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2026/8/28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63" name="文本框 62"/>
          <p:cNvSpPr txBox="1"/>
          <p:nvPr userDrawn="1"/>
        </p:nvSpPr>
        <p:spPr>
          <a:xfrm>
            <a:off x="2303145" y="2580640"/>
            <a:ext cx="2145665" cy="829945"/>
          </a:xfrm>
          <a:prstGeom prst="rect">
            <a:avLst/>
          </a:prstGeom>
          <a:noFill/>
        </p:spPr>
        <p:txBody>
          <a:bodyPr wrap="square" rtlCol="0">
            <a:spAutoFit/>
          </a:bodyPr>
          <a:lstStyle/>
          <a:p>
            <a:pPr algn="ctr"/>
            <a:r>
              <a:rPr lang="zh-CN" altLang="en-US" sz="4800" dirty="0">
                <a:solidFill>
                  <a:srgbClr val="5A2781"/>
                </a:solidFill>
                <a:latin typeface="汉仪文黑-55W" pitchFamily="18" charset="-122"/>
                <a:ea typeface="汉仪文黑-55W" pitchFamily="18" charset="-122"/>
                <a:cs typeface="思源黑体 CN Bold" charset="-122"/>
              </a:rPr>
              <a:t>目 录</a:t>
            </a:r>
          </a:p>
        </p:txBody>
      </p:sp>
      <p:sp>
        <p:nvSpPr>
          <p:cNvPr id="64" name="文本框 63"/>
          <p:cNvSpPr txBox="1"/>
          <p:nvPr userDrawn="1"/>
        </p:nvSpPr>
        <p:spPr>
          <a:xfrm>
            <a:off x="2303145" y="3533140"/>
            <a:ext cx="2145665" cy="460375"/>
          </a:xfrm>
          <a:prstGeom prst="rect">
            <a:avLst/>
          </a:prstGeom>
          <a:noFill/>
        </p:spPr>
        <p:txBody>
          <a:bodyPr wrap="square" rtlCol="0">
            <a:spAutoFit/>
          </a:bodyPr>
          <a:lstStyle/>
          <a:p>
            <a:pPr algn="ctr"/>
            <a:r>
              <a:rPr lang="en-US" altLang="zh-CN" sz="2400" dirty="0">
                <a:solidFill>
                  <a:schemeClr val="accent2"/>
                </a:solidFill>
                <a:latin typeface="汉仪文黑-55W" pitchFamily="18" charset="-122"/>
                <a:ea typeface="汉仪文黑-55W" pitchFamily="18" charset="-122"/>
              </a:rPr>
              <a:t>CONTENTS</a:t>
            </a:r>
          </a:p>
        </p:txBody>
      </p:sp>
      <p:sp>
        <p:nvSpPr>
          <p:cNvPr id="10" name="矩形 9"/>
          <p:cNvSpPr/>
          <p:nvPr userDrawn="1"/>
        </p:nvSpPr>
        <p:spPr>
          <a:xfrm>
            <a:off x="4960620" y="2184400"/>
            <a:ext cx="36000" cy="2362200"/>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dirty="0">
              <a:latin typeface="汉仪文黑-55W" pitchFamily="18" charset="-122"/>
              <a:ea typeface="汉仪文黑-55W" pitchFamily="18" charset="-122"/>
              <a:sym typeface="+mn-ea"/>
            </a:endParaRPr>
          </a:p>
        </p:txBody>
      </p:sp>
      <p:grpSp>
        <p:nvGrpSpPr>
          <p:cNvPr id="17" name="组合 16"/>
          <p:cNvGrpSpPr/>
          <p:nvPr userDrawn="1"/>
        </p:nvGrpSpPr>
        <p:grpSpPr>
          <a:xfrm>
            <a:off x="-24000" y="6606000"/>
            <a:ext cx="12240000" cy="252000"/>
            <a:chOff x="501" y="10175"/>
            <a:chExt cx="17567" cy="282"/>
          </a:xfrm>
        </p:grpSpPr>
        <p:sp>
          <p:nvSpPr>
            <p:cNvPr id="14" name="矩形 13"/>
            <p:cNvSpPr/>
            <p:nvPr/>
          </p:nvSpPr>
          <p:spPr>
            <a:xfrm>
              <a:off x="501" y="10175"/>
              <a:ext cx="15874" cy="283"/>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sp>
          <p:nvSpPr>
            <p:cNvPr id="15" name="矩形 14"/>
            <p:cNvSpPr/>
            <p:nvPr/>
          </p:nvSpPr>
          <p:spPr>
            <a:xfrm>
              <a:off x="16368" y="10175"/>
              <a:ext cx="1701" cy="2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grpSp>
      <p:sp>
        <p:nvSpPr>
          <p:cNvPr id="11" name="灯片编号占位符 10"/>
          <p:cNvSpPr>
            <a:spLocks noGrp="1"/>
          </p:cNvSpPr>
          <p:nvPr>
            <p:ph type="sldNum" sz="quarter" idx="12"/>
          </p:nvPr>
        </p:nvSpPr>
        <p:spPr>
          <a:xfrm>
            <a:off x="11093450" y="6569710"/>
            <a:ext cx="1110615" cy="365125"/>
          </a:xfrm>
        </p:spPr>
        <p:txBody>
          <a:bodyPr/>
          <a:lstStyle>
            <a:lvl1pPr>
              <a:defRPr sz="1400"/>
            </a:lvl1pPr>
          </a:lstStyle>
          <a:p>
            <a:r>
              <a:rPr lang="en-US" altLang="zh-CN" dirty="0">
                <a:solidFill>
                  <a:schemeClr val="bg1">
                    <a:lumMod val="85000"/>
                  </a:schemeClr>
                </a:solidFill>
                <a:latin typeface="汉仪文黑-55W" pitchFamily="18" charset="-122"/>
                <a:ea typeface="汉仪文黑-55W" pitchFamily="18" charset="-122"/>
                <a:sym typeface="+mn-ea"/>
              </a:rPr>
              <a:t>PAGE </a:t>
            </a:r>
            <a:fld id="{9A0DB2DC-4C9A-4742-B13C-FB6460FD3503}" type="slidenum">
              <a:rPr lang="en-US" altLang="zh-CN" smtClean="0">
                <a:solidFill>
                  <a:schemeClr val="bg1">
                    <a:lumMod val="85000"/>
                  </a:schemeClr>
                </a:solidFill>
                <a:latin typeface="汉仪文黑-55W" pitchFamily="18" charset="-122"/>
                <a:ea typeface="汉仪文黑-55W" pitchFamily="18" charset="-122"/>
                <a:sym typeface="+mn-ea"/>
              </a:rPr>
              <a:t>‹#›</a:t>
            </a:fld>
            <a:endParaRPr lang="zh-CN" altLang="en-US" dirty="0">
              <a:latin typeface="汉仪文黑-55W" pitchFamily="18" charset="-122"/>
              <a:ea typeface="汉仪文黑-55W" pitchFamily="18" charset="-122"/>
            </a:endParaRPr>
          </a:p>
        </p:txBody>
      </p:sp>
    </p:spTree>
    <p:extLst>
      <p:ext uri="{BB962C8B-B14F-4D97-AF65-F5344CB8AC3E}">
        <p14:creationId xmlns:p14="http://schemas.microsoft.com/office/powerpoint/2010/main" val="8923567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矩形 10"/>
          <p:cNvSpPr/>
          <p:nvPr userDrawn="1"/>
        </p:nvSpPr>
        <p:spPr>
          <a:xfrm>
            <a:off x="0" y="0"/>
            <a:ext cx="12192000" cy="4619625"/>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汉仪文黑-55W" pitchFamily="18" charset="-122"/>
              <a:ea typeface="汉仪文黑-55W" pitchFamily="18" charset="-122"/>
            </a:endParaRPr>
          </a:p>
        </p:txBody>
      </p:sp>
      <p:pic>
        <p:nvPicPr>
          <p:cNvPr id="8" name="图片 7" descr="图片3"/>
          <p:cNvPicPr>
            <a:picLocks noChangeAspect="1"/>
          </p:cNvPicPr>
          <p:nvPr userDrawn="1"/>
        </p:nvPicPr>
        <p:blipFill>
          <a:blip r:embed="rId2"/>
          <a:stretch>
            <a:fillRect/>
          </a:stretch>
        </p:blipFill>
        <p:spPr>
          <a:xfrm>
            <a:off x="9353550" y="5479415"/>
            <a:ext cx="2315845" cy="1172210"/>
          </a:xfrm>
          <a:prstGeom prst="rect">
            <a:avLst/>
          </a:prstGeom>
        </p:spPr>
      </p:pic>
    </p:spTree>
    <p:extLst>
      <p:ext uri="{BB962C8B-B14F-4D97-AF65-F5344CB8AC3E}">
        <p14:creationId xmlns:p14="http://schemas.microsoft.com/office/powerpoint/2010/main" val="29403536"/>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2.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latin typeface="汉仪文黑-55W" pitchFamily="18" charset="-122"/>
                <a:ea typeface="汉仪文黑-55W" pitchFamily="18" charset="-122"/>
              </a:defRPr>
            </a:lvl1pPr>
          </a:lstStyle>
          <a:p>
            <a:fld id="{760FBDFE-C587-4B4C-A407-44438C67B59E}" type="datetimeFigureOut">
              <a:rPr lang="zh-CN" altLang="en-US" smtClean="0"/>
              <a:t>2026/8/28</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汉仪文黑-55W" pitchFamily="18" charset="-122"/>
                <a:ea typeface="汉仪文黑-55W" pitchFamily="18" charset="-122"/>
              </a:defRPr>
            </a:lvl1pPr>
          </a:lstStyle>
          <a:p>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400" kern="1200">
          <a:solidFill>
            <a:schemeClr val="tx1"/>
          </a:solidFill>
          <a:latin typeface="汉仪文黑-55W" pitchFamily="18" charset="-122"/>
          <a:ea typeface="汉仪文黑-55W" pitchFamily="18"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汉仪文黑-55W" pitchFamily="18" charset="-122"/>
          <a:ea typeface="汉仪文黑-55W" pitchFamily="18" charset="-122"/>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汉仪文黑-55W" pitchFamily="18" charset="-122"/>
          <a:ea typeface="汉仪文黑-55W" pitchFamily="18" charset="-122"/>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汉仪文黑-55W" pitchFamily="18" charset="-122"/>
          <a:ea typeface="汉仪文黑-55W" pitchFamily="18" charset="-122"/>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汉仪文黑-55W" pitchFamily="18" charset="-122"/>
          <a:ea typeface="汉仪文黑-55W" pitchFamily="18"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9398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hemeOverride" Target="../theme/themeOverride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6" descr="BDCONTENTCONTROL_AUTO_SAVE_SubTitle" title="副标题"/>
          <p:cNvSpPr txBox="1"/>
          <p:nvPr/>
        </p:nvSpPr>
        <p:spPr>
          <a:xfrm>
            <a:off x="1954583" y="3224115"/>
            <a:ext cx="8035317" cy="707886"/>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rPr>
              <a:t>医药行业周报</a:t>
            </a:r>
          </a:p>
        </p:txBody>
      </p:sp>
      <p:sp>
        <p:nvSpPr>
          <p:cNvPr id="3" name="矩形 2" descr="BDCONTENTCONTROL_AUTO_SAVE_Title" title="标题"/>
          <p:cNvSpPr/>
          <p:nvPr/>
        </p:nvSpPr>
        <p:spPr>
          <a:xfrm>
            <a:off x="799291" y="1679852"/>
            <a:ext cx="10593418" cy="707886"/>
          </a:xfrm>
          <a:prstGeom prst="rect">
            <a:avLst/>
          </a:prstGeom>
          <a:noFill/>
        </p:spPr>
        <p:txBody>
          <a:bodyPr wrap="square" rtlCol="0">
            <a:spAutoFit/>
          </a:bodyPr>
          <a:lstStyle/>
          <a:p>
            <a:pPr algn="ctr">
              <a:defRPr/>
            </a:pPr>
            <a:r>
              <a:rPr lang="zh-CN" altLang="en-US" sz="4000" b="1" dirty="0">
                <a:solidFill>
                  <a:srgbClr val="5A2781"/>
                </a:solidFill>
                <a:latin typeface="汉仪文黑-55W" pitchFamily="18" charset="-122"/>
                <a:ea typeface="汉仪文黑-55W" pitchFamily="18" charset="-122"/>
              </a:rPr>
              <a:t>关注</a:t>
            </a:r>
            <a:r>
              <a:rPr lang="en-US" altLang="zh-CN" sz="4000" b="1" dirty="0">
                <a:solidFill>
                  <a:srgbClr val="5A2781"/>
                </a:solidFill>
                <a:latin typeface="汉仪文黑-55W" pitchFamily="18" charset="-122"/>
                <a:ea typeface="汉仪文黑-55W" pitchFamily="18" charset="-122"/>
              </a:rPr>
              <a:t>mRNA</a:t>
            </a:r>
            <a:r>
              <a:rPr lang="zh-CN" altLang="en-US" sz="4000" b="1" dirty="0">
                <a:solidFill>
                  <a:srgbClr val="5A2781"/>
                </a:solidFill>
                <a:latin typeface="汉仪文黑-55W" pitchFamily="18" charset="-122"/>
                <a:ea typeface="汉仪文黑-55W" pitchFamily="18" charset="-122"/>
              </a:rPr>
              <a:t>癌症疫苗进展</a:t>
            </a:r>
          </a:p>
        </p:txBody>
      </p:sp>
      <p:sp>
        <p:nvSpPr>
          <p:cNvPr id="2" name="文本框 1"/>
          <p:cNvSpPr txBox="1"/>
          <p:nvPr/>
        </p:nvSpPr>
        <p:spPr>
          <a:xfrm>
            <a:off x="695960" y="324803"/>
            <a:ext cx="1755140" cy="36830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6255D"/>
                </a:solidFill>
                <a:effectLst/>
                <a:uLnTx/>
                <a:uFillTx/>
                <a:latin typeface="汉仪文黑-55W" pitchFamily="18" charset="-122"/>
                <a:ea typeface="汉仪文黑-55W" pitchFamily="18" charset="-122"/>
                <a:cs typeface="+mn-cs"/>
              </a:rPr>
              <a:t>证券研究报告</a:t>
            </a:r>
          </a:p>
        </p:txBody>
      </p:sp>
      <p:sp>
        <p:nvSpPr>
          <p:cNvPr id="6" name="文本框 5"/>
          <p:cNvSpPr txBox="1"/>
          <p:nvPr/>
        </p:nvSpPr>
        <p:spPr>
          <a:xfrm>
            <a:off x="8002903" y="3821117"/>
            <a:ext cx="3279600" cy="923330"/>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6255D"/>
                </a:solidFill>
                <a:effectLst/>
                <a:uLnTx/>
                <a:uFillTx/>
                <a:latin typeface="汉仪文黑-55W" pitchFamily="18" charset="-122"/>
                <a:ea typeface="汉仪文黑-55W" pitchFamily="18" charset="-122"/>
                <a:cs typeface="+mn-cs"/>
              </a:rPr>
              <a:t>投资评级：</a:t>
            </a:r>
          </a:p>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6255D"/>
                </a:solidFill>
                <a:effectLst/>
                <a:uLnTx/>
                <a:uFillTx/>
                <a:latin typeface="汉仪文黑-55W" pitchFamily="18" charset="-122"/>
                <a:ea typeface="汉仪文黑-55W" pitchFamily="18" charset="-122"/>
                <a:cs typeface="+mn-cs"/>
              </a:rPr>
              <a:t>报告日期：</a:t>
            </a:r>
            <a:endParaRPr kumimoji="0" lang="en-US" altLang="zh-CN" sz="1800" b="0" i="0" u="none" strike="noStrike" kern="1200" cap="none" spc="0" normalizeH="0" baseline="0" noProof="0" dirty="0">
              <a:ln>
                <a:noFill/>
              </a:ln>
              <a:solidFill>
                <a:srgbClr val="46255D"/>
              </a:solidFill>
              <a:effectLst/>
              <a:uLnTx/>
              <a:uFillTx/>
              <a:latin typeface="汉仪文黑-55W" pitchFamily="18" charset="-122"/>
              <a:ea typeface="汉仪文黑-55W" pitchFamily="18" charset="-122"/>
              <a:cs typeface="+mn-cs"/>
            </a:endParaRPr>
          </a:p>
        </p:txBody>
      </p:sp>
      <p:sp>
        <p:nvSpPr>
          <p:cNvPr id="9" name="矩形: 圆角 8"/>
          <p:cNvSpPr/>
          <p:nvPr/>
        </p:nvSpPr>
        <p:spPr>
          <a:xfrm>
            <a:off x="2559600" y="360000"/>
            <a:ext cx="900000" cy="309600"/>
          </a:xfrm>
          <a:prstGeom prst="roundRect">
            <a:avLst>
              <a:gd name="adj" fmla="val 50000"/>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prstClr val="white"/>
              </a:solidFill>
              <a:effectLst/>
              <a:uLnTx/>
              <a:uFillTx/>
              <a:latin typeface="汉仪文黑-55W" pitchFamily="18" charset="-122"/>
              <a:ea typeface="汉仪文黑-55W" pitchFamily="18" charset="-122"/>
              <a:cs typeface="+mn-cs"/>
            </a:endParaRPr>
          </a:p>
        </p:txBody>
      </p:sp>
      <p:sp>
        <p:nvSpPr>
          <p:cNvPr id="11" name="文本框 10" descr="BDCONTENTCONTROL_2380d2e8-df43-49bc-81fb-cb6913377050" title="投资评级"/>
          <p:cNvSpPr txBox="1"/>
          <p:nvPr/>
        </p:nvSpPr>
        <p:spPr>
          <a:xfrm>
            <a:off x="9172812" y="3901782"/>
            <a:ext cx="695278" cy="381000"/>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smtClean="0">
                <a:ln>
                  <a:noFill/>
                </a:ln>
                <a:solidFill>
                  <a:srgbClr val="46255D"/>
                </a:solidFill>
                <a:effectLst/>
                <a:uLnTx/>
                <a:uFillTx/>
                <a:latin typeface="汉仪文黑-55W" pitchFamily="18" charset="-122"/>
                <a:ea typeface="汉仪文黑-55W" pitchFamily="18" charset="-122"/>
                <a:cs typeface="+mn-cs"/>
              </a:rPr>
              <a:t>推荐</a:t>
            </a:r>
            <a:endParaRPr kumimoji="0" lang="zh-CN" altLang="en-US" sz="1800" b="0" i="0" u="none" strike="noStrike" kern="1200" cap="none" spc="0" normalizeH="0" baseline="0" noProof="0" dirty="0">
              <a:ln>
                <a:noFill/>
              </a:ln>
              <a:solidFill>
                <a:srgbClr val="46255D"/>
              </a:solidFill>
              <a:effectLst/>
              <a:uLnTx/>
              <a:uFillTx/>
              <a:latin typeface="汉仪文黑-55W" pitchFamily="18" charset="-122"/>
              <a:ea typeface="汉仪文黑-55W" pitchFamily="18" charset="-122"/>
              <a:cs typeface="+mn-cs"/>
            </a:endParaRPr>
          </a:p>
        </p:txBody>
      </p:sp>
      <p:sp>
        <p:nvSpPr>
          <p:cNvPr id="12" name="文本框 11" descr="BDCONTENTCONTROL_63f47762-dd74-4c5f-a679-0c39a39a636a" title="评级变动"/>
          <p:cNvSpPr txBox="1"/>
          <p:nvPr/>
        </p:nvSpPr>
        <p:spPr>
          <a:xfrm>
            <a:off x="9989900" y="3913450"/>
            <a:ext cx="1975958" cy="369332"/>
          </a:xfrm>
          <a:prstGeom prst="rect">
            <a:avLst/>
          </a:prstGeom>
          <a:noFill/>
        </p:spPr>
        <p:txBody>
          <a:bodyPr vert="horz"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mtClean="0">
                <a:solidFill>
                  <a:srgbClr val="46255D"/>
                </a:solidFill>
                <a:latin typeface="汉仪文黑-55W" pitchFamily="18" charset="-122"/>
                <a:ea typeface="汉仪文黑-55W" pitchFamily="18" charset="-122"/>
                <a:sym typeface="Wingdings" panose="05000000000000000000" pitchFamily="2" charset="2"/>
              </a:rPr>
              <a:t>维持</a:t>
            </a:r>
            <a:endParaRPr kumimoji="0" lang="zh-CN" altLang="en-US" sz="1800" b="0" i="0" u="none" strike="noStrike" kern="1200" cap="none" spc="0" normalizeH="0" baseline="0" noProof="0" dirty="0">
              <a:ln>
                <a:noFill/>
              </a:ln>
              <a:solidFill>
                <a:srgbClr val="46255D"/>
              </a:solidFill>
              <a:effectLst/>
              <a:uLnTx/>
              <a:uFillTx/>
              <a:latin typeface="汉仪文黑-55W" pitchFamily="18" charset="-122"/>
              <a:ea typeface="汉仪文黑-55W" pitchFamily="18" charset="-122"/>
              <a:cs typeface="+mn-cs"/>
            </a:endParaRPr>
          </a:p>
        </p:txBody>
      </p:sp>
      <p:sp>
        <p:nvSpPr>
          <p:cNvPr id="13" name="文本框 12" descr="BDCONTENTCONTROL_568a89c2-6fec-4f7f-b7e9-ce8e3ef95768" title="报告日期"/>
          <p:cNvSpPr txBox="1"/>
          <p:nvPr/>
        </p:nvSpPr>
        <p:spPr>
          <a:xfrm>
            <a:off x="9131636" y="4312291"/>
            <a:ext cx="2150867" cy="368300"/>
          </a:xfrm>
          <a:prstGeom prst="rect">
            <a:avLst/>
          </a:prstGeom>
          <a:noFill/>
        </p:spPr>
        <p:txBody>
          <a:bodyPr vert="horz"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smtClean="0">
                <a:ln>
                  <a:noFill/>
                </a:ln>
                <a:solidFill>
                  <a:srgbClr val="46255D"/>
                </a:solidFill>
                <a:effectLst/>
                <a:uLnTx/>
                <a:uFillTx/>
                <a:latin typeface="汉仪文黑-55W" pitchFamily="18" charset="-122"/>
                <a:ea typeface="汉仪文黑-55W" pitchFamily="18" charset="-122"/>
                <a:cs typeface="+mn-cs"/>
              </a:rPr>
              <a:t>2026</a:t>
            </a:r>
            <a:r>
              <a:rPr kumimoji="0" lang="zh-CN" altLang="en-US" sz="1800" b="0" i="0" u="none" strike="noStrike" kern="1200" cap="none" spc="0" normalizeH="0" baseline="0" noProof="0" smtClean="0">
                <a:ln>
                  <a:noFill/>
                </a:ln>
                <a:solidFill>
                  <a:srgbClr val="46255D"/>
                </a:solidFill>
                <a:effectLst/>
                <a:uLnTx/>
                <a:uFillTx/>
                <a:latin typeface="汉仪文黑-55W" pitchFamily="18" charset="-122"/>
                <a:ea typeface="汉仪文黑-55W" pitchFamily="18" charset="-122"/>
                <a:cs typeface="+mn-cs"/>
              </a:rPr>
              <a:t>年</a:t>
            </a:r>
            <a:r>
              <a:rPr kumimoji="0" lang="en-US" altLang="zh-CN" sz="1800" b="0" i="0" u="none" strike="noStrike" kern="1200" cap="none" spc="0" normalizeH="0" baseline="0" noProof="0" smtClean="0">
                <a:ln>
                  <a:noFill/>
                </a:ln>
                <a:solidFill>
                  <a:srgbClr val="46255D"/>
                </a:solidFill>
                <a:effectLst/>
                <a:uLnTx/>
                <a:uFillTx/>
                <a:latin typeface="汉仪文黑-55W" pitchFamily="18" charset="-122"/>
                <a:ea typeface="汉仪文黑-55W" pitchFamily="18" charset="-122"/>
                <a:cs typeface="+mn-cs"/>
              </a:rPr>
              <a:t>08</a:t>
            </a:r>
            <a:r>
              <a:rPr kumimoji="0" lang="zh-CN" altLang="en-US" sz="1800" b="0" i="0" u="none" strike="noStrike" kern="1200" cap="none" spc="0" normalizeH="0" baseline="0" noProof="0" smtClean="0">
                <a:ln>
                  <a:noFill/>
                </a:ln>
                <a:solidFill>
                  <a:srgbClr val="46255D"/>
                </a:solidFill>
                <a:effectLst/>
                <a:uLnTx/>
                <a:uFillTx/>
                <a:latin typeface="汉仪文黑-55W" pitchFamily="18" charset="-122"/>
                <a:ea typeface="汉仪文黑-55W" pitchFamily="18" charset="-122"/>
                <a:cs typeface="+mn-cs"/>
              </a:rPr>
              <a:t>月</a:t>
            </a:r>
            <a:r>
              <a:rPr kumimoji="0" lang="en-US" altLang="zh-CN" sz="1800" b="0" i="0" u="none" strike="noStrike" kern="1200" cap="none" spc="0" normalizeH="0" baseline="0" noProof="0" smtClean="0">
                <a:ln>
                  <a:noFill/>
                </a:ln>
                <a:solidFill>
                  <a:srgbClr val="46255D"/>
                </a:solidFill>
                <a:effectLst/>
                <a:uLnTx/>
                <a:uFillTx/>
                <a:latin typeface="汉仪文黑-55W" pitchFamily="18" charset="-122"/>
                <a:ea typeface="汉仪文黑-55W" pitchFamily="18" charset="-122"/>
                <a:cs typeface="+mn-cs"/>
              </a:rPr>
              <a:t>28</a:t>
            </a:r>
            <a:r>
              <a:rPr kumimoji="0" lang="zh-CN" altLang="en-US" sz="1800" b="0" i="0" u="none" strike="noStrike" kern="1200" cap="none" spc="0" normalizeH="0" baseline="0" noProof="0" smtClean="0">
                <a:ln>
                  <a:noFill/>
                </a:ln>
                <a:solidFill>
                  <a:srgbClr val="46255D"/>
                </a:solidFill>
                <a:effectLst/>
                <a:uLnTx/>
                <a:uFillTx/>
                <a:latin typeface="汉仪文黑-55W" pitchFamily="18" charset="-122"/>
                <a:ea typeface="汉仪文黑-55W" pitchFamily="18" charset="-122"/>
                <a:cs typeface="+mn-cs"/>
              </a:rPr>
              <a:t>日</a:t>
            </a:r>
            <a:endParaRPr kumimoji="0" lang="zh-CN" altLang="en-US" sz="1800" b="0" i="0" u="none" strike="noStrike" kern="1200" cap="none" spc="0" normalizeH="0" baseline="0" noProof="0" dirty="0">
              <a:ln>
                <a:noFill/>
              </a:ln>
              <a:solidFill>
                <a:srgbClr val="46255D"/>
              </a:solidFill>
              <a:effectLst/>
              <a:uLnTx/>
              <a:uFillTx/>
              <a:latin typeface="汉仪文黑-55W" pitchFamily="18" charset="-122"/>
              <a:ea typeface="汉仪文黑-55W" pitchFamily="18" charset="-122"/>
              <a:cs typeface="+mn-cs"/>
            </a:endParaRPr>
          </a:p>
        </p:txBody>
      </p:sp>
      <p:graphicFrame>
        <p:nvGraphicFramePr>
          <p:cNvPr id="4" name="表格 3" descr="BDCONTENTCONTROL_Author_Show1" title="作者显示2"/>
          <p:cNvGraphicFramePr>
            <a:graphicFrameLocks noGrp="1"/>
          </p:cNvGraphicFramePr>
          <p:nvPr/>
        </p:nvGraphicFramePr>
        <p:xfrm>
          <a:off x="695959" y="5159592"/>
          <a:ext cx="3445200" cy="1341120"/>
        </p:xfrm>
        <a:graphic>
          <a:graphicData uri="http://schemas.openxmlformats.org/drawingml/2006/table">
            <a:tbl>
              <a:tblPr firstRow="1" bandRow="1">
                <a:tableStyleId>{2D5ABB26-0587-4C30-8999-92F81FD0307C}</a:tableStyleId>
              </a:tblPr>
              <a:tblGrid>
                <a:gridCol w="3445200">
                  <a:extLst>
                    <a:ext uri="{9D8B030D-6E8A-4147-A177-3AD203B41FA5}">
                      <a16:colId xmlns:a16="http://schemas.microsoft.com/office/drawing/2014/main" val="20000"/>
                    </a:ext>
                  </a:extLst>
                </a:gridCol>
              </a:tblGrid>
              <a:tr h="118110">
                <a:tc>
                  <a:txBody>
                    <a:bodyPr/>
                    <a:lstStyle/>
                    <a:p>
                      <a:pPr marL="285750" indent="-285750">
                        <a:buClr>
                          <a:srgbClr val="ED7D31"/>
                        </a:buClr>
                        <a:buSzPct val="80000"/>
                        <a:buFont typeface="Wingdings" panose="05000000000000000000" pitchFamily="2" charset="2"/>
                        <a:buChar char="n"/>
                      </a:pPr>
                      <a:r>
                        <a:rPr lang="zh-CN" altLang="en-US" sz="1600" b="1" baseline="0">
                          <a:solidFill>
                            <a:srgbClr val="FFFFFF"/>
                          </a:solidFill>
                          <a:latin typeface="汉仪文黑-55W" pitchFamily="18" charset="-122"/>
                          <a:ea typeface="汉仪文黑-55W" pitchFamily="18" charset="-122"/>
                        </a:rPr>
                        <a:t>分析师：胡博新</a:t>
                      </a:r>
                      <a:endParaRPr lang="zh-CN" altLang="en-US" sz="1600" b="1" baseline="0" dirty="0">
                        <a:solidFill>
                          <a:srgbClr val="FFFFFF"/>
                        </a:solidFill>
                        <a:latin typeface="汉仪文黑-55W" pitchFamily="18" charset="-122"/>
                        <a:ea typeface="汉仪文黑-55W" pitchFamily="18" charset="-122"/>
                      </a:endParaRPr>
                    </a:p>
                  </a:txBody>
                  <a:tcPr/>
                </a:tc>
                <a:extLst>
                  <a:ext uri="{0D108BD9-81ED-4DB2-BD59-A6C34878D82A}">
                    <a16:rowId xmlns:a16="http://schemas.microsoft.com/office/drawing/2014/main" val="10000"/>
                  </a:ext>
                </a:extLst>
              </a:tr>
              <a:tr h="118110">
                <a:tc>
                  <a:txBody>
                    <a:bodyPr/>
                    <a:lstStyle/>
                    <a:p>
                      <a:pPr marL="285750" indent="-285750">
                        <a:buClr>
                          <a:srgbClr val="ED7D31"/>
                        </a:buClr>
                        <a:buSzPct val="80000"/>
                        <a:buFont typeface="Wingdings" panose="05000000000000000000" pitchFamily="2" charset="2"/>
                        <a:buChar char="n"/>
                      </a:pPr>
                      <a:r>
                        <a:rPr lang="en-US" altLang="zh-CN" sz="1600" baseline="0">
                          <a:solidFill>
                            <a:srgbClr val="FFFFFF"/>
                          </a:solidFill>
                          <a:latin typeface="汉仪文黑-55W" pitchFamily="18" charset="-122"/>
                          <a:ea typeface="汉仪文黑-55W" pitchFamily="18" charset="-122"/>
                        </a:rPr>
                        <a:t>SAC</a:t>
                      </a:r>
                      <a:r>
                        <a:rPr lang="zh-CN" altLang="en-US" sz="1600" baseline="0">
                          <a:solidFill>
                            <a:srgbClr val="FFFFFF"/>
                          </a:solidFill>
                          <a:latin typeface="汉仪文黑-55W" pitchFamily="18" charset="-122"/>
                          <a:ea typeface="汉仪文黑-55W" pitchFamily="18" charset="-122"/>
                        </a:rPr>
                        <a:t>编号：</a:t>
                      </a:r>
                      <a:r>
                        <a:rPr lang="en-US" altLang="zh-CN" sz="1600" baseline="0">
                          <a:solidFill>
                            <a:srgbClr val="FFFFFF"/>
                          </a:solidFill>
                          <a:latin typeface="汉仪文黑-55W" pitchFamily="18" charset="-122"/>
                          <a:ea typeface="汉仪文黑-55W" pitchFamily="18" charset="-122"/>
                        </a:rPr>
                        <a:t>S1050522120002</a:t>
                      </a:r>
                      <a:endParaRPr lang="zh-CN" altLang="en-US" sz="1600" baseline="0" dirty="0">
                        <a:solidFill>
                          <a:srgbClr val="FFFFFF"/>
                        </a:solidFill>
                        <a:latin typeface="汉仪文黑-55W" pitchFamily="18" charset="-122"/>
                        <a:ea typeface="汉仪文黑-55W" pitchFamily="18" charset="-122"/>
                      </a:endParaRPr>
                    </a:p>
                  </a:txBody>
                  <a:tcPr/>
                </a:tc>
                <a:extLst>
                  <a:ext uri="{0D108BD9-81ED-4DB2-BD59-A6C34878D82A}">
                    <a16:rowId xmlns:a16="http://schemas.microsoft.com/office/drawing/2014/main" val="10001"/>
                  </a:ext>
                </a:extLst>
              </a:tr>
              <a:tr h="118110">
                <a:tc>
                  <a:txBody>
                    <a:bodyPr/>
                    <a:lstStyle/>
                    <a:p>
                      <a:pPr marL="285750" indent="-285750">
                        <a:buClr>
                          <a:srgbClr val="ED7D31"/>
                        </a:buClr>
                        <a:buSzPct val="80000"/>
                        <a:buFont typeface="Wingdings" panose="05000000000000000000" pitchFamily="2" charset="2"/>
                        <a:buChar char="n"/>
                      </a:pPr>
                      <a:r>
                        <a:rPr lang="zh-CN" altLang="en-US" sz="1600" b="1" baseline="0">
                          <a:solidFill>
                            <a:srgbClr val="FFFFFF"/>
                          </a:solidFill>
                          <a:latin typeface="汉仪文黑-55W" pitchFamily="18" charset="-122"/>
                          <a:ea typeface="汉仪文黑-55W" pitchFamily="18" charset="-122"/>
                        </a:rPr>
                        <a:t>分析师：吴景欢</a:t>
                      </a:r>
                      <a:endParaRPr lang="zh-CN" altLang="en-US" sz="1600" b="1" baseline="0" dirty="0">
                        <a:solidFill>
                          <a:srgbClr val="FFFFFF"/>
                        </a:solidFill>
                        <a:latin typeface="汉仪文黑-55W" pitchFamily="18" charset="-122"/>
                        <a:ea typeface="汉仪文黑-55W" pitchFamily="18" charset="-122"/>
                      </a:endParaRPr>
                    </a:p>
                  </a:txBody>
                  <a:tcPr/>
                </a:tc>
                <a:extLst>
                  <a:ext uri="{0D108BD9-81ED-4DB2-BD59-A6C34878D82A}">
                    <a16:rowId xmlns:a16="http://schemas.microsoft.com/office/drawing/2014/main" val="10002"/>
                  </a:ext>
                </a:extLst>
              </a:tr>
              <a:tr h="118110">
                <a:tc>
                  <a:txBody>
                    <a:bodyPr/>
                    <a:lstStyle/>
                    <a:p>
                      <a:pPr marL="285750" indent="-285750">
                        <a:buClr>
                          <a:srgbClr val="ED7D31"/>
                        </a:buClr>
                        <a:buSzPct val="80000"/>
                        <a:buFont typeface="Wingdings" panose="05000000000000000000" pitchFamily="2" charset="2"/>
                        <a:buChar char="n"/>
                      </a:pPr>
                      <a:r>
                        <a:rPr lang="en-US" altLang="zh-CN" sz="1600" baseline="0">
                          <a:solidFill>
                            <a:srgbClr val="FFFFFF"/>
                          </a:solidFill>
                          <a:latin typeface="汉仪文黑-55W" pitchFamily="18" charset="-122"/>
                          <a:ea typeface="汉仪文黑-55W" pitchFamily="18" charset="-122"/>
                        </a:rPr>
                        <a:t>SAC</a:t>
                      </a:r>
                      <a:r>
                        <a:rPr lang="zh-CN" altLang="en-US" sz="1600" baseline="0">
                          <a:solidFill>
                            <a:srgbClr val="FFFFFF"/>
                          </a:solidFill>
                          <a:latin typeface="汉仪文黑-55W" pitchFamily="18" charset="-122"/>
                          <a:ea typeface="汉仪文黑-55W" pitchFamily="18" charset="-122"/>
                        </a:rPr>
                        <a:t>编号：</a:t>
                      </a:r>
                      <a:r>
                        <a:rPr lang="en-US" altLang="zh-CN" sz="1600" baseline="0">
                          <a:solidFill>
                            <a:srgbClr val="FFFFFF"/>
                          </a:solidFill>
                          <a:latin typeface="汉仪文黑-55W" pitchFamily="18" charset="-122"/>
                          <a:ea typeface="汉仪文黑-55W" pitchFamily="18" charset="-122"/>
                        </a:rPr>
                        <a:t>S1050523070004</a:t>
                      </a:r>
                      <a:endParaRPr lang="zh-CN" altLang="en-US" sz="1600" baseline="0" dirty="0">
                        <a:solidFill>
                          <a:srgbClr val="FFFFFF"/>
                        </a:solidFill>
                        <a:latin typeface="汉仪文黑-55W" pitchFamily="18" charset="-122"/>
                        <a:ea typeface="汉仪文黑-55W" pitchFamily="18" charset="-122"/>
                      </a:endParaRPr>
                    </a:p>
                  </a:txBody>
                  <a:tcPr/>
                </a:tc>
                <a:extLst>
                  <a:ext uri="{0D108BD9-81ED-4DB2-BD59-A6C34878D82A}">
                    <a16:rowId xmlns:a16="http://schemas.microsoft.com/office/drawing/2014/main" val="10003"/>
                  </a:ext>
                </a:extLst>
              </a:tr>
            </a:tbl>
          </a:graphicData>
        </a:graphic>
      </p:graphicFrame>
      <p:graphicFrame>
        <p:nvGraphicFramePr>
          <p:cNvPr id="8" name="表格 7" descr="BDCONTENTCONTROL_Author_Show2" title="作者显示2"/>
          <p:cNvGraphicFramePr>
            <a:graphicFrameLocks noGrp="1"/>
          </p:cNvGraphicFramePr>
          <p:nvPr/>
        </p:nvGraphicFramePr>
        <p:xfrm>
          <a:off x="4373400" y="5159592"/>
          <a:ext cx="3445200" cy="335280"/>
        </p:xfrm>
        <a:graphic>
          <a:graphicData uri="http://schemas.openxmlformats.org/drawingml/2006/table">
            <a:tbl>
              <a:tblPr firstRow="1" bandRow="1">
                <a:tableStyleId>{2D5ABB26-0587-4C30-8999-92F81FD0307C}</a:tableStyleId>
              </a:tblPr>
              <a:tblGrid>
                <a:gridCol w="3445200">
                  <a:extLst>
                    <a:ext uri="{9D8B030D-6E8A-4147-A177-3AD203B41FA5}">
                      <a16:colId xmlns:a16="http://schemas.microsoft.com/office/drawing/2014/main" val="20000"/>
                    </a:ext>
                  </a:extLst>
                </a:gridCol>
              </a:tblGrid>
              <a:tr h="118110">
                <a:tc>
                  <a:txBody>
                    <a:bodyPr/>
                    <a:lstStyle/>
                    <a:p>
                      <a:pPr marL="285750" indent="-285750">
                        <a:buClr>
                          <a:srgbClr val="ED7D31"/>
                        </a:buClr>
                        <a:buSzPct val="80000"/>
                        <a:buFont typeface="Wingdings" panose="05000000000000000000" pitchFamily="2" charset="2"/>
                        <a:buChar char="n"/>
                      </a:pPr>
                      <a:endParaRPr lang="zh-CN" altLang="en-US" sz="1600" b="1" baseline="0" dirty="0">
                        <a:solidFill>
                          <a:srgbClr val="FFFFFF"/>
                        </a:solidFill>
                        <a:latin typeface="汉仪文黑-55W" pitchFamily="18" charset="-122"/>
                        <a:ea typeface="汉仪文黑-55W" pitchFamily="18" charset="-122"/>
                      </a:endParaRPr>
                    </a:p>
                  </a:txBody>
                  <a:tcPr/>
                </a:tc>
                <a:extLst>
                  <a:ext uri="{0D108BD9-81ED-4DB2-BD59-A6C34878D82A}">
                    <a16:rowId xmlns:a16="http://schemas.microsoft.com/office/drawing/2014/main" val="10000"/>
                  </a:ext>
                </a:extLst>
              </a:tr>
            </a:tbl>
          </a:graphicData>
        </a:graphic>
      </p:graphicFrame>
      <p:sp>
        <p:nvSpPr>
          <p:cNvPr id="7" name="文本框 6" descr="BDCONTENTCONTROL_68f3cfb9-6488-4e2f-9d04-330d983fbc92" title="报告类型"/>
          <p:cNvSpPr txBox="1"/>
          <p:nvPr/>
        </p:nvSpPr>
        <p:spPr>
          <a:xfrm>
            <a:off x="2559600" y="360000"/>
            <a:ext cx="900000" cy="307777"/>
          </a:xfrm>
          <a:prstGeom prst="rect">
            <a:avLst/>
          </a:prstGeom>
          <a:noFill/>
        </p:spPr>
        <p:txBody>
          <a:bodyPr vert="horz" wrap="non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smtClean="0">
                <a:ln>
                  <a:noFill/>
                </a:ln>
                <a:solidFill>
                  <a:prstClr val="white"/>
                </a:solidFill>
                <a:effectLst/>
                <a:uLnTx/>
                <a:uFillTx/>
                <a:latin typeface="汉仪文黑-55W" pitchFamily="18" charset="-122"/>
                <a:ea typeface="汉仪文黑-55W" pitchFamily="18" charset="-122"/>
                <a:cs typeface="+mn-cs"/>
              </a:rPr>
              <a:t>行业周报</a:t>
            </a:r>
            <a:endParaRPr kumimoji="0" lang="zh-CN" altLang="en-US" sz="1400" b="0" i="0" u="none" strike="noStrike" kern="1200" cap="none" spc="0" normalizeH="0" baseline="0" noProof="0" dirty="0">
              <a:ln>
                <a:noFill/>
              </a:ln>
              <a:solidFill>
                <a:prstClr val="white"/>
              </a:solidFill>
              <a:effectLst/>
              <a:uLnTx/>
              <a:uFillTx/>
              <a:latin typeface="汉仪文黑-55W" pitchFamily="18" charset="-122"/>
              <a:ea typeface="汉仪文黑-55W" pitchFamily="18"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6CB4D-E5AB-5230-7B42-26FA89CA2646}"/>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5576E3C-58A9-7129-6091-17D139F178FC}"/>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smtClean="0">
                <a:ln>
                  <a:noFill/>
                </a:ln>
                <a:solidFill>
                  <a:prstClr val="white">
                    <a:lumMod val="85000"/>
                  </a:prstClr>
                </a:solidFill>
                <a:effectLst/>
                <a:uLnTx/>
                <a:uFillTx/>
                <a:latin typeface="汉仪文黑-55W" pitchFamily="18" charset="-122"/>
                <a:ea typeface="汉仪文黑-55W" pitchFamily="18" charset="-122"/>
                <a:cs typeface="+mn-cs"/>
                <a:sym typeface="+mn-ea"/>
              </a:rPr>
              <a:t>2</a:t>
            </a:r>
            <a:endParaRPr kumimoji="0" lang="zh-CN" altLang="en-US" sz="1400" b="1" i="0" u="none" strike="noStrike" kern="1200" cap="none" spc="0" normalizeH="0" baseline="0" noProof="0" dirty="0">
              <a:ln>
                <a:noFill/>
              </a:ln>
              <a:solidFill>
                <a:prstClr val="black"/>
              </a:solidFill>
              <a:effectLst/>
              <a:uLnTx/>
              <a:uFillTx/>
              <a:latin typeface="汉仪文黑-55W" pitchFamily="18" charset="-122"/>
              <a:ea typeface="汉仪文黑-55W" pitchFamily="18" charset="-122"/>
              <a:cs typeface="+mn-cs"/>
            </a:endParaRPr>
          </a:p>
        </p:txBody>
      </p:sp>
      <p:sp>
        <p:nvSpPr>
          <p:cNvPr id="14" name="文本框 13">
            <a:extLst>
              <a:ext uri="{FF2B5EF4-FFF2-40B4-BE49-F238E27FC236}">
                <a16:creationId xmlns:a16="http://schemas.microsoft.com/office/drawing/2014/main" id="{0109AA35-4302-105D-BC61-2BD67C0F170D}"/>
              </a:ext>
            </a:extLst>
          </p:cNvPr>
          <p:cNvSpPr txBox="1"/>
          <p:nvPr/>
        </p:nvSpPr>
        <p:spPr>
          <a:xfrm>
            <a:off x="514350" y="254000"/>
            <a:ext cx="2321214" cy="461665"/>
          </a:xfrm>
          <a:prstGeom prst="rect">
            <a:avLst/>
          </a:prstGeom>
          <a:noFill/>
        </p:spPr>
        <p:txBody>
          <a:bodyPr wrap="square" lIns="0"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时尚中黑简体" charset="-122"/>
                <a:sym typeface="+mn-ea"/>
              </a:rPr>
              <a:t>医药行业观点</a:t>
            </a:r>
          </a:p>
        </p:txBody>
      </p:sp>
      <p:sp>
        <p:nvSpPr>
          <p:cNvPr id="5" name="文本框 4">
            <a:extLst>
              <a:ext uri="{FF2B5EF4-FFF2-40B4-BE49-F238E27FC236}">
                <a16:creationId xmlns:a16="http://schemas.microsoft.com/office/drawing/2014/main" id="{8DB09980-0069-7172-AC4F-9E6FF122DF43}"/>
              </a:ext>
            </a:extLst>
          </p:cNvPr>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诚信、专业、稳健、高效</a:t>
            </a:r>
          </a:p>
        </p:txBody>
      </p:sp>
      <p:sp>
        <p:nvSpPr>
          <p:cNvPr id="6" name="文本框 5">
            <a:extLst>
              <a:ext uri="{FF2B5EF4-FFF2-40B4-BE49-F238E27FC236}">
                <a16:creationId xmlns:a16="http://schemas.microsoft.com/office/drawing/2014/main" id="{CAAA764E-4C33-8C3B-60F0-25180820DF39}"/>
              </a:ext>
            </a:extLst>
          </p:cNvPr>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请阅读最后一页重要免责声明</a:t>
            </a:r>
          </a:p>
        </p:txBody>
      </p:sp>
      <p:sp>
        <p:nvSpPr>
          <p:cNvPr id="2" name="文本框 1" descr="BDCONTENTCONTROL_AUTO_SAVE_Summary1">
            <a:extLst>
              <a:ext uri="{FF2B5EF4-FFF2-40B4-BE49-F238E27FC236}">
                <a16:creationId xmlns:a16="http://schemas.microsoft.com/office/drawing/2014/main" id="{384D5C1A-1E7A-F421-5358-2B0E708E2BC1}"/>
              </a:ext>
            </a:extLst>
          </p:cNvPr>
          <p:cNvSpPr txBox="1"/>
          <p:nvPr/>
        </p:nvSpPr>
        <p:spPr>
          <a:xfrm>
            <a:off x="352107" y="984303"/>
            <a:ext cx="11296650"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rPr>
              <a:t>1.mRNA</a:t>
            </a: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rPr>
              <a:t>癌症疫苗取得临床重要突破，未来产业前景广阔</a:t>
            </a:r>
            <a:endParaRPr kumimoji="0" lang="en-US" altLang="zh-CN"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rgbClr val="5A2781"/>
              </a:solidFill>
              <a:effectLst/>
              <a:uLnTx/>
              <a:uFillTx/>
              <a:latin typeface="Arial" panose="020B0604020202090204" pitchFamily="34" charset="0"/>
              <a:ea typeface="汉仪文黑-55W" pitchFamily="18" charset="-122"/>
              <a:cs typeface="+mn-cs"/>
              <a:sym typeface="+mn-ea"/>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2026</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8</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月</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19</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日，</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Moderna</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和默沙东共同宣布</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mRNA</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癌症疫苗</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Intismeran Autogene </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联用</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KEYTRUDA</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在完全切除的</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IIB-IV</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期黑色素瘤患者辅助治疗中取得阳性结果。</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Intismeran Autogene </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为</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mRNA</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个体化癌症疫苗，区别于通用型疫苗，</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Intismeran Autogene </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包含的肿瘤抗原是经过肿瘤</a:t>
            </a:r>
            <a:r>
              <a:rPr kumimoji="0" lang="zh-CN" altLang="en-US" sz="1600" b="0" i="0" u="none" strike="noStrike" kern="1200" cap="none" spc="0" normalizeH="0" baseline="0" noProof="0" dirty="0" smtClean="0">
                <a:ln>
                  <a:noFill/>
                </a:ln>
                <a:solidFill>
                  <a:prstClr val="black"/>
                </a:solidFill>
                <a:effectLst/>
                <a:uLnTx/>
                <a:uFillTx/>
                <a:latin typeface="Arial" panose="020B0604020202090204" pitchFamily="34" charset="0"/>
                <a:ea typeface="汉仪文黑-55W" pitchFamily="18" charset="-122"/>
                <a:cs typeface="+mn-cs"/>
                <a:sym typeface="+mn-ea"/>
              </a:rPr>
              <a:t>活检、测序、筛选、优化后得到的</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，临床实验组</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99.1% </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的抗原为独立，仅有</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0.9</a:t>
            </a:r>
            <a:r>
              <a:rPr kumimoji="0" lang="en-US" altLang="zh-CN" sz="1600" b="0" i="0" u="none" strike="noStrike" kern="1200" cap="none" spc="0" normalizeH="0" baseline="0" noProof="0" dirty="0" smtClean="0">
                <a:ln>
                  <a:noFill/>
                </a:ln>
                <a:solidFill>
                  <a:prstClr val="black"/>
                </a:solidFill>
                <a:effectLst/>
                <a:uLnTx/>
                <a:uFillTx/>
                <a:latin typeface="Arial" panose="020B0604020202090204" pitchFamily="34" charset="0"/>
                <a:ea typeface="汉仪文黑-55W" pitchFamily="18" charset="-122"/>
                <a:cs typeface="+mn-cs"/>
                <a:sym typeface="+mn-ea"/>
              </a:rPr>
              <a:t>%</a:t>
            </a:r>
            <a:r>
              <a:rPr kumimoji="0" lang="zh-CN" altLang="en-US" sz="1600" b="0" i="0" u="none" strike="noStrike" kern="1200" cap="none" spc="0" normalizeH="0" baseline="0" noProof="0" dirty="0" smtClean="0">
                <a:ln>
                  <a:noFill/>
                </a:ln>
                <a:solidFill>
                  <a:prstClr val="black"/>
                </a:solidFill>
                <a:effectLst/>
                <a:uLnTx/>
                <a:uFillTx/>
                <a:latin typeface="Arial" panose="020B0604020202090204" pitchFamily="34" charset="0"/>
                <a:ea typeface="汉仪文黑-55W" pitchFamily="18" charset="-122"/>
                <a:cs typeface="+mn-cs"/>
                <a:sym typeface="+mn-ea"/>
              </a:rPr>
              <a:t>存在重叠</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。此前肿瘤</a:t>
            </a:r>
            <a:r>
              <a:rPr kumimoji="0" lang="zh-CN" altLang="en-US" sz="1600" b="0" i="0" u="none" strike="noStrike" kern="1200" cap="none" spc="0" normalizeH="0" baseline="0" noProof="0" dirty="0" smtClean="0">
                <a:ln>
                  <a:noFill/>
                </a:ln>
                <a:solidFill>
                  <a:prstClr val="black"/>
                </a:solidFill>
                <a:effectLst/>
                <a:uLnTx/>
                <a:uFillTx/>
                <a:latin typeface="Arial" panose="020B0604020202090204" pitchFamily="34" charset="0"/>
                <a:ea typeface="汉仪文黑-55W" pitchFamily="18" charset="-122"/>
                <a:cs typeface="+mn-cs"/>
                <a:sym typeface="+mn-ea"/>
              </a:rPr>
              <a:t>疫苗临床</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失败的重要</a:t>
            </a:r>
            <a:r>
              <a:rPr kumimoji="0" lang="zh-CN" altLang="en-US" sz="1600" b="0" i="0" u="none" strike="noStrike" kern="1200" cap="none" spc="0" normalizeH="0" baseline="0" noProof="0" dirty="0" smtClean="0">
                <a:ln>
                  <a:noFill/>
                </a:ln>
                <a:solidFill>
                  <a:prstClr val="black"/>
                </a:solidFill>
                <a:effectLst/>
                <a:uLnTx/>
                <a:uFillTx/>
                <a:latin typeface="Arial" panose="020B0604020202090204" pitchFamily="34" charset="0"/>
                <a:ea typeface="汉仪文黑-55W" pitchFamily="18" charset="-122"/>
                <a:cs typeface="+mn-cs"/>
                <a:sym typeface="+mn-ea"/>
              </a:rPr>
              <a:t>原因之一在于</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肿瘤抗原的异质性，</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mRNA</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肿瘤疫苗通过个体化设计解决此问题，对于肿瘤疫苗的</a:t>
            </a:r>
            <a:r>
              <a:rPr kumimoji="0" lang="zh-CN" altLang="en-US" sz="1600" b="0" i="0" u="none" strike="noStrike" kern="1200" cap="none" spc="0" normalizeH="0" baseline="0" noProof="0" dirty="0" smtClean="0">
                <a:ln>
                  <a:noFill/>
                </a:ln>
                <a:solidFill>
                  <a:prstClr val="black"/>
                </a:solidFill>
                <a:effectLst/>
                <a:uLnTx/>
                <a:uFillTx/>
                <a:latin typeface="Arial" panose="020B0604020202090204" pitchFamily="34" charset="0"/>
                <a:ea typeface="汉仪文黑-55W" pitchFamily="18" charset="-122"/>
                <a:cs typeface="+mn-cs"/>
                <a:sym typeface="+mn-ea"/>
              </a:rPr>
              <a:t>研发具有重要</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的里程碑意义。目前</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Moderna</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和默沙东还在推进非小细胞肺癌、肾细胞癌和非浸润膀胱癌的辅助治疗研究，</a:t>
            </a:r>
            <a:r>
              <a:rPr kumimoji="0" lang="zh-CN" altLang="en-US" sz="1600" b="0" i="0" u="none" strike="noStrike" kern="1200" cap="none" spc="0" normalizeH="0" baseline="0" noProof="0" dirty="0" smtClean="0">
                <a:ln>
                  <a:noFill/>
                </a:ln>
                <a:solidFill>
                  <a:prstClr val="black"/>
                </a:solidFill>
                <a:effectLst/>
                <a:uLnTx/>
                <a:uFillTx/>
                <a:latin typeface="Arial" panose="020B0604020202090204" pitchFamily="34" charset="0"/>
                <a:ea typeface="汉仪文黑-55W" pitchFamily="18" charset="-122"/>
                <a:cs typeface="+mn-cs"/>
                <a:sym typeface="+mn-ea"/>
              </a:rPr>
              <a:t>晚期黑色素细胞瘤的主治</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治疗也在推进中。这意味着未来</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mRNA</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癌症</a:t>
            </a:r>
            <a:r>
              <a:rPr kumimoji="0" lang="zh-CN" altLang="en-US" sz="1600" b="0" i="0" u="none" strike="noStrike" kern="1200" cap="none" spc="0" normalizeH="0" baseline="0" noProof="0" dirty="0" smtClean="0">
                <a:ln>
                  <a:noFill/>
                </a:ln>
                <a:solidFill>
                  <a:prstClr val="black"/>
                </a:solidFill>
                <a:effectLst/>
                <a:uLnTx/>
                <a:uFillTx/>
                <a:latin typeface="Arial" panose="020B0604020202090204" pitchFamily="34" charset="0"/>
                <a:ea typeface="汉仪文黑-55W" pitchFamily="18" charset="-122"/>
                <a:cs typeface="+mn-cs"/>
                <a:sym typeface="+mn-ea"/>
              </a:rPr>
              <a:t>疫苗将不是</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停留在单一瘤种或者仅限于控制癌症复发的场景，未来有希望和</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K</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药联用进入关键前期。</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Moderna</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也在持续迭代</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mRNA</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疫苗的技术平台，第二代技术会考虑个体化疫苗的持续治疗和成本问题，开发通用型而且具有相当保护力的疫苗。第三代技术，</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mRNA</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技术将于</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TCE</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和体内</a:t>
            </a:r>
            <a:r>
              <a:rPr kumimoji="0" lang="en-US" altLang="zh-CN" sz="1600" b="0" i="0" u="none" strike="noStrike" kern="1200" cap="none" spc="0" normalizeH="0" baseline="0" noProof="0" dirty="0" smtClean="0">
                <a:ln>
                  <a:noFill/>
                </a:ln>
                <a:solidFill>
                  <a:prstClr val="black"/>
                </a:solidFill>
                <a:effectLst/>
                <a:uLnTx/>
                <a:uFillTx/>
                <a:latin typeface="Arial" panose="020B0604020202090204" pitchFamily="34" charset="0"/>
                <a:ea typeface="汉仪文黑-55W" pitchFamily="18" charset="-122"/>
                <a:cs typeface="+mn-cs"/>
                <a:sym typeface="+mn-ea"/>
              </a:rPr>
              <a:t>CAR-T</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结合，进一步提高肿瘤的响应率，未来</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mRNA</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癌症疫苗有望成为肿瘤免疫治疗的主要增长极。</a:t>
            </a: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endParaRPr>
          </a:p>
        </p:txBody>
      </p:sp>
    </p:spTree>
    <p:extLst>
      <p:ext uri="{BB962C8B-B14F-4D97-AF65-F5344CB8AC3E}">
        <p14:creationId xmlns:p14="http://schemas.microsoft.com/office/powerpoint/2010/main" val="3935155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smtClean="0">
                <a:ln>
                  <a:noFill/>
                </a:ln>
                <a:solidFill>
                  <a:prstClr val="white">
                    <a:lumMod val="85000"/>
                  </a:prstClr>
                </a:solidFill>
                <a:effectLst/>
                <a:uLnTx/>
                <a:uFillTx/>
                <a:latin typeface="汉仪文黑-55W" pitchFamily="18" charset="-122"/>
                <a:ea typeface="汉仪文黑-55W" pitchFamily="18" charset="-122"/>
                <a:cs typeface="+mn-cs"/>
                <a:sym typeface="+mn-ea"/>
              </a:rPr>
              <a:t>3</a:t>
            </a:r>
            <a:endParaRPr kumimoji="0" lang="zh-CN" altLang="en-US" sz="1400" b="1" i="0" u="none" strike="noStrike" kern="1200" cap="none" spc="0" normalizeH="0" baseline="0" noProof="0" dirty="0">
              <a:ln>
                <a:noFill/>
              </a:ln>
              <a:solidFill>
                <a:prstClr val="black"/>
              </a:solidFill>
              <a:effectLst/>
              <a:uLnTx/>
              <a:uFillTx/>
              <a:latin typeface="汉仪文黑-55W" pitchFamily="18" charset="-122"/>
              <a:ea typeface="汉仪文黑-55W" pitchFamily="18" charset="-122"/>
              <a:cs typeface="+mn-cs"/>
            </a:endParaRPr>
          </a:p>
        </p:txBody>
      </p:sp>
      <p:sp>
        <p:nvSpPr>
          <p:cNvPr id="14" name="文本框 13"/>
          <p:cNvSpPr txBox="1"/>
          <p:nvPr/>
        </p:nvSpPr>
        <p:spPr>
          <a:xfrm>
            <a:off x="514350" y="254000"/>
            <a:ext cx="2321214" cy="461665"/>
          </a:xfrm>
          <a:prstGeom prst="rect">
            <a:avLst/>
          </a:prstGeom>
          <a:noFill/>
        </p:spPr>
        <p:txBody>
          <a:bodyPr wrap="square" lIns="0"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时尚中黑简体" charset="-122"/>
                <a:sym typeface="+mn-ea"/>
              </a:rPr>
              <a:t>医药行业观点</a:t>
            </a:r>
          </a:p>
        </p:txBody>
      </p:sp>
      <p:sp>
        <p:nvSpPr>
          <p:cNvPr id="5" name="文本框 4"/>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诚信、专业、稳健、高效</a:t>
            </a:r>
          </a:p>
        </p:txBody>
      </p:sp>
      <p:sp>
        <p:nvSpPr>
          <p:cNvPr id="6" name="文本框 5"/>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请阅读最后一页重要免责声明</a:t>
            </a:r>
          </a:p>
        </p:txBody>
      </p:sp>
      <p:sp>
        <p:nvSpPr>
          <p:cNvPr id="2" name="文本框 1" descr="BDCONTENTCONTROL_AUTO_SAVE_Summary1"/>
          <p:cNvSpPr txBox="1"/>
          <p:nvPr/>
        </p:nvSpPr>
        <p:spPr>
          <a:xfrm>
            <a:off x="514349" y="984303"/>
            <a:ext cx="11134407" cy="448956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rgbClr val="5A2781"/>
                </a:solidFill>
                <a:effectLst/>
                <a:uLnTx/>
                <a:uFillTx/>
                <a:latin typeface="汉仪文黑-55W" pitchFamily="18" charset="-122"/>
                <a:ea typeface="汉仪文黑-55W" pitchFamily="18" charset="-122"/>
                <a:cs typeface="+mn-cs"/>
                <a:sym typeface="+mn-ea"/>
              </a:rPr>
              <a:t>2.</a:t>
            </a:r>
            <a:r>
              <a:rPr lang="zh-CN" altLang="en-US" sz="2400" b="1" dirty="0" smtClean="0">
                <a:solidFill>
                  <a:srgbClr val="5A2781"/>
                </a:solidFill>
                <a:latin typeface="汉仪文黑-55W" pitchFamily="18" charset="-122"/>
                <a:ea typeface="汉仪文黑-55W" pitchFamily="18" charset="-122"/>
                <a:sym typeface="+mn-ea"/>
              </a:rPr>
              <a:t> </a:t>
            </a:r>
            <a:r>
              <a:rPr lang="en-US" altLang="zh-CN" sz="2400" b="1" dirty="0">
                <a:solidFill>
                  <a:srgbClr val="5A2781"/>
                </a:solidFill>
                <a:latin typeface="汉仪文黑-55W" pitchFamily="18" charset="-122"/>
                <a:ea typeface="汉仪文黑-55W" pitchFamily="18" charset="-122"/>
                <a:sym typeface="+mn-ea"/>
              </a:rPr>
              <a:t>CDMO</a:t>
            </a:r>
            <a:r>
              <a:rPr lang="zh-CN" altLang="en-US" sz="2400" b="1" dirty="0">
                <a:solidFill>
                  <a:srgbClr val="5A2781"/>
                </a:solidFill>
                <a:latin typeface="汉仪文黑-55W" pitchFamily="18" charset="-122"/>
                <a:ea typeface="汉仪文黑-55W" pitchFamily="18" charset="-122"/>
                <a:sym typeface="+mn-ea"/>
              </a:rPr>
              <a:t>景气度紧跟海外大单品增长和新分子药物上市</a:t>
            </a:r>
            <a:endPar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endParaRPr>
          </a:p>
          <a:p>
            <a:pPr lvl="0" algn="just">
              <a:lnSpc>
                <a:spcPct val="150000"/>
              </a:lnSpc>
              <a:defRPr/>
            </a:pPr>
            <a:endPar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endParaRPr>
          </a:p>
          <a:p>
            <a:pPr lvl="0" algn="just">
              <a:lnSpc>
                <a:spcPct val="150000"/>
              </a:lnSpc>
              <a:defRPr/>
            </a:pP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海外</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MNC</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已陆续披露</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2026</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年中期业绩。从单品种来看，替尔泊肽以</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276.93</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亿美元的半年销售额位居</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TOP1</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，以</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88%</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的增幅和</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129.59</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亿美元的增量贡献了全球创新药品的主要增量。外延并购和创新管线聚焦方面，</a:t>
            </a:r>
            <a:r>
              <a:rPr lang="en-US" altLang="zh-CN" sz="1600" dirty="0">
                <a:solidFill>
                  <a:prstClr val="black"/>
                </a:solidFill>
                <a:latin typeface="Arial" panose="020B0604020202090204" pitchFamily="34" charset="0"/>
                <a:ea typeface="汉仪文黑-55W" pitchFamily="18" charset="-122"/>
                <a:sym typeface="+mn-ea"/>
              </a:rPr>
              <a:t>2026H1</a:t>
            </a:r>
            <a:r>
              <a:rPr lang="zh-CN" altLang="en-US" sz="1600" dirty="0">
                <a:solidFill>
                  <a:prstClr val="black"/>
                </a:solidFill>
                <a:latin typeface="Arial" panose="020B0604020202090204" pitchFamily="34" charset="0"/>
                <a:ea typeface="汉仪文黑-55W" pitchFamily="18" charset="-122"/>
                <a:sym typeface="+mn-ea"/>
              </a:rPr>
              <a:t>在</a:t>
            </a:r>
            <a:r>
              <a:rPr lang="en-US" altLang="zh-CN" sz="1600" dirty="0">
                <a:solidFill>
                  <a:prstClr val="black"/>
                </a:solidFill>
                <a:latin typeface="Arial" panose="020B0604020202090204" pitchFamily="34" charset="0"/>
                <a:ea typeface="汉仪文黑-55W" pitchFamily="18" charset="-122"/>
                <a:sym typeface="+mn-ea"/>
              </a:rPr>
              <a:t>TOP10</a:t>
            </a:r>
            <a:r>
              <a:rPr lang="zh-CN" altLang="en-US" sz="1600" dirty="0">
                <a:solidFill>
                  <a:prstClr val="black"/>
                </a:solidFill>
                <a:latin typeface="Arial" panose="020B0604020202090204" pitchFamily="34" charset="0"/>
                <a:ea typeface="汉仪文黑-55W" pitchFamily="18" charset="-122"/>
                <a:sym typeface="+mn-ea"/>
              </a:rPr>
              <a:t>的</a:t>
            </a:r>
            <a:r>
              <a:rPr lang="en-US" altLang="zh-CN" sz="1600" dirty="0">
                <a:solidFill>
                  <a:prstClr val="black"/>
                </a:solidFill>
                <a:latin typeface="Arial" panose="020B0604020202090204" pitchFamily="34" charset="0"/>
                <a:ea typeface="汉仪文黑-55W" pitchFamily="18" charset="-122"/>
                <a:sym typeface="+mn-ea"/>
              </a:rPr>
              <a:t>MNC</a:t>
            </a:r>
            <a:r>
              <a:rPr lang="zh-CN" altLang="en-US" sz="1600" dirty="0">
                <a:solidFill>
                  <a:prstClr val="black"/>
                </a:solidFill>
                <a:latin typeface="Arial" panose="020B0604020202090204" pitchFamily="34" charset="0"/>
                <a:ea typeface="汉仪文黑-55W" pitchFamily="18" charset="-122"/>
                <a:sym typeface="+mn-ea"/>
              </a:rPr>
              <a:t>中，除诺华之外，其他研发投入均增长。在海外大单品上量中，中国企业也获得了发展机遇，首先是替尔泊肽等</a:t>
            </a:r>
            <a:r>
              <a:rPr lang="en-US" altLang="zh-CN" sz="1600" dirty="0">
                <a:solidFill>
                  <a:prstClr val="black"/>
                </a:solidFill>
                <a:latin typeface="Arial" panose="020B0604020202090204" pitchFamily="34" charset="0"/>
                <a:ea typeface="汉仪文黑-55W" pitchFamily="18" charset="-122"/>
                <a:sym typeface="+mn-ea"/>
              </a:rPr>
              <a:t>GLP-1</a:t>
            </a:r>
            <a:r>
              <a:rPr lang="zh-CN" altLang="en-US" sz="1600" dirty="0">
                <a:solidFill>
                  <a:prstClr val="black"/>
                </a:solidFill>
                <a:latin typeface="Arial" panose="020B0604020202090204" pitchFamily="34" charset="0"/>
                <a:ea typeface="汉仪文黑-55W" pitchFamily="18" charset="-122"/>
                <a:sym typeface="+mn-ea"/>
              </a:rPr>
              <a:t>大品种对多肽合成链的拉动，</a:t>
            </a:r>
            <a:r>
              <a:rPr lang="en-US" altLang="zh-CN" sz="1600" dirty="0">
                <a:solidFill>
                  <a:prstClr val="black"/>
                </a:solidFill>
                <a:latin typeface="Arial" panose="020B0604020202090204" pitchFamily="34" charset="0"/>
                <a:ea typeface="汉仪文黑-55W" pitchFamily="18" charset="-122"/>
                <a:sym typeface="+mn-ea"/>
              </a:rPr>
              <a:t>CDMO</a:t>
            </a:r>
            <a:r>
              <a:rPr lang="zh-CN" altLang="en-US" sz="1600" dirty="0">
                <a:solidFill>
                  <a:prstClr val="black"/>
                </a:solidFill>
                <a:latin typeface="Arial" panose="020B0604020202090204" pitchFamily="34" charset="0"/>
                <a:ea typeface="汉仪文黑-55W" pitchFamily="18" charset="-122"/>
                <a:sym typeface="+mn-ea"/>
              </a:rPr>
              <a:t>龙头药明康德</a:t>
            </a:r>
            <a:r>
              <a:rPr lang="en-US" altLang="zh-CN" sz="1600" dirty="0">
                <a:solidFill>
                  <a:prstClr val="black"/>
                </a:solidFill>
                <a:latin typeface="Arial" panose="020B0604020202090204" pitchFamily="34" charset="0"/>
                <a:ea typeface="汉仪文黑-55W" pitchFamily="18" charset="-122"/>
                <a:sym typeface="+mn-ea"/>
              </a:rPr>
              <a:t>2026H1</a:t>
            </a:r>
            <a:r>
              <a:rPr lang="zh-CN" altLang="en-US" sz="1600" dirty="0">
                <a:solidFill>
                  <a:prstClr val="black"/>
                </a:solidFill>
                <a:latin typeface="Arial" panose="020B0604020202090204" pitchFamily="34" charset="0"/>
                <a:ea typeface="汉仪文黑-55W" pitchFamily="18" charset="-122"/>
                <a:sym typeface="+mn-ea"/>
              </a:rPr>
              <a:t>营业收入增长</a:t>
            </a:r>
            <a:r>
              <a:rPr lang="en-US" altLang="zh-CN" sz="1600" dirty="0">
                <a:solidFill>
                  <a:prstClr val="black"/>
                </a:solidFill>
                <a:latin typeface="Arial" panose="020B0604020202090204" pitchFamily="34" charset="0"/>
                <a:ea typeface="汉仪文黑-55W" pitchFamily="18" charset="-122"/>
                <a:sym typeface="+mn-ea"/>
              </a:rPr>
              <a:t>38.93%</a:t>
            </a:r>
            <a:r>
              <a:rPr lang="zh-CN" altLang="en-US" sz="1600" dirty="0">
                <a:solidFill>
                  <a:prstClr val="black"/>
                </a:solidFill>
                <a:latin typeface="Arial" panose="020B0604020202090204" pitchFamily="34" charset="0"/>
                <a:ea typeface="汉仪文黑-55W" pitchFamily="18" charset="-122"/>
                <a:sym typeface="+mn-ea"/>
              </a:rPr>
              <a:t>，扣非净利增长</a:t>
            </a:r>
            <a:r>
              <a:rPr lang="en-US" altLang="zh-CN" sz="1600" dirty="0">
                <a:solidFill>
                  <a:prstClr val="black"/>
                </a:solidFill>
                <a:latin typeface="Arial" panose="020B0604020202090204" pitchFamily="34" charset="0"/>
                <a:ea typeface="汉仪文黑-55W" pitchFamily="18" charset="-122"/>
                <a:sym typeface="+mn-ea"/>
              </a:rPr>
              <a:t>89.39%</a:t>
            </a:r>
            <a:r>
              <a:rPr lang="zh-CN" altLang="en-US" sz="1600" dirty="0">
                <a:solidFill>
                  <a:prstClr val="black"/>
                </a:solidFill>
                <a:latin typeface="Arial" panose="020B0604020202090204" pitchFamily="34" charset="0"/>
                <a:ea typeface="汉仪文黑-55W" pitchFamily="18" charset="-122"/>
                <a:sym typeface="+mn-ea"/>
              </a:rPr>
              <a:t>，其中</a:t>
            </a:r>
            <a:r>
              <a:rPr lang="en-US" altLang="zh-CN" sz="1600" dirty="0">
                <a:solidFill>
                  <a:prstClr val="black"/>
                </a:solidFill>
                <a:latin typeface="Arial" panose="020B0604020202090204" pitchFamily="34" charset="0"/>
                <a:ea typeface="汉仪文黑-55W" pitchFamily="18" charset="-122"/>
                <a:sym typeface="+mn-ea"/>
              </a:rPr>
              <a:t>TIDES</a:t>
            </a:r>
            <a:r>
              <a:rPr lang="zh-CN" altLang="en-US" sz="1600" dirty="0">
                <a:solidFill>
                  <a:prstClr val="black"/>
                </a:solidFill>
                <a:latin typeface="Arial" panose="020B0604020202090204" pitchFamily="34" charset="0"/>
                <a:ea typeface="汉仪文黑-55W" pitchFamily="18" charset="-122"/>
                <a:sym typeface="+mn-ea"/>
              </a:rPr>
              <a:t>业务收入同比增长</a:t>
            </a:r>
            <a:r>
              <a:rPr lang="en-US" altLang="zh-CN" sz="1600" dirty="0">
                <a:solidFill>
                  <a:prstClr val="black"/>
                </a:solidFill>
                <a:latin typeface="Arial" panose="020B0604020202090204" pitchFamily="34" charset="0"/>
                <a:ea typeface="汉仪文黑-55W" pitchFamily="18" charset="-122"/>
                <a:sym typeface="+mn-ea"/>
              </a:rPr>
              <a:t>44.3%</a:t>
            </a:r>
            <a:r>
              <a:rPr lang="zh-CN" altLang="en-US" sz="1600" dirty="0">
                <a:solidFill>
                  <a:prstClr val="black"/>
                </a:solidFill>
                <a:latin typeface="Arial" panose="020B0604020202090204" pitchFamily="34" charset="0"/>
                <a:ea typeface="汉仪文黑-55W" pitchFamily="18" charset="-122"/>
                <a:sym typeface="+mn-ea"/>
              </a:rPr>
              <a:t>，预计全年</a:t>
            </a:r>
            <a:r>
              <a:rPr lang="en-US" altLang="zh-CN" sz="1600" dirty="0">
                <a:solidFill>
                  <a:prstClr val="black"/>
                </a:solidFill>
                <a:latin typeface="Arial" panose="020B0604020202090204" pitchFamily="34" charset="0"/>
                <a:ea typeface="汉仪文黑-55W" pitchFamily="18" charset="-122"/>
                <a:sym typeface="+mn-ea"/>
              </a:rPr>
              <a:t>TIDES</a:t>
            </a:r>
            <a:r>
              <a:rPr lang="zh-CN" altLang="en-US" sz="1600" dirty="0">
                <a:solidFill>
                  <a:prstClr val="black"/>
                </a:solidFill>
                <a:latin typeface="Arial" panose="020B0604020202090204" pitchFamily="34" charset="0"/>
                <a:ea typeface="汉仪文黑-55W" pitchFamily="18" charset="-122"/>
                <a:sym typeface="+mn-ea"/>
              </a:rPr>
              <a:t>业务收入将实现</a:t>
            </a:r>
            <a:r>
              <a:rPr lang="en-US" altLang="zh-CN" sz="1600" dirty="0">
                <a:solidFill>
                  <a:prstClr val="black"/>
                </a:solidFill>
                <a:latin typeface="Arial" panose="020B0604020202090204" pitchFamily="34" charset="0"/>
                <a:ea typeface="汉仪文黑-55W" pitchFamily="18" charset="-122"/>
                <a:sym typeface="+mn-ea"/>
              </a:rPr>
              <a:t>~45%</a:t>
            </a:r>
            <a:r>
              <a:rPr lang="zh-CN" altLang="en-US" sz="1600" dirty="0">
                <a:solidFill>
                  <a:prstClr val="black"/>
                </a:solidFill>
                <a:latin typeface="Arial" panose="020B0604020202090204" pitchFamily="34" charset="0"/>
                <a:ea typeface="汉仪文黑-55W" pitchFamily="18" charset="-122"/>
                <a:sym typeface="+mn-ea"/>
              </a:rPr>
              <a:t>增长。</a:t>
            </a:r>
            <a:r>
              <a:rPr lang="en-US" altLang="zh-CN" sz="1600" dirty="0">
                <a:solidFill>
                  <a:prstClr val="black"/>
                </a:solidFill>
                <a:latin typeface="Arial" panose="020B0604020202090204" pitchFamily="34" charset="0"/>
                <a:ea typeface="汉仪文黑-55W" pitchFamily="18" charset="-122"/>
                <a:sym typeface="+mn-ea"/>
              </a:rPr>
              <a:t>8</a:t>
            </a:r>
            <a:r>
              <a:rPr lang="zh-CN" altLang="en-US" sz="1600" dirty="0">
                <a:solidFill>
                  <a:prstClr val="black"/>
                </a:solidFill>
                <a:latin typeface="Arial" panose="020B0604020202090204" pitchFamily="34" charset="0"/>
                <a:ea typeface="汉仪文黑-55W" pitchFamily="18" charset="-122"/>
                <a:sym typeface="+mn-ea"/>
              </a:rPr>
              <a:t>月</a:t>
            </a:r>
            <a:r>
              <a:rPr lang="en-US" altLang="zh-CN" sz="1600" dirty="0">
                <a:solidFill>
                  <a:prstClr val="black"/>
                </a:solidFill>
                <a:latin typeface="Arial" panose="020B0604020202090204" pitchFamily="34" charset="0"/>
                <a:ea typeface="汉仪文黑-55W" pitchFamily="18" charset="-122"/>
                <a:sym typeface="+mn-ea"/>
              </a:rPr>
              <a:t>13</a:t>
            </a:r>
            <a:r>
              <a:rPr lang="zh-CN" altLang="en-US" sz="1600" dirty="0">
                <a:solidFill>
                  <a:prstClr val="black"/>
                </a:solidFill>
                <a:latin typeface="Arial" panose="020B0604020202090204" pitchFamily="34" charset="0"/>
                <a:ea typeface="汉仪文黑-55W" pitchFamily="18" charset="-122"/>
                <a:sym typeface="+mn-ea"/>
              </a:rPr>
              <a:t>日，</a:t>
            </a:r>
            <a:r>
              <a:rPr lang="en-US" altLang="zh-CN" sz="1600" dirty="0">
                <a:solidFill>
                  <a:prstClr val="black"/>
                </a:solidFill>
                <a:latin typeface="Arial" panose="020B0604020202090204" pitchFamily="34" charset="0"/>
                <a:ea typeface="汉仪文黑-55W" pitchFamily="18" charset="-122"/>
                <a:sym typeface="+mn-ea"/>
              </a:rPr>
              <a:t>FDA</a:t>
            </a:r>
            <a:r>
              <a:rPr lang="zh-CN" altLang="en-US" sz="1600" dirty="0">
                <a:solidFill>
                  <a:prstClr val="black"/>
                </a:solidFill>
                <a:latin typeface="Arial" panose="020B0604020202090204" pitchFamily="34" charset="0"/>
                <a:ea typeface="汉仪文黑-55W" pitchFamily="18" charset="-122"/>
                <a:sym typeface="+mn-ea"/>
              </a:rPr>
              <a:t>批准</a:t>
            </a:r>
            <a:r>
              <a:rPr lang="en-US" altLang="zh-CN" sz="1600" dirty="0">
                <a:solidFill>
                  <a:prstClr val="black"/>
                </a:solidFill>
                <a:latin typeface="Arial" panose="020B0604020202090204" pitchFamily="34" charset="0"/>
                <a:ea typeface="汉仪文黑-55W" pitchFamily="18" charset="-122"/>
                <a:sym typeface="+mn-ea"/>
              </a:rPr>
              <a:t>BMS</a:t>
            </a:r>
            <a:r>
              <a:rPr lang="zh-CN" altLang="en-US" sz="1600" dirty="0">
                <a:solidFill>
                  <a:prstClr val="black"/>
                </a:solidFill>
                <a:latin typeface="Arial" panose="020B0604020202090204" pitchFamily="34" charset="0"/>
                <a:ea typeface="汉仪文黑-55W" pitchFamily="18" charset="-122"/>
                <a:sym typeface="+mn-ea"/>
              </a:rPr>
              <a:t>新型蛋白降解剂</a:t>
            </a:r>
            <a:r>
              <a:rPr lang="en-US" altLang="zh-CN" sz="1600" dirty="0">
                <a:solidFill>
                  <a:prstClr val="black"/>
                </a:solidFill>
                <a:latin typeface="Arial" panose="020B0604020202090204" pitchFamily="34" charset="0"/>
                <a:ea typeface="汉仪文黑-55W" pitchFamily="18" charset="-122"/>
                <a:sym typeface="+mn-ea"/>
              </a:rPr>
              <a:t>Iberdomide</a:t>
            </a:r>
            <a:r>
              <a:rPr lang="zh-CN" altLang="en-US" sz="1600" dirty="0">
                <a:solidFill>
                  <a:prstClr val="black"/>
                </a:solidFill>
                <a:latin typeface="Arial" panose="020B0604020202090204" pitchFamily="34" charset="0"/>
                <a:ea typeface="汉仪文黑-55W" pitchFamily="18" charset="-122"/>
                <a:sym typeface="+mn-ea"/>
              </a:rPr>
              <a:t>上市，拥有复杂结构的小分子药物再添一员。</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年美国</a:t>
            </a:r>
            <a:r>
              <a:rPr lang="en-US" altLang="zh-CN" sz="1600" dirty="0">
                <a:solidFill>
                  <a:prstClr val="black"/>
                </a:solidFill>
                <a:latin typeface="Arial" panose="020B0604020202090204" pitchFamily="34" charset="0"/>
                <a:ea typeface="汉仪文黑-55W" pitchFamily="18" charset="-122"/>
                <a:sym typeface="+mn-ea"/>
              </a:rPr>
              <a:t>FDA</a:t>
            </a:r>
            <a:r>
              <a:rPr lang="zh-CN" altLang="en-US" sz="1600" dirty="0">
                <a:solidFill>
                  <a:prstClr val="black"/>
                </a:solidFill>
                <a:latin typeface="Arial" panose="020B0604020202090204" pitchFamily="34" charset="0"/>
                <a:ea typeface="汉仪文黑-55W" pitchFamily="18" charset="-122"/>
                <a:sym typeface="+mn-ea"/>
              </a:rPr>
              <a:t>已批准了</a:t>
            </a:r>
            <a:r>
              <a:rPr lang="en-US" altLang="zh-CN" sz="1600" dirty="0" err="1">
                <a:solidFill>
                  <a:prstClr val="black"/>
                </a:solidFill>
                <a:latin typeface="Arial" panose="020B0604020202090204" pitchFamily="34" charset="0"/>
                <a:ea typeface="汉仪文黑-55W" pitchFamily="18" charset="-122"/>
                <a:sym typeface="+mn-ea"/>
              </a:rPr>
              <a:t>Icotrokinra</a:t>
            </a:r>
            <a:r>
              <a:rPr lang="en-US" altLang="zh-CN" sz="1600" dirty="0">
                <a:solidFill>
                  <a:prstClr val="black"/>
                </a:solidFill>
                <a:latin typeface="Arial" panose="020B0604020202090204" pitchFamily="34" charset="0"/>
                <a:ea typeface="汉仪文黑-55W" pitchFamily="18" charset="-122"/>
                <a:sym typeface="+mn-ea"/>
              </a:rPr>
              <a:t>(2026.03.17)</a:t>
            </a:r>
            <a:r>
              <a:rPr lang="zh-CN" altLang="en-US" sz="1600" dirty="0">
                <a:solidFill>
                  <a:prstClr val="black"/>
                </a:solidFill>
                <a:latin typeface="Arial" panose="020B0604020202090204" pitchFamily="34" charset="0"/>
                <a:ea typeface="汉仪文黑-55W" pitchFamily="18" charset="-122"/>
                <a:sym typeface="+mn-ea"/>
              </a:rPr>
              <a:t>、</a:t>
            </a:r>
            <a:r>
              <a:rPr lang="en-US" altLang="zh-CN" sz="1600" dirty="0" err="1">
                <a:solidFill>
                  <a:prstClr val="black"/>
                </a:solidFill>
                <a:latin typeface="Arial" panose="020B0604020202090204" pitchFamily="34" charset="0"/>
                <a:ea typeface="汉仪文黑-55W" pitchFamily="18" charset="-122"/>
                <a:sym typeface="+mn-ea"/>
              </a:rPr>
              <a:t>Orforglipron</a:t>
            </a:r>
            <a:r>
              <a:rPr lang="zh-CN" altLang="en-US" sz="1600" dirty="0">
                <a:solidFill>
                  <a:prstClr val="black"/>
                </a:solidFill>
                <a:latin typeface="Arial" panose="020B0604020202090204" pitchFamily="34" charset="0"/>
                <a:ea typeface="汉仪文黑-55W" pitchFamily="18" charset="-122"/>
                <a:sym typeface="+mn-ea"/>
              </a:rPr>
              <a:t>（</a:t>
            </a:r>
            <a:r>
              <a:rPr lang="en-US" altLang="zh-CN" sz="1600" dirty="0">
                <a:solidFill>
                  <a:prstClr val="black"/>
                </a:solidFill>
                <a:latin typeface="Arial" panose="020B0604020202090204" pitchFamily="34" charset="0"/>
                <a:ea typeface="汉仪文黑-55W" pitchFamily="18" charset="-122"/>
                <a:sym typeface="+mn-ea"/>
              </a:rPr>
              <a:t>2026.04.01)</a:t>
            </a:r>
            <a:r>
              <a:rPr lang="zh-CN" altLang="en-US" sz="1600" dirty="0">
                <a:solidFill>
                  <a:prstClr val="black"/>
                </a:solidFill>
                <a:latin typeface="Arial" panose="020B0604020202090204" pitchFamily="34" charset="0"/>
                <a:ea typeface="汉仪文黑-55W" pitchFamily="18" charset="-122"/>
                <a:sym typeface="+mn-ea"/>
              </a:rPr>
              <a:t>、</a:t>
            </a:r>
            <a:r>
              <a:rPr lang="en-US" altLang="zh-CN" sz="1600" dirty="0" err="1">
                <a:solidFill>
                  <a:prstClr val="black"/>
                </a:solidFill>
                <a:latin typeface="Arial" panose="020B0604020202090204" pitchFamily="34" charset="0"/>
                <a:ea typeface="汉仪文黑-55W" pitchFamily="18" charset="-122"/>
                <a:sym typeface="+mn-ea"/>
              </a:rPr>
              <a:t>Enlicitide</a:t>
            </a:r>
            <a:r>
              <a:rPr lang="zh-CN" altLang="en-US" sz="1600" dirty="0">
                <a:solidFill>
                  <a:prstClr val="black"/>
                </a:solidFill>
                <a:latin typeface="Arial" panose="020B0604020202090204" pitchFamily="34" charset="0"/>
                <a:ea typeface="汉仪文黑-55W" pitchFamily="18" charset="-122"/>
                <a:sym typeface="+mn-ea"/>
              </a:rPr>
              <a:t>（</a:t>
            </a:r>
            <a:r>
              <a:rPr lang="en-US" altLang="zh-CN" sz="1600" dirty="0">
                <a:solidFill>
                  <a:prstClr val="black"/>
                </a:solidFill>
                <a:latin typeface="Arial" panose="020B0604020202090204" pitchFamily="34" charset="0"/>
                <a:ea typeface="汉仪文黑-55W" pitchFamily="18" charset="-122"/>
                <a:sym typeface="+mn-ea"/>
              </a:rPr>
              <a:t>2026.07.16</a:t>
            </a:r>
            <a:r>
              <a:rPr lang="zh-CN" altLang="en-US" sz="1600" dirty="0">
                <a:solidFill>
                  <a:prstClr val="black"/>
                </a:solidFill>
                <a:latin typeface="Arial" panose="020B0604020202090204" pitchFamily="34" charset="0"/>
                <a:ea typeface="汉仪文黑-55W" pitchFamily="18" charset="-122"/>
                <a:sym typeface="+mn-ea"/>
              </a:rPr>
              <a:t>）等拥有复杂结构的小分子上市。中国企业依靠研发和工艺放大的效率优势，成为复杂小分子供应链的核心。</a:t>
            </a:r>
            <a:endParaRPr lang="en-US" altLang="zh-CN" sz="1600" dirty="0">
              <a:solidFill>
                <a:prstClr val="black"/>
              </a:solidFill>
              <a:latin typeface="Arial" panose="020B0604020202090204" pitchFamily="34" charset="0"/>
              <a:ea typeface="汉仪文黑-55W" pitchFamily="18" charset="-122"/>
              <a:sym typeface="+mn-ea"/>
            </a:endParaRPr>
          </a:p>
          <a:p>
            <a:pPr marL="0" marR="0" lvl="0" indent="0" algn="just" defTabSz="914400" rtl="0" eaLnBrk="1" fontAlgn="auto" latinLnBrk="0" hangingPunct="1">
              <a:lnSpc>
                <a:spcPct val="150000"/>
              </a:lnSpc>
              <a:spcBef>
                <a:spcPts val="0"/>
              </a:spcBef>
              <a:spcAft>
                <a:spcPts val="0"/>
              </a:spcAft>
              <a:buClrTx/>
              <a:buSzTx/>
              <a:buFontTx/>
              <a:buNone/>
              <a:defRPr/>
            </a:pPr>
            <a:r>
              <a:rPr lang="zh-CN" altLang="en-US" sz="1600" dirty="0">
                <a:solidFill>
                  <a:prstClr val="black"/>
                </a:solidFill>
                <a:latin typeface="Arial" panose="020B0604020202090204" pitchFamily="34" charset="0"/>
                <a:ea typeface="汉仪文黑-55W" pitchFamily="18" charset="-122"/>
                <a:sym typeface="+mn-ea"/>
              </a:rPr>
              <a:t>从</a:t>
            </a:r>
            <a:r>
              <a:rPr lang="en-US" altLang="zh-CN" sz="1600" dirty="0">
                <a:solidFill>
                  <a:prstClr val="black"/>
                </a:solidFill>
                <a:latin typeface="Arial" panose="020B0604020202090204" pitchFamily="34" charset="0"/>
                <a:ea typeface="汉仪文黑-55W" pitchFamily="18" charset="-122"/>
                <a:sym typeface="+mn-ea"/>
              </a:rPr>
              <a:t>MNC</a:t>
            </a:r>
            <a:r>
              <a:rPr lang="zh-CN" altLang="en-US" sz="1600" dirty="0">
                <a:solidFill>
                  <a:prstClr val="black"/>
                </a:solidFill>
                <a:latin typeface="Arial" panose="020B0604020202090204" pitchFamily="34" charset="0"/>
                <a:ea typeface="汉仪文黑-55W" pitchFamily="18" charset="-122"/>
                <a:sym typeface="+mn-ea"/>
              </a:rPr>
              <a:t>研发管线的精简和中国创新</a:t>
            </a:r>
            <a:r>
              <a:rPr lang="en-US" altLang="zh-CN" sz="1600" dirty="0">
                <a:solidFill>
                  <a:prstClr val="black"/>
                </a:solidFill>
                <a:latin typeface="Arial" panose="020B0604020202090204" pitchFamily="34" charset="0"/>
                <a:ea typeface="汉仪文黑-55W" pitchFamily="18" charset="-122"/>
                <a:sym typeface="+mn-ea"/>
              </a:rPr>
              <a:t>BD</a:t>
            </a:r>
            <a:r>
              <a:rPr lang="zh-CN" altLang="en-US" sz="1600" dirty="0">
                <a:solidFill>
                  <a:prstClr val="black"/>
                </a:solidFill>
                <a:latin typeface="Arial" panose="020B0604020202090204" pitchFamily="34" charset="0"/>
                <a:ea typeface="汉仪文黑-55W" pitchFamily="18" charset="-122"/>
                <a:sym typeface="+mn-ea"/>
              </a:rPr>
              <a:t>出海的趋势看出，中国新药创新已经是全球创新不可缺少的一环。</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上半年，全球医药交易总金额的前十中，中国药企占</a:t>
            </a:r>
            <a:r>
              <a:rPr lang="en-US" altLang="zh-CN" sz="1600" dirty="0">
                <a:solidFill>
                  <a:prstClr val="black"/>
                </a:solidFill>
                <a:latin typeface="Arial" panose="020B0604020202090204" pitchFamily="34" charset="0"/>
                <a:ea typeface="汉仪文黑-55W" pitchFamily="18" charset="-122"/>
                <a:sym typeface="+mn-ea"/>
              </a:rPr>
              <a:t>8</a:t>
            </a:r>
            <a:r>
              <a:rPr lang="zh-CN" altLang="en-US" sz="1600" dirty="0">
                <a:solidFill>
                  <a:prstClr val="black"/>
                </a:solidFill>
                <a:latin typeface="Arial" panose="020B0604020202090204" pitchFamily="34" charset="0"/>
                <a:ea typeface="汉仪文黑-55W" pitchFamily="18" charset="-122"/>
                <a:sym typeface="+mn-ea"/>
              </a:rPr>
              <a:t>席。中国创新药已逐步从过去的跟随逐渐转向原创性的发现，新靶点验证需求提升，带动早研相关产业链的景气度。</a:t>
            </a:r>
            <a:endParaRPr lang="en-US" altLang="zh-CN" sz="1600" dirty="0">
              <a:solidFill>
                <a:prstClr val="black"/>
              </a:solidFill>
              <a:latin typeface="Arial" panose="020B0604020202090204" pitchFamily="34" charset="0"/>
              <a:ea typeface="汉仪文黑-55W" pitchFamily="18"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smtClean="0">
                <a:ln>
                  <a:noFill/>
                </a:ln>
                <a:solidFill>
                  <a:prstClr val="white">
                    <a:lumMod val="85000"/>
                  </a:prstClr>
                </a:solidFill>
                <a:effectLst/>
                <a:uLnTx/>
                <a:uFillTx/>
                <a:latin typeface="汉仪文黑-55W" pitchFamily="18" charset="-122"/>
                <a:ea typeface="汉仪文黑-55W" pitchFamily="18" charset="-122"/>
                <a:cs typeface="+mn-cs"/>
                <a:sym typeface="+mn-ea"/>
              </a:rPr>
              <a:t>4</a:t>
            </a:r>
            <a:endParaRPr kumimoji="0" lang="zh-CN" altLang="en-US" sz="1400" b="1" i="0" u="none" strike="noStrike" kern="1200" cap="none" spc="0" normalizeH="0" baseline="0" noProof="0" dirty="0">
              <a:ln>
                <a:noFill/>
              </a:ln>
              <a:solidFill>
                <a:prstClr val="black"/>
              </a:solidFill>
              <a:effectLst/>
              <a:uLnTx/>
              <a:uFillTx/>
              <a:latin typeface="汉仪文黑-55W" pitchFamily="18" charset="-122"/>
              <a:ea typeface="汉仪文黑-55W" pitchFamily="18" charset="-122"/>
              <a:cs typeface="+mn-cs"/>
            </a:endParaRPr>
          </a:p>
        </p:txBody>
      </p:sp>
      <p:sp>
        <p:nvSpPr>
          <p:cNvPr id="14" name="文本框 13"/>
          <p:cNvSpPr txBox="1"/>
          <p:nvPr/>
        </p:nvSpPr>
        <p:spPr>
          <a:xfrm>
            <a:off x="514350" y="254000"/>
            <a:ext cx="2321214" cy="461665"/>
          </a:xfrm>
          <a:prstGeom prst="rect">
            <a:avLst/>
          </a:prstGeom>
          <a:noFill/>
        </p:spPr>
        <p:txBody>
          <a:bodyPr wrap="square" lIns="0"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时尚中黑简体" charset="-122"/>
                <a:sym typeface="+mn-ea"/>
              </a:rPr>
              <a:t>医药行业观点</a:t>
            </a:r>
          </a:p>
        </p:txBody>
      </p:sp>
      <p:sp>
        <p:nvSpPr>
          <p:cNvPr id="5" name="文本框 4"/>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诚信、专业、稳健、高效</a:t>
            </a:r>
          </a:p>
        </p:txBody>
      </p:sp>
      <p:sp>
        <p:nvSpPr>
          <p:cNvPr id="6" name="文本框 5"/>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请阅读最后一页重要免责声明</a:t>
            </a:r>
          </a:p>
        </p:txBody>
      </p:sp>
      <p:sp>
        <p:nvSpPr>
          <p:cNvPr id="2" name="文本框 1" descr="BDCONTENTCONTROL_AUTO_SAVE_Summary1"/>
          <p:cNvSpPr txBox="1"/>
          <p:nvPr/>
        </p:nvSpPr>
        <p:spPr>
          <a:xfrm>
            <a:off x="410618" y="978152"/>
            <a:ext cx="11370764" cy="547444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rgbClr val="5A2781"/>
                </a:solidFill>
                <a:effectLst/>
                <a:uLnTx/>
                <a:uFillTx/>
                <a:latin typeface="汉仪文黑-55W" pitchFamily="18" charset="-122"/>
                <a:ea typeface="汉仪文黑-55W" pitchFamily="18" charset="-122"/>
                <a:cs typeface="+mn-cs"/>
                <a:sym typeface="+mn-ea"/>
              </a:rPr>
              <a:t>3.</a:t>
            </a:r>
            <a:r>
              <a:rPr kumimoji="0" lang="zh-CN" altLang="en-US" sz="2400" b="1" i="0" u="none" strike="noStrike" kern="1200" cap="none" spc="0" normalizeH="0" baseline="0" noProof="0" dirty="0" smtClean="0">
                <a:ln>
                  <a:noFill/>
                </a:ln>
                <a:solidFill>
                  <a:srgbClr val="5A2781"/>
                </a:solidFill>
                <a:effectLst/>
                <a:uLnTx/>
                <a:uFillTx/>
                <a:latin typeface="汉仪文黑-55W" pitchFamily="18" charset="-122"/>
                <a:ea typeface="汉仪文黑-55W" pitchFamily="18" charset="-122"/>
                <a:cs typeface="+mn-cs"/>
                <a:sym typeface="+mn-ea"/>
              </a:rPr>
              <a:t> </a:t>
            </a:r>
            <a:r>
              <a:rPr lang="zh-CN" altLang="en-US" sz="2400" b="1" dirty="0">
                <a:solidFill>
                  <a:srgbClr val="5A2781"/>
                </a:solidFill>
                <a:latin typeface="汉仪文黑-55W" pitchFamily="18" charset="-122"/>
                <a:ea typeface="汉仪文黑-55W" pitchFamily="18" charset="-122"/>
                <a:sym typeface="+mn-ea"/>
              </a:rPr>
              <a:t>创新药国内</a:t>
            </a:r>
            <a:r>
              <a:rPr lang="zh-CN" altLang="en-US" sz="2400" b="1" dirty="0" smtClean="0">
                <a:solidFill>
                  <a:srgbClr val="5A2781"/>
                </a:solidFill>
                <a:latin typeface="汉仪文黑-55W" pitchFamily="18" charset="-122"/>
                <a:ea typeface="汉仪文黑-55W" pitchFamily="18" charset="-122"/>
                <a:sym typeface="+mn-ea"/>
              </a:rPr>
              <a:t>分化，</a:t>
            </a:r>
            <a:r>
              <a:rPr lang="zh-CN" altLang="en-US" sz="2400" b="1" dirty="0">
                <a:solidFill>
                  <a:srgbClr val="5A2781"/>
                </a:solidFill>
                <a:latin typeface="汉仪文黑-55W" pitchFamily="18" charset="-122"/>
                <a:ea typeface="汉仪文黑-55W" pitchFamily="18" charset="-122"/>
                <a:sym typeface="+mn-ea"/>
              </a:rPr>
              <a:t>出海则保持强劲</a:t>
            </a:r>
            <a:endParaRPr kumimoji="0" lang="en-US" altLang="zh-CN"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endParaRPr>
          </a:p>
          <a:p>
            <a:pPr marR="0" indent="0" algn="just" fontAlgn="auto">
              <a:lnSpc>
                <a:spcPct val="150000"/>
              </a:lnSpc>
              <a:spcBef>
                <a:spcPts val="0"/>
              </a:spcBef>
              <a:spcAft>
                <a:spcPts val="0"/>
              </a:spcAft>
              <a:buClrTx/>
              <a:buSzTx/>
              <a:buFontTx/>
              <a:buNone/>
              <a:defRPr/>
            </a:pPr>
            <a:r>
              <a:rPr lang="en-US" altLang="zh-CN" sz="1600" dirty="0">
                <a:solidFill>
                  <a:prstClr val="black"/>
                </a:solidFill>
                <a:latin typeface="Arial" panose="020B0604020202090204" pitchFamily="34" charset="0"/>
                <a:ea typeface="汉仪文黑-55W" pitchFamily="18" charset="-122"/>
                <a:sym typeface="+mn-ea"/>
              </a:rPr>
              <a:t>8</a:t>
            </a:r>
            <a:r>
              <a:rPr lang="zh-CN" altLang="en-US" sz="1600" dirty="0">
                <a:solidFill>
                  <a:prstClr val="black"/>
                </a:solidFill>
                <a:latin typeface="Arial" panose="020B0604020202090204" pitchFamily="34" charset="0"/>
                <a:ea typeface="汉仪文黑-55W" pitchFamily="18" charset="-122"/>
                <a:sym typeface="+mn-ea"/>
              </a:rPr>
              <a:t>月份以来，创新药企陆续公布中报和业绩情况，增速有所分化，其中和黄医药上半年国内市场增长超过</a:t>
            </a:r>
            <a:r>
              <a:rPr lang="en-US" altLang="zh-CN" sz="1600" dirty="0">
                <a:solidFill>
                  <a:prstClr val="black"/>
                </a:solidFill>
                <a:latin typeface="Arial" panose="020B0604020202090204" pitchFamily="34" charset="0"/>
                <a:ea typeface="汉仪文黑-55W" pitchFamily="18" charset="-122"/>
                <a:sym typeface="+mn-ea"/>
              </a:rPr>
              <a:t>40%</a:t>
            </a:r>
            <a:r>
              <a:rPr lang="zh-CN" altLang="en-US" sz="1600" dirty="0">
                <a:solidFill>
                  <a:prstClr val="black"/>
                </a:solidFill>
                <a:latin typeface="Arial" panose="020B0604020202090204" pitchFamily="34" charset="0"/>
                <a:ea typeface="汉仪文黑-55W" pitchFamily="18" charset="-122"/>
                <a:sym typeface="+mn-ea"/>
              </a:rPr>
              <a:t>，信达生物</a:t>
            </a:r>
            <a:r>
              <a:rPr lang="en-US" altLang="zh-CN" sz="1600" dirty="0">
                <a:solidFill>
                  <a:prstClr val="black"/>
                </a:solidFill>
                <a:latin typeface="Arial" panose="020B0604020202090204" pitchFamily="34" charset="0"/>
                <a:ea typeface="汉仪文黑-55W" pitchFamily="18" charset="-122"/>
                <a:sym typeface="+mn-ea"/>
              </a:rPr>
              <a:t>Q2</a:t>
            </a:r>
            <a:r>
              <a:rPr lang="zh-CN" altLang="en-US" sz="1600" dirty="0">
                <a:solidFill>
                  <a:prstClr val="black"/>
                </a:solidFill>
                <a:latin typeface="Arial" panose="020B0604020202090204" pitchFamily="34" charset="0"/>
                <a:ea typeface="汉仪文黑-55W" pitchFamily="18" charset="-122"/>
                <a:sym typeface="+mn-ea"/>
              </a:rPr>
              <a:t>产品收入增长约</a:t>
            </a:r>
            <a:r>
              <a:rPr lang="en-US" altLang="zh-CN" sz="1600" dirty="0">
                <a:solidFill>
                  <a:prstClr val="black"/>
                </a:solidFill>
                <a:latin typeface="Arial" panose="020B0604020202090204" pitchFamily="34" charset="0"/>
                <a:ea typeface="汉仪文黑-55W" pitchFamily="18" charset="-122"/>
                <a:sym typeface="+mn-ea"/>
              </a:rPr>
              <a:t>60%</a:t>
            </a:r>
            <a:r>
              <a:rPr lang="zh-CN" altLang="en-US" sz="1600" dirty="0">
                <a:solidFill>
                  <a:prstClr val="black"/>
                </a:solidFill>
                <a:latin typeface="Arial" panose="020B0604020202090204" pitchFamily="34" charset="0"/>
                <a:ea typeface="汉仪文黑-55W" pitchFamily="18" charset="-122"/>
                <a:sym typeface="+mn-ea"/>
              </a:rPr>
              <a:t>，恒瑞医药上半年抗肿瘤创新产品同比增长</a:t>
            </a:r>
            <a:r>
              <a:rPr lang="en-US" altLang="zh-CN" sz="1600" dirty="0">
                <a:solidFill>
                  <a:prstClr val="black"/>
                </a:solidFill>
                <a:latin typeface="Arial" panose="020B0604020202090204" pitchFamily="34" charset="0"/>
                <a:ea typeface="汉仪文黑-55W" pitchFamily="18" charset="-122"/>
                <a:sym typeface="+mn-ea"/>
              </a:rPr>
              <a:t>2.58%</a:t>
            </a:r>
            <a:r>
              <a:rPr lang="zh-CN" altLang="en-US" sz="1600" dirty="0">
                <a:solidFill>
                  <a:prstClr val="black"/>
                </a:solidFill>
                <a:latin typeface="Arial" panose="020B0604020202090204" pitchFamily="34" charset="0"/>
                <a:ea typeface="汉仪文黑-55W" pitchFamily="18" charset="-122"/>
                <a:sym typeface="+mn-ea"/>
              </a:rPr>
              <a:t>，增速分化与创新品种竞争格局密切相关。相对于较为内卷的国内市场，中国创新药出海势头则保持强劲，其中百济神州核心品种百悦泽</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年</a:t>
            </a:r>
            <a:r>
              <a:rPr lang="en-US" altLang="zh-CN" sz="1600" dirty="0">
                <a:solidFill>
                  <a:prstClr val="black"/>
                </a:solidFill>
                <a:latin typeface="Arial" panose="020B0604020202090204" pitchFamily="34" charset="0"/>
                <a:ea typeface="汉仪文黑-55W" pitchFamily="18" charset="-122"/>
                <a:sym typeface="+mn-ea"/>
              </a:rPr>
              <a:t>H1</a:t>
            </a:r>
            <a:r>
              <a:rPr lang="zh-CN" altLang="en-US" sz="1600" dirty="0">
                <a:solidFill>
                  <a:prstClr val="black"/>
                </a:solidFill>
                <a:latin typeface="Arial" panose="020B0604020202090204" pitchFamily="34" charset="0"/>
                <a:ea typeface="汉仪文黑-55W" pitchFamily="18" charset="-122"/>
                <a:sym typeface="+mn-ea"/>
              </a:rPr>
              <a:t>全球销售额</a:t>
            </a:r>
            <a:r>
              <a:rPr lang="en-US" altLang="zh-CN" sz="1600" dirty="0">
                <a:solidFill>
                  <a:prstClr val="black"/>
                </a:solidFill>
                <a:latin typeface="Arial" panose="020B0604020202090204" pitchFamily="34" charset="0"/>
                <a:ea typeface="汉仪文黑-55W" pitchFamily="18" charset="-122"/>
                <a:sym typeface="+mn-ea"/>
              </a:rPr>
              <a:t>161.27</a:t>
            </a:r>
            <a:r>
              <a:rPr lang="zh-CN" altLang="en-US" sz="1600" dirty="0">
                <a:solidFill>
                  <a:prstClr val="black"/>
                </a:solidFill>
                <a:latin typeface="Arial" panose="020B0604020202090204" pitchFamily="34" charset="0"/>
                <a:ea typeface="汉仪文黑-55W" pitchFamily="18" charset="-122"/>
                <a:sym typeface="+mn-ea"/>
              </a:rPr>
              <a:t>亿元，同比增长</a:t>
            </a:r>
            <a:r>
              <a:rPr lang="en-US" altLang="zh-CN" sz="1600" dirty="0">
                <a:solidFill>
                  <a:prstClr val="black"/>
                </a:solidFill>
                <a:latin typeface="Arial" panose="020B0604020202090204" pitchFamily="34" charset="0"/>
                <a:ea typeface="汉仪文黑-55W" pitchFamily="18" charset="-122"/>
                <a:sym typeface="+mn-ea"/>
              </a:rPr>
              <a:t>28.7%</a:t>
            </a:r>
            <a:r>
              <a:rPr lang="zh-CN" altLang="en-US" sz="1600" dirty="0">
                <a:solidFill>
                  <a:prstClr val="black"/>
                </a:solidFill>
                <a:latin typeface="Arial" panose="020B0604020202090204" pitchFamily="34" charset="0"/>
                <a:ea typeface="汉仪文黑-55W" pitchFamily="18" charset="-122"/>
                <a:sym typeface="+mn-ea"/>
              </a:rPr>
              <a:t>，其中美国销售额</a:t>
            </a:r>
            <a:r>
              <a:rPr lang="en-US" altLang="zh-CN" sz="1600" dirty="0">
                <a:solidFill>
                  <a:prstClr val="black"/>
                </a:solidFill>
                <a:latin typeface="Arial" panose="020B0604020202090204" pitchFamily="34" charset="0"/>
                <a:ea typeface="汉仪文黑-55W" pitchFamily="18" charset="-122"/>
                <a:sym typeface="+mn-ea"/>
              </a:rPr>
              <a:t>113.90</a:t>
            </a:r>
            <a:r>
              <a:rPr lang="zh-CN" altLang="en-US" sz="1600" dirty="0">
                <a:solidFill>
                  <a:prstClr val="black"/>
                </a:solidFill>
                <a:latin typeface="Arial" panose="020B0604020202090204" pitchFamily="34" charset="0"/>
                <a:ea typeface="汉仪文黑-55W" pitchFamily="18" charset="-122"/>
                <a:sym typeface="+mn-ea"/>
              </a:rPr>
              <a:t>亿元，同比增长</a:t>
            </a:r>
            <a:r>
              <a:rPr lang="en-US" altLang="zh-CN" sz="1600" dirty="0">
                <a:solidFill>
                  <a:prstClr val="black"/>
                </a:solidFill>
                <a:latin typeface="Arial" panose="020B0604020202090204" pitchFamily="34" charset="0"/>
                <a:ea typeface="汉仪文黑-55W" pitchFamily="18" charset="-122"/>
                <a:sym typeface="+mn-ea"/>
              </a:rPr>
              <a:t>27.2%</a:t>
            </a:r>
            <a:r>
              <a:rPr lang="zh-CN" altLang="en-US" sz="1600" dirty="0">
                <a:solidFill>
                  <a:prstClr val="black"/>
                </a:solidFill>
                <a:latin typeface="Arial" panose="020B0604020202090204" pitchFamily="34" charset="0"/>
                <a:ea typeface="汉仪文黑-55W" pitchFamily="18" charset="-122"/>
                <a:sym typeface="+mn-ea"/>
              </a:rPr>
              <a:t>。授权出海方面，根据医药魔方，</a:t>
            </a:r>
            <a:r>
              <a:rPr lang="en-US" altLang="zh-CN" sz="1600" dirty="0">
                <a:solidFill>
                  <a:prstClr val="black"/>
                </a:solidFill>
                <a:latin typeface="Arial" panose="020B0604020202090204" pitchFamily="34" charset="0"/>
                <a:ea typeface="汉仪文黑-55W" pitchFamily="18" charset="-122"/>
                <a:sym typeface="+mn-ea"/>
              </a:rPr>
              <a:t>2026H1 </a:t>
            </a:r>
            <a:r>
              <a:rPr lang="zh-CN" altLang="en-US" sz="1600" dirty="0">
                <a:solidFill>
                  <a:prstClr val="black"/>
                </a:solidFill>
                <a:latin typeface="Arial" panose="020B0604020202090204" pitchFamily="34" charset="0"/>
                <a:ea typeface="汉仪文黑-55W" pitchFamily="18" charset="-122"/>
                <a:sym typeface="+mn-ea"/>
              </a:rPr>
              <a:t>中国 </a:t>
            </a:r>
            <a:r>
              <a:rPr lang="en-US" altLang="zh-CN" sz="1600" dirty="0">
                <a:solidFill>
                  <a:prstClr val="black"/>
                </a:solidFill>
                <a:latin typeface="Arial" panose="020B0604020202090204" pitchFamily="34" charset="0"/>
                <a:ea typeface="汉仪文黑-55W" pitchFamily="18" charset="-122"/>
                <a:sym typeface="+mn-ea"/>
              </a:rPr>
              <a:t>License-out </a:t>
            </a:r>
            <a:r>
              <a:rPr lang="zh-CN" altLang="en-US" sz="1600" dirty="0">
                <a:solidFill>
                  <a:prstClr val="black"/>
                </a:solidFill>
                <a:latin typeface="Arial" panose="020B0604020202090204" pitchFamily="34" charset="0"/>
                <a:ea typeface="汉仪文黑-55W" pitchFamily="18" charset="-122"/>
                <a:sym typeface="+mn-ea"/>
              </a:rPr>
              <a:t>出海总金额</a:t>
            </a:r>
            <a:r>
              <a:rPr lang="en-US" altLang="zh-CN" sz="1600" dirty="0">
                <a:solidFill>
                  <a:prstClr val="black"/>
                </a:solidFill>
                <a:latin typeface="Arial" panose="020B0604020202090204" pitchFamily="34" charset="0"/>
                <a:ea typeface="汉仪文黑-55W" pitchFamily="18" charset="-122"/>
                <a:sym typeface="+mn-ea"/>
              </a:rPr>
              <a:t>997 </a:t>
            </a:r>
            <a:r>
              <a:rPr lang="zh-CN" altLang="en-US" sz="1600" dirty="0">
                <a:solidFill>
                  <a:prstClr val="black"/>
                </a:solidFill>
                <a:latin typeface="Arial" panose="020B0604020202090204" pitchFamily="34" charset="0"/>
                <a:ea typeface="汉仪文黑-55W" pitchFamily="18" charset="-122"/>
                <a:sym typeface="+mn-ea"/>
              </a:rPr>
              <a:t>亿美元，约为 </a:t>
            </a:r>
            <a:r>
              <a:rPr lang="en-US" altLang="zh-CN" sz="1600" dirty="0">
                <a:solidFill>
                  <a:prstClr val="black"/>
                </a:solidFill>
                <a:latin typeface="Arial" panose="020B0604020202090204" pitchFamily="34" charset="0"/>
                <a:ea typeface="汉仪文黑-55W" pitchFamily="18" charset="-122"/>
                <a:sym typeface="+mn-ea"/>
              </a:rPr>
              <a:t>2024 </a:t>
            </a:r>
            <a:r>
              <a:rPr lang="zh-CN" altLang="en-US" sz="1600" dirty="0">
                <a:solidFill>
                  <a:prstClr val="black"/>
                </a:solidFill>
                <a:latin typeface="Arial" panose="020B0604020202090204" pitchFamily="34" charset="0"/>
                <a:ea typeface="汉仪文黑-55W" pitchFamily="18" charset="-122"/>
                <a:sym typeface="+mn-ea"/>
              </a:rPr>
              <a:t>年全年（</a:t>
            </a:r>
            <a:r>
              <a:rPr lang="en-US" altLang="zh-CN" sz="1600" dirty="0">
                <a:solidFill>
                  <a:prstClr val="black"/>
                </a:solidFill>
                <a:latin typeface="Arial" panose="020B0604020202090204" pitchFamily="34" charset="0"/>
                <a:ea typeface="汉仪文黑-55W" pitchFamily="18" charset="-122"/>
                <a:sym typeface="+mn-ea"/>
              </a:rPr>
              <a:t>522 </a:t>
            </a:r>
            <a:r>
              <a:rPr lang="zh-CN" altLang="en-US" sz="1600" dirty="0">
                <a:solidFill>
                  <a:prstClr val="black"/>
                </a:solidFill>
                <a:latin typeface="Arial" panose="020B0604020202090204" pitchFamily="34" charset="0"/>
                <a:ea typeface="汉仪文黑-55W" pitchFamily="18" charset="-122"/>
                <a:sym typeface="+mn-ea"/>
              </a:rPr>
              <a:t>亿）的 </a:t>
            </a:r>
            <a:r>
              <a:rPr lang="en-US" altLang="zh-CN" sz="1600" dirty="0">
                <a:solidFill>
                  <a:prstClr val="black"/>
                </a:solidFill>
                <a:latin typeface="Arial" panose="020B0604020202090204" pitchFamily="34" charset="0"/>
                <a:ea typeface="汉仪文黑-55W" pitchFamily="18" charset="-122"/>
                <a:sym typeface="+mn-ea"/>
              </a:rPr>
              <a:t>2 </a:t>
            </a:r>
            <a:r>
              <a:rPr lang="zh-CN" altLang="en-US" sz="1600" dirty="0">
                <a:solidFill>
                  <a:prstClr val="black"/>
                </a:solidFill>
                <a:latin typeface="Arial" panose="020B0604020202090204" pitchFamily="34" charset="0"/>
                <a:ea typeface="汉仪文黑-55W" pitchFamily="18" charset="-122"/>
                <a:sym typeface="+mn-ea"/>
              </a:rPr>
              <a:t>倍，接近 </a:t>
            </a:r>
            <a:r>
              <a:rPr lang="en-US" altLang="zh-CN" sz="1600" dirty="0">
                <a:solidFill>
                  <a:prstClr val="black"/>
                </a:solidFill>
                <a:latin typeface="Arial" panose="020B0604020202090204" pitchFamily="34" charset="0"/>
                <a:ea typeface="汉仪文黑-55W" pitchFamily="18" charset="-122"/>
                <a:sym typeface="+mn-ea"/>
              </a:rPr>
              <a:t>2025 </a:t>
            </a:r>
            <a:r>
              <a:rPr lang="zh-CN" altLang="en-US" sz="1600" dirty="0">
                <a:solidFill>
                  <a:prstClr val="black"/>
                </a:solidFill>
                <a:latin typeface="Arial" panose="020B0604020202090204" pitchFamily="34" charset="0"/>
                <a:ea typeface="汉仪文黑-55W" pitchFamily="18" charset="-122"/>
                <a:sym typeface="+mn-ea"/>
              </a:rPr>
              <a:t>年全年（</a:t>
            </a:r>
            <a:r>
              <a:rPr lang="en-US" altLang="zh-CN" sz="1600" dirty="0">
                <a:solidFill>
                  <a:prstClr val="black"/>
                </a:solidFill>
                <a:latin typeface="Arial" panose="020B0604020202090204" pitchFamily="34" charset="0"/>
                <a:ea typeface="汉仪文黑-55W" pitchFamily="18" charset="-122"/>
                <a:sym typeface="+mn-ea"/>
              </a:rPr>
              <a:t>1357 </a:t>
            </a:r>
            <a:r>
              <a:rPr lang="zh-CN" altLang="en-US" sz="1600" dirty="0">
                <a:solidFill>
                  <a:prstClr val="black"/>
                </a:solidFill>
                <a:latin typeface="Arial" panose="020B0604020202090204" pitchFamily="34" charset="0"/>
                <a:ea typeface="汉仪文黑-55W" pitchFamily="18" charset="-122"/>
                <a:sym typeface="+mn-ea"/>
              </a:rPr>
              <a:t>亿）的</a:t>
            </a:r>
            <a:r>
              <a:rPr lang="en-US" altLang="zh-CN" sz="1600" dirty="0">
                <a:solidFill>
                  <a:prstClr val="black"/>
                </a:solidFill>
                <a:latin typeface="Arial" panose="020B0604020202090204" pitchFamily="34" charset="0"/>
                <a:ea typeface="汉仪文黑-55W" pitchFamily="18" charset="-122"/>
                <a:sym typeface="+mn-ea"/>
              </a:rPr>
              <a:t>73%</a:t>
            </a:r>
            <a:r>
              <a:rPr lang="zh-CN" altLang="en-US" sz="1600" dirty="0">
                <a:solidFill>
                  <a:prstClr val="black"/>
                </a:solidFill>
                <a:latin typeface="Arial" panose="020B0604020202090204" pitchFamily="34" charset="0"/>
                <a:ea typeface="汉仪文黑-55W" pitchFamily="18" charset="-122"/>
                <a:sym typeface="+mn-ea"/>
              </a:rPr>
              <a:t>，预计</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全年出海总金额有望再创新高。回顾</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年上半年，创新药受行业偏好影响，指数涨幅为</a:t>
            </a:r>
            <a:r>
              <a:rPr lang="en-US" altLang="zh-CN" sz="1600" dirty="0">
                <a:solidFill>
                  <a:prstClr val="black"/>
                </a:solidFill>
                <a:latin typeface="Arial" panose="020B0604020202090204" pitchFamily="34" charset="0"/>
                <a:ea typeface="汉仪文黑-55W" pitchFamily="18" charset="-122"/>
                <a:sym typeface="+mn-ea"/>
              </a:rPr>
              <a:t>-7.56%</a:t>
            </a:r>
            <a:r>
              <a:rPr lang="zh-CN" altLang="en-US" sz="1600" dirty="0">
                <a:solidFill>
                  <a:prstClr val="black"/>
                </a:solidFill>
                <a:latin typeface="Arial" panose="020B0604020202090204" pitchFamily="34" charset="0"/>
                <a:ea typeface="汉仪文黑-55W" pitchFamily="18" charset="-122"/>
                <a:sym typeface="+mn-ea"/>
              </a:rPr>
              <a:t>，跑输沪深</a:t>
            </a:r>
            <a:r>
              <a:rPr lang="en-US" altLang="zh-CN" sz="1600" dirty="0">
                <a:solidFill>
                  <a:prstClr val="black"/>
                </a:solidFill>
                <a:latin typeface="Arial" panose="020B0604020202090204" pitchFamily="34" charset="0"/>
                <a:ea typeface="汉仪文黑-55W" pitchFamily="18" charset="-122"/>
                <a:sym typeface="+mn-ea"/>
              </a:rPr>
              <a:t>300</a:t>
            </a:r>
            <a:r>
              <a:rPr lang="zh-CN" altLang="en-US" sz="1600" dirty="0">
                <a:solidFill>
                  <a:prstClr val="black"/>
                </a:solidFill>
                <a:latin typeface="Arial" panose="020B0604020202090204" pitchFamily="34" charset="0"/>
                <a:ea typeface="汉仪文黑-55W" pitchFamily="18" charset="-122"/>
                <a:sym typeface="+mn-ea"/>
              </a:rPr>
              <a:t>指数</a:t>
            </a:r>
            <a:r>
              <a:rPr lang="en-US" altLang="zh-CN" sz="1600" dirty="0">
                <a:solidFill>
                  <a:prstClr val="black"/>
                </a:solidFill>
                <a:latin typeface="Arial" panose="020B0604020202090204" pitchFamily="34" charset="0"/>
                <a:ea typeface="汉仪文黑-55W" pitchFamily="18" charset="-122"/>
                <a:sym typeface="+mn-ea"/>
              </a:rPr>
              <a:t>15.11</a:t>
            </a:r>
            <a:r>
              <a:rPr lang="zh-CN" altLang="en-US" sz="1600" dirty="0">
                <a:solidFill>
                  <a:prstClr val="black"/>
                </a:solidFill>
                <a:latin typeface="Arial" panose="020B0604020202090204" pitchFamily="34" charset="0"/>
                <a:ea typeface="汉仪文黑-55W" pitchFamily="18" charset="-122"/>
                <a:sym typeface="+mn-ea"/>
              </a:rPr>
              <a:t>个百分点。</a:t>
            </a:r>
            <a:r>
              <a:rPr lang="en-US" altLang="zh-CN" sz="1600" dirty="0">
                <a:solidFill>
                  <a:prstClr val="black"/>
                </a:solidFill>
                <a:latin typeface="Arial" panose="020B0604020202090204" pitchFamily="34" charset="0"/>
                <a:ea typeface="汉仪文黑-55W" pitchFamily="18" charset="-122"/>
                <a:sym typeface="+mn-ea"/>
              </a:rPr>
              <a:t>7</a:t>
            </a:r>
            <a:r>
              <a:rPr lang="zh-CN" altLang="en-US" sz="1600" dirty="0">
                <a:solidFill>
                  <a:prstClr val="black"/>
                </a:solidFill>
                <a:latin typeface="Arial" panose="020B0604020202090204" pitchFamily="34" charset="0"/>
                <a:ea typeface="汉仪文黑-55W" pitchFamily="18" charset="-122"/>
                <a:sym typeface="+mn-ea"/>
              </a:rPr>
              <a:t>月以来创新药迎来反弹的契机，虽然中间略有波动，但持续落地的出海</a:t>
            </a:r>
            <a:r>
              <a:rPr lang="en-US" altLang="zh-CN" sz="1600" dirty="0">
                <a:solidFill>
                  <a:prstClr val="black"/>
                </a:solidFill>
                <a:latin typeface="Arial" panose="020B0604020202090204" pitchFamily="34" charset="0"/>
                <a:ea typeface="汉仪文黑-55W" pitchFamily="18" charset="-122"/>
                <a:sym typeface="+mn-ea"/>
              </a:rPr>
              <a:t>BD</a:t>
            </a:r>
            <a:r>
              <a:rPr lang="zh-CN" altLang="en-US" sz="1600" dirty="0">
                <a:solidFill>
                  <a:prstClr val="black"/>
                </a:solidFill>
                <a:latin typeface="Arial" panose="020B0604020202090204" pitchFamily="34" charset="0"/>
                <a:ea typeface="汉仪文黑-55W" pitchFamily="18" charset="-122"/>
                <a:sym typeface="+mn-ea"/>
              </a:rPr>
              <a:t>和积极的临床数据发布，市场仍保持较高的关注度。统计分析</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年上半年创新药个股的市场表现，分化显著，科伦药业创历史新高，但超过</a:t>
            </a:r>
            <a:r>
              <a:rPr lang="en-US" altLang="zh-CN" sz="1600" dirty="0">
                <a:solidFill>
                  <a:prstClr val="black"/>
                </a:solidFill>
                <a:latin typeface="Arial" panose="020B0604020202090204" pitchFamily="34" charset="0"/>
                <a:ea typeface="汉仪文黑-55W" pitchFamily="18" charset="-122"/>
                <a:sym typeface="+mn-ea"/>
              </a:rPr>
              <a:t>2/3</a:t>
            </a:r>
            <a:r>
              <a:rPr lang="zh-CN" altLang="en-US" sz="1600" dirty="0">
                <a:solidFill>
                  <a:prstClr val="black"/>
                </a:solidFill>
                <a:latin typeface="Arial" panose="020B0604020202090204" pitchFamily="34" charset="0"/>
                <a:ea typeface="汉仪文黑-55W" pitchFamily="18" charset="-122"/>
                <a:sym typeface="+mn-ea"/>
              </a:rPr>
              <a:t>的创新药和</a:t>
            </a:r>
            <a:r>
              <a:rPr lang="en-US" altLang="zh-CN" sz="1600" dirty="0">
                <a:solidFill>
                  <a:prstClr val="black"/>
                </a:solidFill>
                <a:latin typeface="Arial" panose="020B0604020202090204" pitchFamily="34" charset="0"/>
                <a:ea typeface="汉仪文黑-55W" pitchFamily="18" charset="-122"/>
                <a:sym typeface="+mn-ea"/>
              </a:rPr>
              <a:t>CRO</a:t>
            </a:r>
            <a:r>
              <a:rPr lang="zh-CN" altLang="en-US" sz="1600" dirty="0">
                <a:solidFill>
                  <a:prstClr val="black"/>
                </a:solidFill>
                <a:latin typeface="Arial" panose="020B0604020202090204" pitchFamily="34" charset="0"/>
                <a:ea typeface="汉仪文黑-55W" pitchFamily="18" charset="-122"/>
                <a:sym typeface="+mn-ea"/>
              </a:rPr>
              <a:t>个股为负收益。驱动价值分化的基础主要是核心管线临床进度和</a:t>
            </a:r>
            <a:r>
              <a:rPr lang="en-US" altLang="zh-CN" sz="1600" dirty="0">
                <a:solidFill>
                  <a:prstClr val="black"/>
                </a:solidFill>
                <a:latin typeface="Arial" panose="020B0604020202090204" pitchFamily="34" charset="0"/>
                <a:ea typeface="汉仪文黑-55W" pitchFamily="18" charset="-122"/>
                <a:sym typeface="+mn-ea"/>
              </a:rPr>
              <a:t>BD</a:t>
            </a:r>
            <a:r>
              <a:rPr lang="zh-CN" altLang="en-US" sz="1600" dirty="0">
                <a:solidFill>
                  <a:prstClr val="black"/>
                </a:solidFill>
                <a:latin typeface="Arial" panose="020B0604020202090204" pitchFamily="34" charset="0"/>
                <a:ea typeface="汉仪文黑-55W" pitchFamily="18" charset="-122"/>
                <a:sym typeface="+mn-ea"/>
              </a:rPr>
              <a:t>预期，如科伦博泰的</a:t>
            </a:r>
            <a:r>
              <a:rPr lang="en-US" altLang="zh-CN" sz="1600" dirty="0">
                <a:solidFill>
                  <a:prstClr val="black"/>
                </a:solidFill>
                <a:latin typeface="Arial" panose="020B0604020202090204" pitchFamily="34" charset="0"/>
                <a:ea typeface="汉仪文黑-55W" pitchFamily="18" charset="-122"/>
                <a:sym typeface="+mn-ea"/>
              </a:rPr>
              <a:t>SKB264/MK-2870</a:t>
            </a:r>
            <a:r>
              <a:rPr lang="zh-CN" altLang="en-US" sz="1600" dirty="0">
                <a:solidFill>
                  <a:prstClr val="black"/>
                </a:solidFill>
                <a:latin typeface="Arial" panose="020B0604020202090204" pitchFamily="34" charset="0"/>
                <a:ea typeface="汉仪文黑-55W" pitchFamily="18" charset="-122"/>
                <a:sym typeface="+mn-ea"/>
              </a:rPr>
              <a:t>，不仅仅是国内多个适应症获批，进入医保后迅速商业化，还包括正在推进的</a:t>
            </a:r>
            <a:r>
              <a:rPr lang="en-US" altLang="zh-CN" sz="1600" dirty="0">
                <a:solidFill>
                  <a:prstClr val="black"/>
                </a:solidFill>
                <a:latin typeface="Arial" panose="020B0604020202090204" pitchFamily="34" charset="0"/>
                <a:ea typeface="汉仪文黑-55W" pitchFamily="18" charset="-122"/>
                <a:sym typeface="+mn-ea"/>
              </a:rPr>
              <a:t>17</a:t>
            </a:r>
            <a:r>
              <a:rPr lang="zh-CN" altLang="en-US" sz="1600" dirty="0">
                <a:solidFill>
                  <a:prstClr val="black"/>
                </a:solidFill>
                <a:latin typeface="Arial" panose="020B0604020202090204" pitchFamily="34" charset="0"/>
                <a:ea typeface="汉仪文黑-55W" pitchFamily="18" charset="-122"/>
                <a:sym typeface="+mn-ea"/>
              </a:rPr>
              <a:t>项全球</a:t>
            </a:r>
            <a:r>
              <a:rPr lang="en-US" altLang="zh-CN" sz="1600" dirty="0">
                <a:solidFill>
                  <a:prstClr val="black"/>
                </a:solidFill>
                <a:latin typeface="Arial" panose="020B0604020202090204" pitchFamily="34" charset="0"/>
                <a:ea typeface="汉仪文黑-55W" pitchFamily="18" charset="-122"/>
                <a:sym typeface="+mn-ea"/>
              </a:rPr>
              <a:t>3</a:t>
            </a:r>
            <a:r>
              <a:rPr lang="zh-CN" altLang="en-US" sz="1600" dirty="0">
                <a:solidFill>
                  <a:prstClr val="black"/>
                </a:solidFill>
                <a:latin typeface="Arial" panose="020B0604020202090204" pitchFamily="34" charset="0"/>
                <a:ea typeface="汉仪文黑-55W" pitchFamily="18" charset="-122"/>
                <a:sym typeface="+mn-ea"/>
              </a:rPr>
              <a:t>期临床研究。</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年以来多项三期临床研究的发布，显著提升了对未来海外上市并成为全球爆品的信心。对比</a:t>
            </a:r>
            <a:r>
              <a:rPr lang="en-US" altLang="zh-CN" sz="1600" dirty="0">
                <a:solidFill>
                  <a:prstClr val="black"/>
                </a:solidFill>
                <a:latin typeface="Arial" panose="020B0604020202090204" pitchFamily="34" charset="0"/>
                <a:ea typeface="汉仪文黑-55W" pitchFamily="18" charset="-122"/>
                <a:sym typeface="+mn-ea"/>
              </a:rPr>
              <a:t>2025</a:t>
            </a:r>
            <a:r>
              <a:rPr lang="zh-CN" altLang="en-US" sz="1600" dirty="0">
                <a:solidFill>
                  <a:prstClr val="black"/>
                </a:solidFill>
                <a:latin typeface="Arial" panose="020B0604020202090204" pitchFamily="34" charset="0"/>
                <a:ea typeface="汉仪文黑-55W" pitchFamily="18" charset="-122"/>
                <a:sym typeface="+mn-ea"/>
              </a:rPr>
              <a:t>年，</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年驱动创新药价值提升更依赖于后期临床数据的支撑，并非只有</a:t>
            </a:r>
            <a:r>
              <a:rPr lang="en-US" altLang="zh-CN" sz="1600" dirty="0">
                <a:solidFill>
                  <a:prstClr val="black"/>
                </a:solidFill>
                <a:latin typeface="Arial" panose="020B0604020202090204" pitchFamily="34" charset="0"/>
                <a:ea typeface="汉仪文黑-55W" pitchFamily="18" charset="-122"/>
                <a:sym typeface="+mn-ea"/>
              </a:rPr>
              <a:t>BD</a:t>
            </a:r>
            <a:r>
              <a:rPr lang="zh-CN" altLang="en-US" sz="1600" dirty="0">
                <a:solidFill>
                  <a:prstClr val="black"/>
                </a:solidFill>
                <a:latin typeface="Arial" panose="020B0604020202090204" pitchFamily="34" charset="0"/>
                <a:ea typeface="汉仪文黑-55W" pitchFamily="18" charset="-122"/>
                <a:sym typeface="+mn-ea"/>
              </a:rPr>
              <a:t>进展和预期。</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展望</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2026</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年下半年，市场风格偏好的变化，创新药的关注度已显著提升，但个股分化趋势仍将延续，后期关键临床数据和商业化落地后更决定价值的走向。</a:t>
            </a:r>
            <a:endPar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smtClean="0">
                <a:ln>
                  <a:noFill/>
                </a:ln>
                <a:solidFill>
                  <a:prstClr val="white">
                    <a:lumMod val="85000"/>
                  </a:prstClr>
                </a:solidFill>
                <a:effectLst/>
                <a:uLnTx/>
                <a:uFillTx/>
                <a:latin typeface="汉仪文黑-55W" pitchFamily="18" charset="-122"/>
                <a:ea typeface="汉仪文黑-55W" pitchFamily="18" charset="-122"/>
                <a:cs typeface="+mn-cs"/>
                <a:sym typeface="+mn-ea"/>
              </a:rPr>
              <a:t>5</a:t>
            </a:r>
            <a:endParaRPr kumimoji="0" lang="zh-CN" altLang="en-US" sz="1400" b="1" i="0" u="none" strike="noStrike" kern="1200" cap="none" spc="0" normalizeH="0" baseline="0" noProof="0" dirty="0">
              <a:ln>
                <a:noFill/>
              </a:ln>
              <a:solidFill>
                <a:prstClr val="black"/>
              </a:solidFill>
              <a:effectLst/>
              <a:uLnTx/>
              <a:uFillTx/>
              <a:latin typeface="汉仪文黑-55W" pitchFamily="18" charset="-122"/>
              <a:ea typeface="汉仪文黑-55W" pitchFamily="18" charset="-122"/>
              <a:cs typeface="+mn-cs"/>
            </a:endParaRPr>
          </a:p>
        </p:txBody>
      </p:sp>
      <p:sp>
        <p:nvSpPr>
          <p:cNvPr id="14" name="文本框 13"/>
          <p:cNvSpPr txBox="1"/>
          <p:nvPr/>
        </p:nvSpPr>
        <p:spPr>
          <a:xfrm>
            <a:off x="514350" y="254000"/>
            <a:ext cx="2321214" cy="461665"/>
          </a:xfrm>
          <a:prstGeom prst="rect">
            <a:avLst/>
          </a:prstGeom>
          <a:noFill/>
        </p:spPr>
        <p:txBody>
          <a:bodyPr wrap="square" lIns="0"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时尚中黑简体" charset="-122"/>
                <a:sym typeface="+mn-ea"/>
              </a:rPr>
              <a:t>医药行业观点</a:t>
            </a:r>
          </a:p>
        </p:txBody>
      </p:sp>
      <p:sp>
        <p:nvSpPr>
          <p:cNvPr id="5" name="文本框 4"/>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诚信、专业、稳健、高效</a:t>
            </a:r>
          </a:p>
        </p:txBody>
      </p:sp>
      <p:sp>
        <p:nvSpPr>
          <p:cNvPr id="6" name="文本框 5"/>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请阅读最后一页重要免责声明</a:t>
            </a:r>
          </a:p>
        </p:txBody>
      </p:sp>
      <p:sp>
        <p:nvSpPr>
          <p:cNvPr id="2" name="文本框 1" descr="BDCONTENTCONTROL_AUTO_SAVE_Summary1"/>
          <p:cNvSpPr txBox="1"/>
          <p:nvPr/>
        </p:nvSpPr>
        <p:spPr>
          <a:xfrm>
            <a:off x="352107" y="984303"/>
            <a:ext cx="11296650" cy="5102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rgbClr val="5A2781"/>
                </a:solidFill>
                <a:effectLst/>
                <a:uLnTx/>
                <a:uFillTx/>
                <a:latin typeface="汉仪文黑-55W" pitchFamily="18" charset="-122"/>
                <a:ea typeface="汉仪文黑-55W" pitchFamily="18" charset="-122"/>
                <a:cs typeface="+mn-cs"/>
                <a:sym typeface="+mn-ea"/>
              </a:rPr>
              <a:t>4. </a:t>
            </a:r>
            <a:r>
              <a:rPr kumimoji="0" lang="en-US" altLang="zh-CN"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rPr>
              <a:t>TYK2</a:t>
            </a: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rPr>
              <a:t>靶点市场潜力逐步发掘，期待更多中国自免新药出海</a:t>
            </a:r>
            <a:endParaRPr kumimoji="0" lang="en-US" altLang="zh-CN"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endParaRPr>
          </a:p>
          <a:p>
            <a:pPr lvl="0" algn="just">
              <a:lnSpc>
                <a:spcPct val="150000"/>
              </a:lnSpc>
              <a:defRPr/>
            </a:pP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7</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月</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16</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日，武田公布了泽索昔替尼（</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TYK2</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靶点抑制剂）两项针对中重度斑块状银屑病（</a:t>
            </a:r>
            <a:r>
              <a:rPr kumimoji="0" lang="en-US" altLang="zh-CN" sz="1600" b="0" i="0" u="none" strike="noStrike" kern="1200" cap="none" spc="0" normalizeH="0" baseline="0" noProof="0" dirty="0" err="1">
                <a:ln>
                  <a:noFill/>
                </a:ln>
                <a:solidFill>
                  <a:prstClr val="black"/>
                </a:solidFill>
                <a:effectLst/>
                <a:uLnTx/>
                <a:uFillTx/>
                <a:latin typeface="Arial" panose="020B0604020202090204" pitchFamily="34" charset="0"/>
                <a:ea typeface="汉仪文黑-55W" pitchFamily="18" charset="-122"/>
                <a:cs typeface="+mn-cs"/>
                <a:sym typeface="+mn-ea"/>
              </a:rPr>
              <a:t>PsO</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）成人患者的关键性</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III</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期研究新数，约</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70%</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接受泽索昔替尼治疗的患者在第</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16</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周达到静态医师整体评估（</a:t>
            </a:r>
            <a:r>
              <a:rPr kumimoji="0" lang="en-US" altLang="zh-CN" sz="1600" b="0" i="0" u="none" strike="noStrike" kern="1200" cap="none" spc="0" normalizeH="0" baseline="0" noProof="0" dirty="0" err="1">
                <a:ln>
                  <a:noFill/>
                </a:ln>
                <a:solidFill>
                  <a:prstClr val="black"/>
                </a:solidFill>
                <a:effectLst/>
                <a:uLnTx/>
                <a:uFillTx/>
                <a:latin typeface="Arial" panose="020B0604020202090204" pitchFamily="34" charset="0"/>
                <a:ea typeface="汉仪文黑-55W" pitchFamily="18" charset="-122"/>
                <a:cs typeface="+mn-cs"/>
                <a:sym typeface="+mn-ea"/>
              </a:rPr>
              <a:t>sPGA</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0/1</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（皮损清除或几乎清除），且银屑病面积和严重程度指数（</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PASI</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75</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应答率早在第</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4</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周即显著高于安慰剂组，并持续提高至第</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24</a:t>
            </a:r>
            <a:r>
              <a:rPr lang="zh-CN" altLang="en-US" sz="1600" dirty="0">
                <a:solidFill>
                  <a:prstClr val="black"/>
                </a:solidFill>
                <a:latin typeface="Arial" panose="020B0604020202090204" pitchFamily="34" charset="0"/>
                <a:ea typeface="汉仪文黑-55W" pitchFamily="18" charset="-122"/>
                <a:sym typeface="+mn-ea"/>
              </a:rPr>
              <a:t>周。中国企业中，包括诺诚健华，益方生物等企业也在跟进</a:t>
            </a:r>
            <a:r>
              <a:rPr lang="en-US" altLang="zh-CN" sz="1600" dirty="0">
                <a:solidFill>
                  <a:prstClr val="black"/>
                </a:solidFill>
                <a:latin typeface="Arial" panose="020B0604020202090204" pitchFamily="34" charset="0"/>
                <a:ea typeface="汉仪文黑-55W" pitchFamily="18" charset="-122"/>
                <a:sym typeface="+mn-ea"/>
              </a:rPr>
              <a:t>TYK2</a:t>
            </a:r>
            <a:r>
              <a:rPr lang="zh-CN" altLang="en-US" sz="1600" dirty="0">
                <a:solidFill>
                  <a:prstClr val="black"/>
                </a:solidFill>
                <a:latin typeface="Arial" panose="020B0604020202090204" pitchFamily="34" charset="0"/>
                <a:ea typeface="汉仪文黑-55W" pitchFamily="18" charset="-122"/>
                <a:sym typeface="+mn-ea"/>
              </a:rPr>
              <a:t>抑制剂的开发，其中诺诚健华的新型</a:t>
            </a:r>
            <a:r>
              <a:rPr lang="en-US" altLang="zh-CN" sz="1600" dirty="0">
                <a:solidFill>
                  <a:prstClr val="black"/>
                </a:solidFill>
                <a:latin typeface="Arial" panose="020B0604020202090204" pitchFamily="34" charset="0"/>
                <a:ea typeface="汉仪文黑-55W" pitchFamily="18" charset="-122"/>
                <a:sym typeface="+mn-ea"/>
              </a:rPr>
              <a:t>TYK2</a:t>
            </a:r>
            <a:r>
              <a:rPr lang="zh-CN" altLang="en-US" sz="1600" dirty="0">
                <a:solidFill>
                  <a:prstClr val="black"/>
                </a:solidFill>
                <a:latin typeface="Arial" panose="020B0604020202090204" pitchFamily="34" charset="0"/>
                <a:ea typeface="汉仪文黑-55W" pitchFamily="18" charset="-122"/>
                <a:sym typeface="+mn-ea"/>
              </a:rPr>
              <a:t>抑制剂</a:t>
            </a:r>
            <a:r>
              <a:rPr lang="en-US" altLang="zh-CN" sz="1600" dirty="0">
                <a:solidFill>
                  <a:prstClr val="black"/>
                </a:solidFill>
                <a:latin typeface="Arial" panose="020B0604020202090204" pitchFamily="34" charset="0"/>
                <a:ea typeface="汉仪文黑-55W" pitchFamily="18" charset="-122"/>
                <a:sym typeface="+mn-ea"/>
              </a:rPr>
              <a:t>ICP-488</a:t>
            </a:r>
            <a:r>
              <a:rPr lang="zh-CN" altLang="en-US" sz="1600" dirty="0">
                <a:solidFill>
                  <a:prstClr val="black"/>
                </a:solidFill>
                <a:latin typeface="Arial" panose="020B0604020202090204" pitchFamily="34" charset="0"/>
                <a:ea typeface="汉仪文黑-55W" pitchFamily="18" charset="-122"/>
                <a:sym typeface="+mn-ea"/>
              </a:rPr>
              <a:t>治疗中重度斑块状银屑病</a:t>
            </a:r>
            <a:r>
              <a:rPr lang="en-US" altLang="zh-CN" sz="1600" dirty="0">
                <a:solidFill>
                  <a:prstClr val="black"/>
                </a:solidFill>
                <a:latin typeface="Arial" panose="020B0604020202090204" pitchFamily="34" charset="0"/>
                <a:ea typeface="汉仪文黑-55W" pitchFamily="18" charset="-122"/>
                <a:sym typeface="+mn-ea"/>
              </a:rPr>
              <a:t>III</a:t>
            </a:r>
            <a:r>
              <a:rPr lang="zh-CN" altLang="en-US" sz="1600" dirty="0">
                <a:solidFill>
                  <a:prstClr val="black"/>
                </a:solidFill>
                <a:latin typeface="Arial" panose="020B0604020202090204" pitchFamily="34" charset="0"/>
                <a:ea typeface="汉仪文黑-55W" pitchFamily="18" charset="-122"/>
                <a:sym typeface="+mn-ea"/>
              </a:rPr>
              <a:t>期注册临床研究达到主要终点，另一款口服</a:t>
            </a:r>
            <a:r>
              <a:rPr lang="en-US" altLang="zh-CN" sz="1600" dirty="0">
                <a:solidFill>
                  <a:prstClr val="black"/>
                </a:solidFill>
                <a:latin typeface="Arial" panose="020B0604020202090204" pitchFamily="34" charset="0"/>
                <a:ea typeface="汉仪文黑-55W" pitchFamily="18" charset="-122"/>
                <a:sym typeface="+mn-ea"/>
              </a:rPr>
              <a:t>TYK2</a:t>
            </a:r>
            <a:r>
              <a:rPr lang="zh-CN" altLang="en-US" sz="1600" dirty="0">
                <a:solidFill>
                  <a:prstClr val="black"/>
                </a:solidFill>
                <a:latin typeface="Arial" panose="020B0604020202090204" pitchFamily="34" charset="0"/>
                <a:ea typeface="汉仪文黑-55W" pitchFamily="18" charset="-122"/>
                <a:sym typeface="+mn-ea"/>
              </a:rPr>
              <a:t>抑制剂</a:t>
            </a:r>
            <a:r>
              <a:rPr lang="en-US" altLang="zh-CN" sz="1600" dirty="0">
                <a:solidFill>
                  <a:prstClr val="black"/>
                </a:solidFill>
                <a:latin typeface="Arial" panose="020B0604020202090204" pitchFamily="34" charset="0"/>
                <a:ea typeface="汉仪文黑-55W" pitchFamily="18" charset="-122"/>
                <a:sym typeface="+mn-ea"/>
              </a:rPr>
              <a:t>ICP-332</a:t>
            </a:r>
            <a:r>
              <a:rPr lang="zh-CN" altLang="en-US" sz="1600" dirty="0">
                <a:solidFill>
                  <a:prstClr val="black"/>
                </a:solidFill>
                <a:latin typeface="Arial" panose="020B0604020202090204" pitchFamily="34" charset="0"/>
                <a:ea typeface="汉仪文黑-55W" pitchFamily="18" charset="-122"/>
                <a:sym typeface="+mn-ea"/>
              </a:rPr>
              <a:t>也达到成人非节段型白癜风的</a:t>
            </a:r>
            <a:r>
              <a:rPr lang="en-US" altLang="zh-CN" sz="1600" dirty="0">
                <a:solidFill>
                  <a:prstClr val="black"/>
                </a:solidFill>
                <a:latin typeface="Arial" panose="020B0604020202090204" pitchFamily="34" charset="0"/>
                <a:ea typeface="汉仪文黑-55W" pitchFamily="18" charset="-122"/>
                <a:sym typeface="+mn-ea"/>
              </a:rPr>
              <a:t>II</a:t>
            </a:r>
            <a:r>
              <a:rPr lang="zh-CN" altLang="en-US" sz="1600" dirty="0">
                <a:solidFill>
                  <a:prstClr val="black"/>
                </a:solidFill>
                <a:latin typeface="Arial" panose="020B0604020202090204" pitchFamily="34" charset="0"/>
                <a:ea typeface="汉仪文黑-55W" pitchFamily="18" charset="-122"/>
                <a:sym typeface="+mn-ea"/>
              </a:rPr>
              <a:t>期主要研究终点和中重度特应性皮炎注册</a:t>
            </a:r>
            <a:r>
              <a:rPr lang="en-US" altLang="zh-CN" sz="1600" dirty="0">
                <a:solidFill>
                  <a:prstClr val="black"/>
                </a:solidFill>
                <a:latin typeface="Arial" panose="020B0604020202090204" pitchFamily="34" charset="0"/>
                <a:ea typeface="汉仪文黑-55W" pitchFamily="18" charset="-122"/>
                <a:sym typeface="+mn-ea"/>
              </a:rPr>
              <a:t>III</a:t>
            </a:r>
            <a:r>
              <a:rPr lang="zh-CN" altLang="en-US" sz="1600" dirty="0">
                <a:solidFill>
                  <a:prstClr val="black"/>
                </a:solidFill>
                <a:latin typeface="Arial" panose="020B0604020202090204" pitchFamily="34" charset="0"/>
                <a:ea typeface="汉仪文黑-55W" pitchFamily="18" charset="-122"/>
                <a:sym typeface="+mn-ea"/>
              </a:rPr>
              <a:t>期主要终点。</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根据医药魔方，</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2025</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年中国</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License-out</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项目中免疫领域达</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34</a:t>
            </a:r>
            <a:r>
              <a:rPr lang="zh-CN" altLang="en-US" sz="1600" dirty="0">
                <a:solidFill>
                  <a:prstClr val="black"/>
                </a:solidFill>
                <a:latin typeface="Arial" panose="020B0604020202090204" pitchFamily="34" charset="0"/>
                <a:ea typeface="汉仪文黑-55W" pitchFamily="18" charset="-122"/>
                <a:sym typeface="+mn-ea"/>
              </a:rPr>
              <a:t>项</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，为第二大适应症领域</a:t>
            </a:r>
            <a:r>
              <a:rPr lang="zh-CN" altLang="en-US" sz="1600" dirty="0">
                <a:solidFill>
                  <a:prstClr val="black"/>
                </a:solidFill>
                <a:latin typeface="Arial" panose="020B0604020202090204" pitchFamily="34" charset="0"/>
                <a:ea typeface="汉仪文黑-55W" pitchFamily="18" charset="-122"/>
                <a:sym typeface="+mn-ea"/>
              </a:rPr>
              <a:t>。双特异性抗体在自免领域的开发成为中国创新药赶超海外并实现</a:t>
            </a:r>
            <a:r>
              <a:rPr lang="en-US" altLang="zh-CN" sz="1600" dirty="0">
                <a:solidFill>
                  <a:prstClr val="black"/>
                </a:solidFill>
                <a:latin typeface="Arial" panose="020B0604020202090204" pitchFamily="34" charset="0"/>
                <a:ea typeface="汉仪文黑-55W" pitchFamily="18" charset="-122"/>
                <a:sym typeface="+mn-ea"/>
              </a:rPr>
              <a:t>BD</a:t>
            </a:r>
            <a:r>
              <a:rPr lang="zh-CN" altLang="en-US" sz="1600" dirty="0">
                <a:solidFill>
                  <a:prstClr val="black"/>
                </a:solidFill>
                <a:latin typeface="Arial" panose="020B0604020202090204" pitchFamily="34" charset="0"/>
                <a:ea typeface="汉仪文黑-55W" pitchFamily="18" charset="-122"/>
                <a:sym typeface="+mn-ea"/>
              </a:rPr>
              <a:t>的重要突破路径。</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年</a:t>
            </a:r>
            <a:r>
              <a:rPr lang="en-US" altLang="zh-CN" sz="1600" dirty="0">
                <a:solidFill>
                  <a:prstClr val="black"/>
                </a:solidFill>
                <a:latin typeface="Arial" panose="020B0604020202090204" pitchFamily="34" charset="0"/>
                <a:ea typeface="汉仪文黑-55W" pitchFamily="18" charset="-122"/>
                <a:sym typeface="+mn-ea"/>
              </a:rPr>
              <a:t>3</a:t>
            </a:r>
            <a:r>
              <a:rPr lang="zh-CN" altLang="en-US" sz="1600" dirty="0">
                <a:solidFill>
                  <a:prstClr val="black"/>
                </a:solidFill>
                <a:latin typeface="Arial" panose="020B0604020202090204" pitchFamily="34" charset="0"/>
                <a:ea typeface="汉仪文黑-55W" pitchFamily="18" charset="-122"/>
                <a:sym typeface="+mn-ea"/>
              </a:rPr>
              <a:t>月，吉利德收购</a:t>
            </a:r>
            <a:r>
              <a:rPr lang="en-US" altLang="zh-CN" sz="1600" dirty="0">
                <a:solidFill>
                  <a:prstClr val="black"/>
                </a:solidFill>
                <a:latin typeface="Arial" panose="020B0604020202090204" pitchFamily="34" charset="0"/>
                <a:ea typeface="汉仪文黑-55W" pitchFamily="18" charset="-122"/>
                <a:sym typeface="+mn-ea"/>
              </a:rPr>
              <a:t>Ouro Medicines</a:t>
            </a:r>
            <a:r>
              <a:rPr lang="zh-CN" altLang="en-US" sz="1600" dirty="0">
                <a:solidFill>
                  <a:prstClr val="black"/>
                </a:solidFill>
                <a:latin typeface="Arial" panose="020B0604020202090204" pitchFamily="34" charset="0"/>
                <a:ea typeface="汉仪文黑-55W" pitchFamily="18" charset="-122"/>
                <a:sym typeface="+mn-ea"/>
              </a:rPr>
              <a:t>，获得</a:t>
            </a:r>
            <a:r>
              <a:rPr lang="en-US" altLang="zh-CN" sz="1600" dirty="0">
                <a:solidFill>
                  <a:prstClr val="black"/>
                </a:solidFill>
                <a:latin typeface="Arial" panose="020B0604020202090204" pitchFamily="34" charset="0"/>
                <a:ea typeface="汉仪文黑-55W" pitchFamily="18" charset="-122"/>
                <a:sym typeface="+mn-ea"/>
              </a:rPr>
              <a:t>CM336</a:t>
            </a:r>
            <a:r>
              <a:rPr lang="zh-CN" altLang="en-US" sz="1600" dirty="0">
                <a:solidFill>
                  <a:prstClr val="black"/>
                </a:solidFill>
                <a:latin typeface="Arial" panose="020B0604020202090204" pitchFamily="34" charset="0"/>
                <a:ea typeface="汉仪文黑-55W" pitchFamily="18" charset="-122"/>
                <a:sym typeface="+mn-ea"/>
              </a:rPr>
              <a:t>（</a:t>
            </a:r>
            <a:r>
              <a:rPr lang="en-US" altLang="zh-CN" sz="1600" dirty="0">
                <a:solidFill>
                  <a:prstClr val="black"/>
                </a:solidFill>
                <a:latin typeface="Arial" panose="020B0604020202090204" pitchFamily="34" charset="0"/>
                <a:ea typeface="汉仪文黑-55W" pitchFamily="18" charset="-122"/>
                <a:sym typeface="+mn-ea"/>
              </a:rPr>
              <a:t>BCMA/CD3</a:t>
            </a:r>
            <a:r>
              <a:rPr lang="zh-CN" altLang="en-US" sz="1600" dirty="0">
                <a:solidFill>
                  <a:prstClr val="black"/>
                </a:solidFill>
                <a:latin typeface="Arial" panose="020B0604020202090204" pitchFamily="34" charset="0"/>
                <a:ea typeface="汉仪文黑-55W" pitchFamily="18" charset="-122"/>
                <a:sym typeface="+mn-ea"/>
              </a:rPr>
              <a:t>双抗）大中华区外全球权益，康诺亚将获得约</a:t>
            </a:r>
            <a:r>
              <a:rPr lang="en-US" altLang="zh-CN" sz="1600" dirty="0">
                <a:solidFill>
                  <a:prstClr val="black"/>
                </a:solidFill>
                <a:latin typeface="Arial" panose="020B0604020202090204" pitchFamily="34" charset="0"/>
                <a:ea typeface="汉仪文黑-55W" pitchFamily="18" charset="-122"/>
                <a:sym typeface="+mn-ea"/>
              </a:rPr>
              <a:t>2.5</a:t>
            </a:r>
            <a:r>
              <a:rPr lang="zh-CN" altLang="en-US" sz="1600" dirty="0">
                <a:solidFill>
                  <a:prstClr val="black"/>
                </a:solidFill>
                <a:latin typeface="Arial" panose="020B0604020202090204" pitchFamily="34" charset="0"/>
                <a:ea typeface="汉仪文黑-55W" pitchFamily="18" charset="-122"/>
                <a:sym typeface="+mn-ea"/>
              </a:rPr>
              <a:t>亿美元首付款</a:t>
            </a:r>
            <a:r>
              <a:rPr lang="en-US" altLang="zh-CN" sz="1600" dirty="0">
                <a:solidFill>
                  <a:prstClr val="black"/>
                </a:solidFill>
                <a:latin typeface="Arial" panose="020B0604020202090204" pitchFamily="34" charset="0"/>
                <a:ea typeface="汉仪文黑-55W" pitchFamily="18" charset="-122"/>
                <a:sym typeface="+mn-ea"/>
              </a:rPr>
              <a:t>+</a:t>
            </a:r>
            <a:r>
              <a:rPr lang="zh-CN" altLang="en-US" sz="1600" dirty="0">
                <a:solidFill>
                  <a:prstClr val="black"/>
                </a:solidFill>
                <a:latin typeface="Arial" panose="020B0604020202090204" pitchFamily="34" charset="0"/>
                <a:ea typeface="汉仪文黑-55W" pitchFamily="18" charset="-122"/>
                <a:sym typeface="+mn-ea"/>
              </a:rPr>
              <a:t>约</a:t>
            </a:r>
            <a:r>
              <a:rPr lang="en-US" altLang="zh-CN" sz="1600" dirty="0">
                <a:solidFill>
                  <a:prstClr val="black"/>
                </a:solidFill>
                <a:latin typeface="Arial" panose="020B0604020202090204" pitchFamily="34" charset="0"/>
                <a:ea typeface="汉仪文黑-55W" pitchFamily="18" charset="-122"/>
                <a:sym typeface="+mn-ea"/>
              </a:rPr>
              <a:t>0.7</a:t>
            </a:r>
            <a:r>
              <a:rPr lang="zh-CN" altLang="en-US" sz="1600" dirty="0">
                <a:solidFill>
                  <a:prstClr val="black"/>
                </a:solidFill>
                <a:latin typeface="Arial" panose="020B0604020202090204" pitchFamily="34" charset="0"/>
                <a:ea typeface="汉仪文黑-55W" pitchFamily="18" charset="-122"/>
                <a:sym typeface="+mn-ea"/>
              </a:rPr>
              <a:t>亿美元里程碑付款，至多</a:t>
            </a:r>
            <a:r>
              <a:rPr lang="en-US" altLang="zh-CN" sz="1600" dirty="0">
                <a:solidFill>
                  <a:prstClr val="black"/>
                </a:solidFill>
                <a:latin typeface="Arial" panose="020B0604020202090204" pitchFamily="34" charset="0"/>
                <a:ea typeface="汉仪文黑-55W" pitchFamily="18" charset="-122"/>
                <a:sym typeface="+mn-ea"/>
              </a:rPr>
              <a:t>6.1</a:t>
            </a:r>
            <a:r>
              <a:rPr lang="zh-CN" altLang="en-US" sz="1600" dirty="0">
                <a:solidFill>
                  <a:prstClr val="black"/>
                </a:solidFill>
                <a:latin typeface="Arial" panose="020B0604020202090204" pitchFamily="34" charset="0"/>
                <a:ea typeface="汉仪文黑-55W" pitchFamily="18" charset="-122"/>
                <a:sym typeface="+mn-ea"/>
              </a:rPr>
              <a:t>亿美元的里程碑付款</a:t>
            </a:r>
            <a:r>
              <a:rPr lang="en-US" altLang="zh-CN" sz="1600" dirty="0">
                <a:solidFill>
                  <a:prstClr val="black"/>
                </a:solidFill>
                <a:latin typeface="Arial" panose="020B0604020202090204" pitchFamily="34" charset="0"/>
                <a:ea typeface="汉仪文黑-55W" pitchFamily="18" charset="-122"/>
                <a:sym typeface="+mn-ea"/>
              </a:rPr>
              <a:t>+</a:t>
            </a:r>
            <a:r>
              <a:rPr lang="zh-CN" altLang="en-US" sz="1600" dirty="0">
                <a:solidFill>
                  <a:prstClr val="black"/>
                </a:solidFill>
                <a:latin typeface="Arial" panose="020B0604020202090204" pitchFamily="34" charset="0"/>
                <a:ea typeface="汉仪文黑-55W" pitchFamily="18" charset="-122"/>
                <a:sym typeface="+mn-ea"/>
              </a:rPr>
              <a:t>销售净额的分层特许权使用费</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。支撑</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CM336</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对外授权主要是</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CM336</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在治疗既往接受过多种治疗的复发</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难治性自身免疫性溶血性贫血患者中表现出令人惊喜的初步疗效，患者病情能够得到快速控制且可达到半年以上的持续缓解，同时安全性良好。</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8</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月</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10</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日，康诺亚宣布公司自主研发的全球首款长效</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TSLP x IL-13</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双阻断剂</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CM512</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治疗慢性鼻窦炎伴鼻息肉</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II</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期临床试验达到全部研究终点。</a:t>
            </a:r>
            <a:endPar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1" dirty="0" smtClean="0">
                <a:solidFill>
                  <a:prstClr val="white">
                    <a:lumMod val="85000"/>
                  </a:prstClr>
                </a:solidFill>
                <a:latin typeface="汉仪文黑-55W" pitchFamily="18" charset="-122"/>
                <a:ea typeface="汉仪文黑-55W" pitchFamily="18" charset="-122"/>
                <a:sym typeface="+mn-ea"/>
              </a:rPr>
              <a:t>6</a:t>
            </a:r>
            <a:endParaRPr kumimoji="0" lang="zh-CN" altLang="en-US" sz="1400" b="1" i="0" u="none" strike="noStrike" kern="1200" cap="none" spc="0" normalizeH="0" baseline="0" noProof="0" dirty="0">
              <a:ln>
                <a:noFill/>
              </a:ln>
              <a:solidFill>
                <a:prstClr val="black"/>
              </a:solidFill>
              <a:effectLst/>
              <a:uLnTx/>
              <a:uFillTx/>
              <a:latin typeface="汉仪文黑-55W" pitchFamily="18" charset="-122"/>
              <a:ea typeface="汉仪文黑-55W" pitchFamily="18" charset="-122"/>
              <a:cs typeface="+mn-cs"/>
            </a:endParaRPr>
          </a:p>
        </p:txBody>
      </p:sp>
      <p:sp>
        <p:nvSpPr>
          <p:cNvPr id="14" name="文本框 13"/>
          <p:cNvSpPr txBox="1"/>
          <p:nvPr/>
        </p:nvSpPr>
        <p:spPr>
          <a:xfrm>
            <a:off x="514350" y="254000"/>
            <a:ext cx="2321214" cy="461665"/>
          </a:xfrm>
          <a:prstGeom prst="rect">
            <a:avLst/>
          </a:prstGeom>
          <a:noFill/>
        </p:spPr>
        <p:txBody>
          <a:bodyPr wrap="square" lIns="0"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时尚中黑简体" charset="-122"/>
                <a:sym typeface="+mn-ea"/>
              </a:rPr>
              <a:t>医药行业观点</a:t>
            </a:r>
          </a:p>
        </p:txBody>
      </p:sp>
      <p:sp>
        <p:nvSpPr>
          <p:cNvPr id="5" name="文本框 4"/>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诚信、专业、稳健、高效</a:t>
            </a:r>
          </a:p>
        </p:txBody>
      </p:sp>
      <p:sp>
        <p:nvSpPr>
          <p:cNvPr id="6" name="文本框 5"/>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请阅读最后一页重要免责声明</a:t>
            </a:r>
          </a:p>
        </p:txBody>
      </p:sp>
      <p:sp>
        <p:nvSpPr>
          <p:cNvPr id="2" name="文本框 1" descr="BDCONTENTCONTROL_AUTO_SAVE_Summary1"/>
          <p:cNvSpPr txBox="1"/>
          <p:nvPr/>
        </p:nvSpPr>
        <p:spPr>
          <a:xfrm>
            <a:off x="352107" y="984303"/>
            <a:ext cx="11296650" cy="47266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rgbClr val="5A2781"/>
                </a:solidFill>
                <a:effectLst/>
                <a:uLnTx/>
                <a:uFillTx/>
                <a:latin typeface="汉仪文黑-55W" pitchFamily="18" charset="-122"/>
                <a:ea typeface="汉仪文黑-55W" pitchFamily="18" charset="-122"/>
                <a:cs typeface="+mn-cs"/>
                <a:sym typeface="+mn-ea"/>
              </a:rPr>
              <a:t>5. </a:t>
            </a: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rPr>
              <a:t>重视</a:t>
            </a:r>
            <a:r>
              <a:rPr kumimoji="0" lang="en-US" altLang="zh-CN"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rPr>
              <a:t>MASH</a:t>
            </a: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rPr>
              <a:t>新药研发中的中国力量</a:t>
            </a:r>
            <a:endParaRPr kumimoji="0" lang="en-US" altLang="zh-CN"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endParaRPr>
          </a:p>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代谢相关脂肪性肝病（</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MASLD</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）已成为全球最常见的慢性肝病之一，其中代谢功能障碍相关脂肪性肝炎（</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MASH</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）由于可能进展为肝纤维化、肝硬化乃至肝癌而备受关注。</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MASH</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的发生发展涉及代谢紊乱、脂毒性、炎症反应以及纤维化等多个相互交织的生物学过程，复杂的致病机制增加了药物研发难度。</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MASH</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的疾病状态具有较强的动态性，肝脂肪含量和炎症水平可能在短时间内因体重变化、饮食结构或运动情况发生波动。因此，</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MASH</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试验中往往存在较高的安慰剂反应率，给临床试验疗效评估带来挑战。截止目前，</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FDA</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批准的治疗</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MASH</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新药仅有瑞美替罗（</a:t>
            </a:r>
            <a:r>
              <a:rPr kumimoji="0" lang="en-US" altLang="zh-CN" sz="1600" b="0" i="0" u="none" strike="noStrike" kern="1200" cap="none" spc="0" normalizeH="0" baseline="0" noProof="0" dirty="0" err="1">
                <a:ln>
                  <a:noFill/>
                </a:ln>
                <a:solidFill>
                  <a:prstClr val="black"/>
                </a:solidFill>
                <a:effectLst/>
                <a:uLnTx/>
                <a:uFillTx/>
                <a:latin typeface="Arial" panose="020B0604020202090204" pitchFamily="34" charset="0"/>
                <a:ea typeface="汉仪文黑-55W" pitchFamily="18" charset="-122"/>
                <a:cs typeface="+mn-cs"/>
                <a:sym typeface="+mn-ea"/>
              </a:rPr>
              <a:t>Resmetirom</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）和司美格鲁肽（</a:t>
            </a:r>
            <a:r>
              <a:rPr kumimoji="0" lang="en-US" altLang="zh-CN" sz="1600" b="0" i="0" u="none" strike="noStrike" kern="1200" cap="none" spc="0" normalizeH="0" baseline="0" noProof="0" dirty="0" err="1">
                <a:ln>
                  <a:noFill/>
                </a:ln>
                <a:solidFill>
                  <a:prstClr val="black"/>
                </a:solidFill>
                <a:effectLst/>
                <a:uLnTx/>
                <a:uFillTx/>
                <a:latin typeface="Arial" panose="020B0604020202090204" pitchFamily="34" charset="0"/>
                <a:ea typeface="汉仪文黑-55W" pitchFamily="18" charset="-122"/>
                <a:cs typeface="+mn-cs"/>
                <a:sym typeface="+mn-ea"/>
              </a:rPr>
              <a:t>Semaglutide</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），进入临床</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2b/3</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的项目数量也非常有限。众生药业是全球治疗</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MASH</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适应症中进展较快的中国企业。</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2026</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5</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月</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7</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日，众生药业宣布</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ZSP1601</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片治疗代谢功能障碍相关脂肪性肝炎（</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MASH</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）的</a:t>
            </a:r>
            <a:r>
              <a:rPr kumimoji="0" lang="en-US" altLang="zh-CN" sz="1600" b="0" i="0" u="none" strike="noStrike" kern="1200" cap="none" spc="0" normalizeH="0" baseline="0" noProof="0" dirty="0" err="1">
                <a:ln>
                  <a:noFill/>
                </a:ln>
                <a:solidFill>
                  <a:prstClr val="black"/>
                </a:solidFill>
                <a:effectLst/>
                <a:uLnTx/>
                <a:uFillTx/>
                <a:latin typeface="Arial" panose="020B0604020202090204" pitchFamily="34" charset="0"/>
                <a:ea typeface="汉仪文黑-55W" pitchFamily="18" charset="-122"/>
                <a:cs typeface="+mn-cs"/>
                <a:sym typeface="+mn-ea"/>
              </a:rPr>
              <a:t>IIb</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期临床试验达到主要终点，其中</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100mg</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组、</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50mg</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组和安慰剂组的应答率分别为</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64.9%</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57.6%</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和</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32.5%</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，与安慰剂组的率差分别为</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31.85%</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和</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27.37%</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ZSP1601</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是一款磷酸二酯酶（</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PDE</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）抑制剂，为全球</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FIC</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类药物，其作用靶点偏向炎症方向。区别于目前已获批的代谢方向，未来具备联用潜力。</a:t>
            </a:r>
            <a:r>
              <a:rPr kumimoji="0" lang="en-US" altLang="zh-CN" sz="1600" b="0" i="0" u="none" strike="noStrike" kern="1200" cap="none" spc="0" normalizeH="0" baseline="0" noProof="0" dirty="0" err="1">
                <a:ln>
                  <a:noFill/>
                </a:ln>
                <a:solidFill>
                  <a:prstClr val="black"/>
                </a:solidFill>
                <a:effectLst/>
                <a:uLnTx/>
                <a:uFillTx/>
                <a:latin typeface="Arial" panose="020B0604020202090204" pitchFamily="34" charset="0"/>
                <a:ea typeface="汉仪文黑-55W" pitchFamily="18" charset="-122"/>
                <a:cs typeface="+mn-cs"/>
                <a:sym typeface="+mn-ea"/>
              </a:rPr>
              <a:t>IIb</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期肝活检组织学结果显示</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ZSP1601</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片</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100mg</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组纤维化改善≥</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1</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分且</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MASH</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无恶化、纤维化改善≥</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分且</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MASH</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无恶化受试者比例扣除安慰剂后的率差分别为</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29.50%</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和</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10.60%</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，在已有</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II</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期结束结果的</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MASH</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新药中，</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ZSP1601</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片成为</a:t>
            </a:r>
            <a:r>
              <a:rPr lang="en-US" altLang="zh-CN" sz="1600" dirty="0">
                <a:solidFill>
                  <a:prstClr val="black"/>
                </a:solidFill>
                <a:latin typeface="Arial" panose="020B0604020202090204" pitchFamily="34" charset="0"/>
                <a:ea typeface="汉仪文黑-55W" pitchFamily="18" charset="-122"/>
                <a:sym typeface="+mn-ea"/>
              </a:rPr>
              <a:t>BIC</a:t>
            </a:r>
            <a:r>
              <a:rPr lang="zh-CN" altLang="en-US" sz="1600" dirty="0">
                <a:solidFill>
                  <a:prstClr val="black"/>
                </a:solidFill>
                <a:latin typeface="Arial" panose="020B0604020202090204" pitchFamily="34" charset="0"/>
                <a:ea typeface="汉仪文黑-55W" pitchFamily="18" charset="-122"/>
                <a:sym typeface="+mn-ea"/>
              </a:rPr>
              <a:t>的潜力。</a:t>
            </a:r>
            <a:endPar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1" dirty="0" smtClean="0">
                <a:solidFill>
                  <a:prstClr val="white">
                    <a:lumMod val="85000"/>
                  </a:prstClr>
                </a:solidFill>
                <a:latin typeface="汉仪文黑-55W" pitchFamily="18" charset="-122"/>
                <a:ea typeface="汉仪文黑-55W" pitchFamily="18" charset="-122"/>
                <a:sym typeface="+mn-ea"/>
              </a:rPr>
              <a:t>7</a:t>
            </a:r>
            <a:endParaRPr kumimoji="0" lang="zh-CN" altLang="en-US" sz="1400" b="1" i="0" u="none" strike="noStrike" kern="1200" cap="none" spc="0" normalizeH="0" baseline="0" noProof="0" dirty="0">
              <a:ln>
                <a:noFill/>
              </a:ln>
              <a:solidFill>
                <a:prstClr val="black"/>
              </a:solidFill>
              <a:effectLst/>
              <a:uLnTx/>
              <a:uFillTx/>
              <a:latin typeface="汉仪文黑-55W" pitchFamily="18" charset="-122"/>
              <a:ea typeface="汉仪文黑-55W" pitchFamily="18" charset="-122"/>
              <a:cs typeface="+mn-cs"/>
            </a:endParaRPr>
          </a:p>
        </p:txBody>
      </p:sp>
      <p:sp>
        <p:nvSpPr>
          <p:cNvPr id="14" name="文本框 13"/>
          <p:cNvSpPr txBox="1"/>
          <p:nvPr/>
        </p:nvSpPr>
        <p:spPr>
          <a:xfrm>
            <a:off x="514350" y="254000"/>
            <a:ext cx="2321214" cy="461665"/>
          </a:xfrm>
          <a:prstGeom prst="rect">
            <a:avLst/>
          </a:prstGeom>
          <a:noFill/>
        </p:spPr>
        <p:txBody>
          <a:bodyPr wrap="square" lIns="0"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时尚中黑简体" charset="-122"/>
                <a:sym typeface="+mn-ea"/>
              </a:rPr>
              <a:t>医药行业观点</a:t>
            </a:r>
          </a:p>
        </p:txBody>
      </p:sp>
      <p:sp>
        <p:nvSpPr>
          <p:cNvPr id="5" name="文本框 4"/>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诚信、专业、稳健、高效</a:t>
            </a:r>
          </a:p>
        </p:txBody>
      </p:sp>
      <p:sp>
        <p:nvSpPr>
          <p:cNvPr id="6" name="文本框 5"/>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请阅读最后一页重要免责声明</a:t>
            </a:r>
          </a:p>
        </p:txBody>
      </p:sp>
      <p:sp>
        <p:nvSpPr>
          <p:cNvPr id="2" name="文本框 1" descr="BDCONTENTCONTROL_AUTO_SAVE_Summary1"/>
          <p:cNvSpPr txBox="1"/>
          <p:nvPr/>
        </p:nvSpPr>
        <p:spPr>
          <a:xfrm>
            <a:off x="352107" y="984303"/>
            <a:ext cx="11296650" cy="37508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rgbClr val="5A2781"/>
                </a:solidFill>
                <a:effectLst/>
                <a:uLnTx/>
                <a:uFillTx/>
                <a:latin typeface="汉仪文黑-55W" pitchFamily="18" charset="-122"/>
                <a:ea typeface="汉仪文黑-55W" pitchFamily="18" charset="-122"/>
                <a:cs typeface="+mn-cs"/>
                <a:sym typeface="+mn-ea"/>
              </a:rPr>
              <a:t>6. </a:t>
            </a:r>
            <a:r>
              <a:rPr lang="en-US" altLang="zh-CN" sz="2400" b="1" dirty="0">
                <a:solidFill>
                  <a:srgbClr val="5A2781"/>
                </a:solidFill>
                <a:latin typeface="汉仪文黑-55W" pitchFamily="18" charset="-122"/>
                <a:ea typeface="汉仪文黑-55W" pitchFamily="18" charset="-122"/>
                <a:sym typeface="+mn-ea"/>
              </a:rPr>
              <a:t>GLP-1</a:t>
            </a:r>
            <a:r>
              <a:rPr lang="zh-CN" altLang="en-US" sz="2400" b="1" dirty="0">
                <a:solidFill>
                  <a:srgbClr val="5A2781"/>
                </a:solidFill>
                <a:latin typeface="汉仪文黑-55W" pitchFamily="18" charset="-122"/>
                <a:ea typeface="汉仪文黑-55W" pitchFamily="18" charset="-122"/>
                <a:sym typeface="+mn-ea"/>
              </a:rPr>
              <a:t>全球市场第一</a:t>
            </a: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rPr>
              <a:t>，中国企业继续追赶</a:t>
            </a:r>
            <a:endParaRPr kumimoji="0" lang="en-US" altLang="zh-CN"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2400" b="1" dirty="0">
              <a:solidFill>
                <a:srgbClr val="5A2781"/>
              </a:solidFill>
              <a:latin typeface="Arial" panose="020B0604020202090204" pitchFamily="34" charset="0"/>
              <a:ea typeface="汉仪文黑-55W" pitchFamily="18" charset="-122"/>
              <a:sym typeface="+mn-ea"/>
            </a:endParaRPr>
          </a:p>
          <a:p>
            <a:pPr algn="just">
              <a:lnSpc>
                <a:spcPct val="150000"/>
              </a:lnSpc>
              <a:defRPr/>
            </a:pPr>
            <a:r>
              <a:rPr lang="en-US" altLang="zh-CN" sz="1600" dirty="0">
                <a:solidFill>
                  <a:prstClr val="black"/>
                </a:solidFill>
                <a:latin typeface="Arial" panose="020B0604020202090204" pitchFamily="34" charset="0"/>
                <a:ea typeface="汉仪文黑-55W" pitchFamily="18" charset="-122"/>
                <a:sym typeface="+mn-ea"/>
              </a:rPr>
              <a:t>2026 </a:t>
            </a:r>
            <a:r>
              <a:rPr lang="zh-CN" altLang="en-US" sz="1600" dirty="0">
                <a:solidFill>
                  <a:prstClr val="black"/>
                </a:solidFill>
                <a:latin typeface="Arial" panose="020B0604020202090204" pitchFamily="34" charset="0"/>
                <a:ea typeface="汉仪文黑-55W" pitchFamily="18" charset="-122"/>
                <a:sym typeface="+mn-ea"/>
              </a:rPr>
              <a:t>上半年替尔泊肽销售</a:t>
            </a:r>
            <a:r>
              <a:rPr lang="en-US" altLang="zh-CN" sz="1600" dirty="0">
                <a:solidFill>
                  <a:prstClr val="black"/>
                </a:solidFill>
                <a:latin typeface="Arial" panose="020B0604020202090204" pitchFamily="34" charset="0"/>
                <a:ea typeface="汉仪文黑-55W" pitchFamily="18" charset="-122"/>
                <a:sym typeface="+mn-ea"/>
              </a:rPr>
              <a:t>276.93 </a:t>
            </a:r>
            <a:r>
              <a:rPr lang="zh-CN" altLang="en-US" sz="1600" dirty="0">
                <a:solidFill>
                  <a:prstClr val="black"/>
                </a:solidFill>
                <a:latin typeface="Arial" panose="020B0604020202090204" pitchFamily="34" charset="0"/>
                <a:ea typeface="汉仪文黑-55W" pitchFamily="18" charset="-122"/>
                <a:sym typeface="+mn-ea"/>
              </a:rPr>
              <a:t>亿美元，司美格鲁肽销售 </a:t>
            </a:r>
            <a:r>
              <a:rPr lang="en-US" altLang="zh-CN" sz="1600" dirty="0">
                <a:solidFill>
                  <a:prstClr val="black"/>
                </a:solidFill>
                <a:latin typeface="Arial" panose="020B0604020202090204" pitchFamily="34" charset="0"/>
                <a:ea typeface="汉仪文黑-55W" pitchFamily="18" charset="-122"/>
                <a:sym typeface="+mn-ea"/>
              </a:rPr>
              <a:t>175.25 </a:t>
            </a:r>
            <a:r>
              <a:rPr lang="zh-CN" altLang="en-US" sz="1600" dirty="0">
                <a:solidFill>
                  <a:prstClr val="black"/>
                </a:solidFill>
                <a:latin typeface="Arial" panose="020B0604020202090204" pitchFamily="34" charset="0"/>
                <a:ea typeface="汉仪文黑-55W" pitchFamily="18" charset="-122"/>
                <a:sym typeface="+mn-ea"/>
              </a:rPr>
              <a:t>亿美元，分别位列全球销售的</a:t>
            </a:r>
            <a:r>
              <a:rPr lang="en-US" altLang="zh-CN" sz="1600" dirty="0">
                <a:solidFill>
                  <a:prstClr val="black"/>
                </a:solidFill>
                <a:latin typeface="Arial" panose="020B0604020202090204" pitchFamily="34" charset="0"/>
                <a:ea typeface="汉仪文黑-55W" pitchFamily="18" charset="-122"/>
                <a:sym typeface="+mn-ea"/>
              </a:rPr>
              <a:t>TOP1</a:t>
            </a:r>
            <a:r>
              <a:rPr lang="zh-CN" altLang="en-US" sz="1600" dirty="0">
                <a:solidFill>
                  <a:prstClr val="black"/>
                </a:solidFill>
                <a:latin typeface="Arial" panose="020B0604020202090204" pitchFamily="34" charset="0"/>
                <a:ea typeface="汉仪文黑-55W" pitchFamily="18" charset="-122"/>
                <a:sym typeface="+mn-ea"/>
              </a:rPr>
              <a:t>和</a:t>
            </a:r>
            <a:r>
              <a:rPr lang="en-US" altLang="zh-CN" sz="1600" dirty="0">
                <a:solidFill>
                  <a:prstClr val="black"/>
                </a:solidFill>
                <a:latin typeface="Arial" panose="020B0604020202090204" pitchFamily="34" charset="0"/>
                <a:ea typeface="汉仪文黑-55W" pitchFamily="18" charset="-122"/>
                <a:sym typeface="+mn-ea"/>
              </a:rPr>
              <a:t>TOP2</a:t>
            </a:r>
            <a:r>
              <a:rPr lang="zh-CN" altLang="en-US" sz="1600" dirty="0">
                <a:solidFill>
                  <a:prstClr val="black"/>
                </a:solidFill>
                <a:latin typeface="Arial" panose="020B0604020202090204" pitchFamily="34" charset="0"/>
                <a:ea typeface="汉仪文黑-55W" pitchFamily="18" charset="-122"/>
                <a:sym typeface="+mn-ea"/>
              </a:rPr>
              <a:t>，两品种合计销售</a:t>
            </a:r>
            <a:r>
              <a:rPr lang="en-US" altLang="zh-CN" sz="1600" dirty="0">
                <a:solidFill>
                  <a:prstClr val="black"/>
                </a:solidFill>
                <a:latin typeface="Arial" panose="020B0604020202090204" pitchFamily="34" charset="0"/>
                <a:ea typeface="汉仪文黑-55W" pitchFamily="18" charset="-122"/>
                <a:sym typeface="+mn-ea"/>
              </a:rPr>
              <a:t>452.18</a:t>
            </a:r>
            <a:r>
              <a:rPr lang="zh-CN" altLang="en-US" sz="1600" dirty="0">
                <a:solidFill>
                  <a:prstClr val="black"/>
                </a:solidFill>
                <a:latin typeface="Arial" panose="020B0604020202090204" pitchFamily="34" charset="0"/>
                <a:ea typeface="汉仪文黑-55W" pitchFamily="18" charset="-122"/>
                <a:sym typeface="+mn-ea"/>
              </a:rPr>
              <a:t>亿美元。</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年</a:t>
            </a:r>
            <a:r>
              <a:rPr lang="en-US" altLang="zh-CN" sz="1600" dirty="0">
                <a:solidFill>
                  <a:prstClr val="black"/>
                </a:solidFill>
                <a:latin typeface="Arial" panose="020B0604020202090204" pitchFamily="34" charset="0"/>
                <a:ea typeface="汉仪文黑-55W" pitchFamily="18" charset="-122"/>
                <a:sym typeface="+mn-ea"/>
              </a:rPr>
              <a:t>7</a:t>
            </a:r>
            <a:r>
              <a:rPr lang="zh-CN" altLang="en-US" sz="1600" dirty="0">
                <a:solidFill>
                  <a:prstClr val="black"/>
                </a:solidFill>
                <a:latin typeface="Arial" panose="020B0604020202090204" pitchFamily="34" charset="0"/>
                <a:ea typeface="汉仪文黑-55W" pitchFamily="18" charset="-122"/>
                <a:sym typeface="+mn-ea"/>
              </a:rPr>
              <a:t>月</a:t>
            </a:r>
            <a:r>
              <a:rPr lang="en-US" altLang="zh-CN" sz="1600" dirty="0">
                <a:solidFill>
                  <a:prstClr val="black"/>
                </a:solidFill>
                <a:latin typeface="Arial" panose="020B0604020202090204" pitchFamily="34" charset="0"/>
                <a:ea typeface="汉仪文黑-55W" pitchFamily="18" charset="-122"/>
                <a:sym typeface="+mn-ea"/>
              </a:rPr>
              <a:t>9</a:t>
            </a:r>
            <a:r>
              <a:rPr lang="zh-CN" altLang="en-US" sz="1600" dirty="0">
                <a:solidFill>
                  <a:prstClr val="black"/>
                </a:solidFill>
                <a:latin typeface="Arial" panose="020B0604020202090204" pitchFamily="34" charset="0"/>
                <a:ea typeface="汉仪文黑-55W" pitchFamily="18" charset="-122"/>
                <a:sym typeface="+mn-ea"/>
              </a:rPr>
              <a:t>日，欧洲肥胖研究学会联合发布全球首部</a:t>
            </a:r>
            <a:r>
              <a:rPr lang="en-US" altLang="zh-CN" sz="1600" dirty="0">
                <a:solidFill>
                  <a:prstClr val="black"/>
                </a:solidFill>
                <a:latin typeface="Arial" panose="020B0604020202090204" pitchFamily="34" charset="0"/>
                <a:ea typeface="汉仪文黑-55W" pitchFamily="18" charset="-122"/>
                <a:sym typeface="+mn-ea"/>
              </a:rPr>
              <a:t>《GLP-1</a:t>
            </a:r>
            <a:r>
              <a:rPr lang="zh-CN" altLang="en-US" sz="1600" dirty="0">
                <a:solidFill>
                  <a:prstClr val="black"/>
                </a:solidFill>
                <a:latin typeface="Arial" panose="020B0604020202090204" pitchFamily="34" charset="0"/>
                <a:ea typeface="汉仪文黑-55W" pitchFamily="18" charset="-122"/>
                <a:sym typeface="+mn-ea"/>
              </a:rPr>
              <a:t>减重专家共识</a:t>
            </a:r>
            <a:r>
              <a:rPr lang="en-US" altLang="zh-CN" sz="1600" dirty="0">
                <a:solidFill>
                  <a:prstClr val="black"/>
                </a:solidFill>
                <a:latin typeface="Arial" panose="020B0604020202090204" pitchFamily="34" charset="0"/>
                <a:ea typeface="汉仪文黑-55W" pitchFamily="18" charset="-122"/>
                <a:sym typeface="+mn-ea"/>
              </a:rPr>
              <a:t>》</a:t>
            </a:r>
            <a:r>
              <a:rPr lang="zh-CN" altLang="en-US" sz="1600" dirty="0">
                <a:solidFill>
                  <a:prstClr val="black"/>
                </a:solidFill>
                <a:latin typeface="Arial" panose="020B0604020202090204" pitchFamily="34" charset="0"/>
                <a:ea typeface="汉仪文黑-55W" pitchFamily="18" charset="-122"/>
                <a:sym typeface="+mn-ea"/>
              </a:rPr>
              <a:t>，进一步提升</a:t>
            </a:r>
            <a:r>
              <a:rPr lang="en-US" altLang="zh-CN" sz="1600" dirty="0">
                <a:solidFill>
                  <a:prstClr val="black"/>
                </a:solidFill>
                <a:latin typeface="Arial" panose="020B0604020202090204" pitchFamily="34" charset="0"/>
                <a:ea typeface="汉仪文黑-55W" pitchFamily="18" charset="-122"/>
                <a:sym typeface="+mn-ea"/>
              </a:rPr>
              <a:t>GLP-1</a:t>
            </a:r>
            <a:r>
              <a:rPr lang="zh-CN" altLang="en-US" sz="1600" dirty="0">
                <a:solidFill>
                  <a:prstClr val="black"/>
                </a:solidFill>
                <a:latin typeface="Arial" panose="020B0604020202090204" pitchFamily="34" charset="0"/>
                <a:ea typeface="汉仪文黑-55W" pitchFamily="18" charset="-122"/>
                <a:sym typeface="+mn-ea"/>
              </a:rPr>
              <a:t>类药物在减重的产业地位。新药方面，礼来的口服小分子</a:t>
            </a:r>
            <a:r>
              <a:rPr lang="en-US" altLang="zh-CN" sz="1600" dirty="0">
                <a:solidFill>
                  <a:prstClr val="black"/>
                </a:solidFill>
                <a:latin typeface="Arial" panose="020B0604020202090204" pitchFamily="34" charset="0"/>
                <a:ea typeface="汉仪文黑-55W" pitchFamily="18" charset="-122"/>
                <a:sym typeface="+mn-ea"/>
              </a:rPr>
              <a:t>GLP-1( </a:t>
            </a:r>
            <a:r>
              <a:rPr lang="en-US" altLang="zh-CN" sz="1600" dirty="0" err="1">
                <a:solidFill>
                  <a:prstClr val="black"/>
                </a:solidFill>
                <a:latin typeface="Arial" panose="020B0604020202090204" pitchFamily="34" charset="0"/>
                <a:ea typeface="汉仪文黑-55W" pitchFamily="18" charset="-122"/>
                <a:sym typeface="+mn-ea"/>
              </a:rPr>
              <a:t>Orforglipron</a:t>
            </a:r>
            <a:r>
              <a:rPr lang="en-US" altLang="zh-CN" sz="1600" dirty="0">
                <a:solidFill>
                  <a:prstClr val="black"/>
                </a:solidFill>
                <a:latin typeface="Arial" panose="020B0604020202090204" pitchFamily="34" charset="0"/>
                <a:ea typeface="汉仪文黑-55W" pitchFamily="18" charset="-122"/>
                <a:sym typeface="+mn-ea"/>
              </a:rPr>
              <a:t> ) </a:t>
            </a:r>
            <a:r>
              <a:rPr lang="zh-CN" altLang="en-US" sz="1600" dirty="0">
                <a:solidFill>
                  <a:prstClr val="black"/>
                </a:solidFill>
                <a:latin typeface="Arial" panose="020B0604020202090204" pitchFamily="34" charset="0"/>
                <a:ea typeface="汉仪文黑-55W" pitchFamily="18" charset="-122"/>
                <a:sym typeface="+mn-ea"/>
              </a:rPr>
              <a:t>已上市，三靶点激动剂 </a:t>
            </a:r>
            <a:r>
              <a:rPr lang="en-US" altLang="zh-CN" sz="1600" dirty="0" err="1">
                <a:solidFill>
                  <a:prstClr val="black"/>
                </a:solidFill>
                <a:latin typeface="Arial" panose="020B0604020202090204" pitchFamily="34" charset="0"/>
                <a:ea typeface="汉仪文黑-55W" pitchFamily="18" charset="-122"/>
                <a:sym typeface="+mn-ea"/>
              </a:rPr>
              <a:t>Retatrutide</a:t>
            </a:r>
            <a:r>
              <a:rPr lang="en-US" altLang="zh-CN" sz="1600" dirty="0">
                <a:solidFill>
                  <a:prstClr val="black"/>
                </a:solidFill>
                <a:latin typeface="Arial" panose="020B0604020202090204" pitchFamily="34" charset="0"/>
                <a:ea typeface="汉仪文黑-55W" pitchFamily="18" charset="-122"/>
                <a:sym typeface="+mn-ea"/>
              </a:rPr>
              <a:t> </a:t>
            </a:r>
            <a:r>
              <a:rPr lang="zh-CN" altLang="en-US" sz="1600" dirty="0">
                <a:solidFill>
                  <a:prstClr val="black"/>
                </a:solidFill>
                <a:latin typeface="Arial" panose="020B0604020202090204" pitchFamily="34" charset="0"/>
                <a:ea typeface="汉仪文黑-55W" pitchFamily="18" charset="-122"/>
                <a:sym typeface="+mn-ea"/>
              </a:rPr>
              <a:t>划于</a:t>
            </a:r>
            <a:r>
              <a:rPr lang="en-US" altLang="zh-CN" sz="1600" dirty="0">
                <a:solidFill>
                  <a:prstClr val="black"/>
                </a:solidFill>
                <a:latin typeface="Arial" panose="020B0604020202090204" pitchFamily="34" charset="0"/>
                <a:ea typeface="汉仪文黑-55W" pitchFamily="18" charset="-122"/>
                <a:sym typeface="+mn-ea"/>
              </a:rPr>
              <a:t>2027</a:t>
            </a:r>
            <a:r>
              <a:rPr lang="zh-CN" altLang="en-US" sz="1600" dirty="0">
                <a:solidFill>
                  <a:prstClr val="black"/>
                </a:solidFill>
                <a:latin typeface="Arial" panose="020B0604020202090204" pitchFamily="34" charset="0"/>
                <a:ea typeface="汉仪文黑-55W" pitchFamily="18" charset="-122"/>
                <a:sym typeface="+mn-ea"/>
              </a:rPr>
              <a:t>年第一季度向美国</a:t>
            </a:r>
            <a:r>
              <a:rPr lang="en-US" altLang="zh-CN" sz="1600" dirty="0">
                <a:solidFill>
                  <a:prstClr val="black"/>
                </a:solidFill>
                <a:latin typeface="Arial" panose="020B0604020202090204" pitchFamily="34" charset="0"/>
                <a:ea typeface="汉仪文黑-55W" pitchFamily="18" charset="-122"/>
                <a:sym typeface="+mn-ea"/>
              </a:rPr>
              <a:t>FDA</a:t>
            </a:r>
            <a:r>
              <a:rPr lang="zh-CN" altLang="en-US" sz="1600" dirty="0">
                <a:solidFill>
                  <a:prstClr val="black"/>
                </a:solidFill>
                <a:latin typeface="Arial" panose="020B0604020202090204" pitchFamily="34" charset="0"/>
                <a:ea typeface="汉仪文黑-55W" pitchFamily="18" charset="-122"/>
                <a:sym typeface="+mn-ea"/>
              </a:rPr>
              <a:t>递交上市申请。相对于礼来，国内企业仍在持续的追赶，而且展现更强的后发潜力。联邦制药的三靶点</a:t>
            </a:r>
            <a:r>
              <a:rPr lang="en-US" altLang="zh-CN" sz="1600" dirty="0">
                <a:solidFill>
                  <a:prstClr val="black"/>
                </a:solidFill>
                <a:latin typeface="Arial" panose="020B0604020202090204" pitchFamily="34" charset="0"/>
                <a:ea typeface="汉仪文黑-55W" pitchFamily="18" charset="-122"/>
                <a:sym typeface="+mn-ea"/>
              </a:rPr>
              <a:t>UBT251</a:t>
            </a:r>
            <a:r>
              <a:rPr lang="zh-CN" altLang="en-US" sz="1600" dirty="0">
                <a:solidFill>
                  <a:prstClr val="black"/>
                </a:solidFill>
                <a:latin typeface="Arial" panose="020B0604020202090204" pitchFamily="34" charset="0"/>
                <a:ea typeface="汉仪文黑-55W" pitchFamily="18" charset="-122"/>
                <a:sym typeface="+mn-ea"/>
              </a:rPr>
              <a:t>注射液</a:t>
            </a:r>
            <a:r>
              <a:rPr lang="en-US" altLang="zh-CN" sz="1600" dirty="0">
                <a:solidFill>
                  <a:prstClr val="black"/>
                </a:solidFill>
                <a:latin typeface="Arial" panose="020B0604020202090204" pitchFamily="34" charset="0"/>
                <a:ea typeface="汉仪文黑-55W" pitchFamily="18" charset="-122"/>
                <a:sym typeface="+mn-ea"/>
              </a:rPr>
              <a:t>II</a:t>
            </a:r>
            <a:r>
              <a:rPr lang="zh-CN" altLang="en-US" sz="1600" dirty="0">
                <a:solidFill>
                  <a:prstClr val="black"/>
                </a:solidFill>
                <a:latin typeface="Arial" panose="020B0604020202090204" pitchFamily="34" charset="0"/>
                <a:ea typeface="汉仪文黑-55W" pitchFamily="18" charset="-122"/>
                <a:sym typeface="+mn-ea"/>
              </a:rPr>
              <a:t>期研究结果亮相 </a:t>
            </a:r>
            <a:r>
              <a:rPr lang="en-US" altLang="zh-CN" sz="1600" dirty="0">
                <a:solidFill>
                  <a:prstClr val="black"/>
                </a:solidFill>
                <a:latin typeface="Arial" panose="020B0604020202090204" pitchFamily="34" charset="0"/>
                <a:ea typeface="汉仪文黑-55W" pitchFamily="18" charset="-122"/>
                <a:sym typeface="+mn-ea"/>
              </a:rPr>
              <a:t>2026 ADA</a:t>
            </a:r>
            <a:r>
              <a:rPr lang="zh-CN" altLang="en-US" sz="1600" dirty="0">
                <a:solidFill>
                  <a:prstClr val="black"/>
                </a:solidFill>
                <a:latin typeface="Arial" panose="020B0604020202090204" pitchFamily="34" charset="0"/>
                <a:ea typeface="汉仪文黑-55W" pitchFamily="18" charset="-122"/>
                <a:sym typeface="+mn-ea"/>
              </a:rPr>
              <a:t>，在安全性和耐受性方面，</a:t>
            </a:r>
            <a:r>
              <a:rPr lang="en-US" altLang="zh-CN" sz="1600" dirty="0">
                <a:solidFill>
                  <a:prstClr val="black"/>
                </a:solidFill>
                <a:latin typeface="Arial" panose="020B0604020202090204" pitchFamily="34" charset="0"/>
                <a:ea typeface="汉仪文黑-55W" pitchFamily="18" charset="-122"/>
                <a:sym typeface="+mn-ea"/>
              </a:rPr>
              <a:t>UBT251</a:t>
            </a:r>
            <a:r>
              <a:rPr lang="zh-CN" altLang="en-US" sz="1600" dirty="0">
                <a:solidFill>
                  <a:prstClr val="black"/>
                </a:solidFill>
                <a:latin typeface="Arial" panose="020B0604020202090204" pitchFamily="34" charset="0"/>
                <a:ea typeface="汉仪文黑-55W" pitchFamily="18" charset="-122"/>
                <a:sym typeface="+mn-ea"/>
              </a:rPr>
              <a:t>展现更好的优势，同时减重效果和</a:t>
            </a:r>
            <a:r>
              <a:rPr lang="en-US" altLang="zh-CN" sz="1600" dirty="0">
                <a:solidFill>
                  <a:prstClr val="black"/>
                </a:solidFill>
                <a:latin typeface="Arial" panose="020B0604020202090204" pitchFamily="34" charset="0"/>
                <a:ea typeface="汉仪文黑-55W" pitchFamily="18" charset="-122"/>
                <a:sym typeface="+mn-ea"/>
              </a:rPr>
              <a:t>Retatrutide </a:t>
            </a:r>
            <a:r>
              <a:rPr lang="zh-CN" altLang="en-US" sz="1600" dirty="0">
                <a:solidFill>
                  <a:prstClr val="black"/>
                </a:solidFill>
                <a:latin typeface="Arial" panose="020B0604020202090204" pitchFamily="34" charset="0"/>
                <a:ea typeface="汉仪文黑-55W" pitchFamily="18" charset="-122"/>
                <a:sym typeface="+mn-ea"/>
              </a:rPr>
              <a:t>二期 </a:t>
            </a:r>
            <a:r>
              <a:rPr lang="en-US" altLang="zh-CN" sz="1600" dirty="0">
                <a:solidFill>
                  <a:prstClr val="black"/>
                </a:solidFill>
                <a:latin typeface="Arial" panose="020B0604020202090204" pitchFamily="34" charset="0"/>
                <a:ea typeface="汉仪文黑-55W" pitchFamily="18" charset="-122"/>
                <a:sym typeface="+mn-ea"/>
              </a:rPr>
              <a:t>24</a:t>
            </a:r>
            <a:r>
              <a:rPr lang="zh-CN" altLang="en-US" sz="1600" dirty="0">
                <a:solidFill>
                  <a:prstClr val="black"/>
                </a:solidFill>
                <a:latin typeface="Arial" panose="020B0604020202090204" pitchFamily="34" charset="0"/>
                <a:ea typeface="汉仪文黑-55W" pitchFamily="18" charset="-122"/>
                <a:sym typeface="+mn-ea"/>
              </a:rPr>
              <a:t>周结果相近。</a:t>
            </a:r>
            <a:r>
              <a:rPr lang="en-US" altLang="zh-CN" sz="1600" dirty="0">
                <a:solidFill>
                  <a:prstClr val="black"/>
                </a:solidFill>
                <a:latin typeface="Arial" panose="020B0604020202090204" pitchFamily="34" charset="0"/>
                <a:ea typeface="汉仪文黑-55W" pitchFamily="18" charset="-122"/>
                <a:sym typeface="+mn-ea"/>
              </a:rPr>
              <a:t>6</a:t>
            </a:r>
            <a:r>
              <a:rPr lang="zh-CN" altLang="en-US" sz="1600" dirty="0">
                <a:solidFill>
                  <a:prstClr val="black"/>
                </a:solidFill>
                <a:latin typeface="Arial" panose="020B0604020202090204" pitchFamily="34" charset="0"/>
                <a:ea typeface="汉仪文黑-55W" pitchFamily="18" charset="-122"/>
                <a:sym typeface="+mn-ea"/>
              </a:rPr>
              <a:t>月</a:t>
            </a:r>
            <a:r>
              <a:rPr lang="en-US" altLang="zh-CN" sz="1600" dirty="0">
                <a:solidFill>
                  <a:prstClr val="black"/>
                </a:solidFill>
                <a:latin typeface="Arial" panose="020B0604020202090204" pitchFamily="34" charset="0"/>
                <a:ea typeface="汉仪文黑-55W" pitchFamily="18" charset="-122"/>
                <a:sym typeface="+mn-ea"/>
              </a:rPr>
              <a:t>15</a:t>
            </a:r>
            <a:r>
              <a:rPr lang="zh-CN" altLang="en-US" sz="1600" dirty="0">
                <a:solidFill>
                  <a:prstClr val="black"/>
                </a:solidFill>
                <a:latin typeface="Arial" panose="020B0604020202090204" pitchFamily="34" charset="0"/>
                <a:ea typeface="汉仪文黑-55W" pitchFamily="18" charset="-122"/>
                <a:sym typeface="+mn-ea"/>
              </a:rPr>
              <a:t>日，联邦制药登记了一项 </a:t>
            </a:r>
            <a:r>
              <a:rPr lang="en-US" altLang="zh-CN" sz="1600" dirty="0">
                <a:solidFill>
                  <a:prstClr val="black"/>
                </a:solidFill>
                <a:latin typeface="Arial" panose="020B0604020202090204" pitchFamily="34" charset="0"/>
                <a:ea typeface="汉仪文黑-55W" pitchFamily="18" charset="-122"/>
                <a:sym typeface="+mn-ea"/>
              </a:rPr>
              <a:t>UBT251 </a:t>
            </a:r>
            <a:r>
              <a:rPr lang="zh-CN" altLang="en-US" sz="1600" dirty="0">
                <a:solidFill>
                  <a:prstClr val="black"/>
                </a:solidFill>
                <a:latin typeface="Arial" panose="020B0604020202090204" pitchFamily="34" charset="0"/>
                <a:ea typeface="汉仪文黑-55W" pitchFamily="18" charset="-122"/>
                <a:sym typeface="+mn-ea"/>
              </a:rPr>
              <a:t>注射液 </a:t>
            </a:r>
            <a:r>
              <a:rPr lang="en-US" altLang="zh-CN" sz="1600" dirty="0">
                <a:solidFill>
                  <a:prstClr val="black"/>
                </a:solidFill>
                <a:latin typeface="Arial" panose="020B0604020202090204" pitchFamily="34" charset="0"/>
                <a:ea typeface="汉仪文黑-55W" pitchFamily="18" charset="-122"/>
                <a:sym typeface="+mn-ea"/>
              </a:rPr>
              <a:t>III </a:t>
            </a:r>
            <a:r>
              <a:rPr lang="zh-CN" altLang="en-US" sz="1600" dirty="0">
                <a:solidFill>
                  <a:prstClr val="black"/>
                </a:solidFill>
                <a:latin typeface="Arial" panose="020B0604020202090204" pitchFamily="34" charset="0"/>
                <a:ea typeface="汉仪文黑-55W" pitchFamily="18" charset="-122"/>
                <a:sym typeface="+mn-ea"/>
              </a:rPr>
              <a:t>期（超重</a:t>
            </a:r>
            <a:r>
              <a:rPr lang="en-US" altLang="zh-CN" sz="1600" dirty="0">
                <a:solidFill>
                  <a:prstClr val="black"/>
                </a:solidFill>
                <a:latin typeface="Arial" panose="020B0604020202090204" pitchFamily="34" charset="0"/>
                <a:ea typeface="汉仪文黑-55W" pitchFamily="18" charset="-122"/>
                <a:sym typeface="+mn-ea"/>
              </a:rPr>
              <a:t>/</a:t>
            </a:r>
            <a:r>
              <a:rPr lang="zh-CN" altLang="en-US" sz="1600" dirty="0">
                <a:solidFill>
                  <a:prstClr val="black"/>
                </a:solidFill>
                <a:latin typeface="Arial" panose="020B0604020202090204" pitchFamily="34" charset="0"/>
                <a:ea typeface="汉仪文黑-55W" pitchFamily="18" charset="-122"/>
                <a:sym typeface="+mn-ea"/>
              </a:rPr>
              <a:t>肥胖）临床试验。口服小分子方面，</a:t>
            </a:r>
            <a:r>
              <a:rPr lang="en-US" altLang="zh-CN" sz="1600" dirty="0">
                <a:solidFill>
                  <a:prstClr val="black"/>
                </a:solidFill>
                <a:latin typeface="Arial" panose="020B0604020202090204" pitchFamily="34" charset="0"/>
                <a:ea typeface="汉仪文黑-55W" pitchFamily="18" charset="-122"/>
                <a:sym typeface="+mn-ea"/>
              </a:rPr>
              <a:t>7</a:t>
            </a:r>
            <a:r>
              <a:rPr lang="zh-CN" altLang="en-US" sz="1600" dirty="0">
                <a:solidFill>
                  <a:prstClr val="black"/>
                </a:solidFill>
                <a:latin typeface="Arial" panose="020B0604020202090204" pitchFamily="34" charset="0"/>
                <a:ea typeface="汉仪文黑-55W" pitchFamily="18" charset="-122"/>
                <a:sym typeface="+mn-ea"/>
              </a:rPr>
              <a:t>月</a:t>
            </a:r>
            <a:r>
              <a:rPr lang="en-US" altLang="zh-CN" sz="1600" dirty="0">
                <a:solidFill>
                  <a:prstClr val="black"/>
                </a:solidFill>
                <a:latin typeface="Arial" panose="020B0604020202090204" pitchFamily="34" charset="0"/>
                <a:ea typeface="汉仪文黑-55W" pitchFamily="18" charset="-122"/>
                <a:sym typeface="+mn-ea"/>
              </a:rPr>
              <a:t>22</a:t>
            </a:r>
            <a:r>
              <a:rPr lang="zh-CN" altLang="en-US" sz="1600" dirty="0">
                <a:solidFill>
                  <a:prstClr val="black"/>
                </a:solidFill>
                <a:latin typeface="Arial" panose="020B0604020202090204" pitchFamily="34" charset="0"/>
                <a:ea typeface="汉仪文黑-55W" pitchFamily="18" charset="-122"/>
                <a:sym typeface="+mn-ea"/>
              </a:rPr>
              <a:t>日，甘李药业的</a:t>
            </a:r>
            <a:r>
              <a:rPr lang="en-US" altLang="zh-CN" sz="1600" dirty="0">
                <a:solidFill>
                  <a:prstClr val="black"/>
                </a:solidFill>
                <a:latin typeface="Arial" panose="020B0604020202090204" pitchFamily="34" charset="0"/>
                <a:ea typeface="汉仪文黑-55W" pitchFamily="18" charset="-122"/>
                <a:sym typeface="+mn-ea"/>
              </a:rPr>
              <a:t>GZC8072</a:t>
            </a:r>
            <a:r>
              <a:rPr lang="zh-CN" altLang="en-US" sz="1600" dirty="0">
                <a:solidFill>
                  <a:prstClr val="black"/>
                </a:solidFill>
                <a:latin typeface="Arial" panose="020B0604020202090204" pitchFamily="34" charset="0"/>
                <a:ea typeface="汉仪文黑-55W" pitchFamily="18" charset="-122"/>
                <a:sym typeface="+mn-ea"/>
              </a:rPr>
              <a:t>片申报临床，区别于礼来的</a:t>
            </a:r>
            <a:r>
              <a:rPr lang="en-US" altLang="zh-CN" sz="1600" dirty="0" err="1">
                <a:solidFill>
                  <a:prstClr val="black"/>
                </a:solidFill>
                <a:latin typeface="Arial" panose="020B0604020202090204" pitchFamily="34" charset="0"/>
                <a:ea typeface="汉仪文黑-55W" pitchFamily="18" charset="-122"/>
                <a:sym typeface="+mn-ea"/>
              </a:rPr>
              <a:t>Orforglipron</a:t>
            </a:r>
            <a:r>
              <a:rPr lang="zh-CN" altLang="en-US" sz="1600" dirty="0">
                <a:solidFill>
                  <a:prstClr val="black"/>
                </a:solidFill>
                <a:latin typeface="Arial" panose="020B0604020202090204" pitchFamily="34" charset="0"/>
                <a:ea typeface="汉仪文黑-55W" pitchFamily="18" charset="-122"/>
                <a:sym typeface="+mn-ea"/>
              </a:rPr>
              <a:t>的日制剂，</a:t>
            </a:r>
            <a:r>
              <a:rPr lang="en-US" altLang="zh-CN" sz="1600" dirty="0">
                <a:solidFill>
                  <a:prstClr val="black"/>
                </a:solidFill>
                <a:latin typeface="Arial" panose="020B0604020202090204" pitchFamily="34" charset="0"/>
                <a:ea typeface="汉仪文黑-55W" pitchFamily="18" charset="-122"/>
                <a:sym typeface="+mn-ea"/>
              </a:rPr>
              <a:t>GZC8072</a:t>
            </a:r>
            <a:r>
              <a:rPr lang="zh-CN" altLang="en-US" sz="1600" dirty="0">
                <a:solidFill>
                  <a:prstClr val="black"/>
                </a:solidFill>
                <a:latin typeface="Arial" panose="020B0604020202090204" pitchFamily="34" charset="0"/>
                <a:ea typeface="汉仪文黑-55W" pitchFamily="18" charset="-122"/>
                <a:sym typeface="+mn-ea"/>
              </a:rPr>
              <a:t>片是基于天然</a:t>
            </a:r>
            <a:r>
              <a:rPr lang="en-US" altLang="zh-CN" sz="1600" dirty="0">
                <a:solidFill>
                  <a:prstClr val="black"/>
                </a:solidFill>
                <a:latin typeface="Arial" panose="020B0604020202090204" pitchFamily="34" charset="0"/>
                <a:ea typeface="汉仪文黑-55W" pitchFamily="18" charset="-122"/>
                <a:sym typeface="+mn-ea"/>
              </a:rPr>
              <a:t>GLP-1</a:t>
            </a:r>
            <a:r>
              <a:rPr lang="zh-CN" altLang="en-US" sz="1600" dirty="0">
                <a:solidFill>
                  <a:prstClr val="black"/>
                </a:solidFill>
                <a:latin typeface="Arial" panose="020B0604020202090204" pitchFamily="34" charset="0"/>
                <a:ea typeface="汉仪文黑-55W" pitchFamily="18" charset="-122"/>
                <a:sym typeface="+mn-ea"/>
              </a:rPr>
              <a:t>开发的超长效多肽类似物新药口服周制剂。</a:t>
            </a:r>
            <a:endParaRPr lang="en-US" altLang="zh-CN" sz="1600" dirty="0">
              <a:solidFill>
                <a:prstClr val="black"/>
              </a:solidFill>
              <a:latin typeface="Arial" panose="020B0604020202090204" pitchFamily="34" charset="0"/>
              <a:ea typeface="汉仪文黑-55W" pitchFamily="18"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1" i="0" u="none" strike="noStrike" kern="1200" cap="none" spc="0" normalizeH="0" baseline="0" noProof="0" dirty="0" smtClean="0">
                <a:ln>
                  <a:noFill/>
                </a:ln>
                <a:solidFill>
                  <a:prstClr val="white">
                    <a:lumMod val="85000"/>
                  </a:prstClr>
                </a:solidFill>
                <a:effectLst/>
                <a:uLnTx/>
                <a:uFillTx/>
                <a:latin typeface="汉仪文黑-55W" pitchFamily="18" charset="-122"/>
                <a:ea typeface="汉仪文黑-55W" pitchFamily="18" charset="-122"/>
                <a:cs typeface="+mn-cs"/>
                <a:sym typeface="+mn-ea"/>
              </a:rPr>
              <a:t>8</a:t>
            </a:r>
            <a:endParaRPr kumimoji="0" lang="zh-CN" altLang="en-US" sz="1400" b="1" i="0" u="none" strike="noStrike" kern="1200" cap="none" spc="0" normalizeH="0" baseline="0" noProof="0" dirty="0">
              <a:ln>
                <a:noFill/>
              </a:ln>
              <a:solidFill>
                <a:prstClr val="black"/>
              </a:solidFill>
              <a:effectLst/>
              <a:uLnTx/>
              <a:uFillTx/>
              <a:latin typeface="汉仪文黑-55W" pitchFamily="18" charset="-122"/>
              <a:ea typeface="汉仪文黑-55W" pitchFamily="18" charset="-122"/>
              <a:cs typeface="+mn-cs"/>
            </a:endParaRPr>
          </a:p>
        </p:txBody>
      </p:sp>
      <p:sp>
        <p:nvSpPr>
          <p:cNvPr id="14" name="文本框 13"/>
          <p:cNvSpPr txBox="1"/>
          <p:nvPr/>
        </p:nvSpPr>
        <p:spPr>
          <a:xfrm>
            <a:off x="514350" y="254000"/>
            <a:ext cx="2321214" cy="461665"/>
          </a:xfrm>
          <a:prstGeom prst="rect">
            <a:avLst/>
          </a:prstGeom>
          <a:noFill/>
        </p:spPr>
        <p:txBody>
          <a:bodyPr wrap="square" lIns="0"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时尚中黑简体" charset="-122"/>
                <a:sym typeface="+mn-ea"/>
              </a:rPr>
              <a:t>医药行业观点</a:t>
            </a:r>
          </a:p>
        </p:txBody>
      </p:sp>
      <p:sp>
        <p:nvSpPr>
          <p:cNvPr id="5" name="文本框 4"/>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诚信、专业、稳健、高效</a:t>
            </a:r>
          </a:p>
        </p:txBody>
      </p:sp>
      <p:sp>
        <p:nvSpPr>
          <p:cNvPr id="6" name="文本框 5"/>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请阅读最后一页重要免责声明</a:t>
            </a:r>
          </a:p>
        </p:txBody>
      </p:sp>
      <p:sp>
        <p:nvSpPr>
          <p:cNvPr id="2" name="文本框 1" descr="BDCONTENTCONTROL_AUTO_SAVE_Summary1"/>
          <p:cNvSpPr txBox="1"/>
          <p:nvPr/>
        </p:nvSpPr>
        <p:spPr>
          <a:xfrm>
            <a:off x="352107" y="1144518"/>
            <a:ext cx="11296650" cy="51051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smtClean="0">
                <a:ln>
                  <a:noFill/>
                </a:ln>
                <a:solidFill>
                  <a:srgbClr val="5A2781"/>
                </a:solidFill>
                <a:effectLst/>
                <a:uLnTx/>
                <a:uFillTx/>
                <a:latin typeface="汉仪文黑-55W" pitchFamily="18" charset="-122"/>
                <a:ea typeface="汉仪文黑-55W" pitchFamily="18" charset="-122"/>
                <a:cs typeface="+mn-cs"/>
                <a:sym typeface="+mn-ea"/>
              </a:rPr>
              <a:t>7.</a:t>
            </a: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rPr>
              <a:t>线下</a:t>
            </a:r>
            <a:r>
              <a:rPr lang="zh-CN" altLang="en-US" sz="2400" b="1" dirty="0">
                <a:solidFill>
                  <a:srgbClr val="5A2781"/>
                </a:solidFill>
                <a:latin typeface="汉仪文黑-55W" pitchFamily="18" charset="-122"/>
                <a:ea typeface="汉仪文黑-55W" pitchFamily="18" charset="-122"/>
                <a:sym typeface="+mn-ea"/>
              </a:rPr>
              <a:t>药店总量持续出清，龙头经营优化，</a:t>
            </a: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mn-cs"/>
                <a:sym typeface="+mn-ea"/>
              </a:rPr>
              <a:t>长期关注产业整合</a:t>
            </a:r>
            <a:endParaRPr lang="en-US" altLang="zh-CN" sz="2400" b="1" dirty="0">
              <a:solidFill>
                <a:srgbClr val="5A2781"/>
              </a:solidFill>
              <a:latin typeface="汉仪文黑-55W" pitchFamily="18" charset="-122"/>
              <a:ea typeface="汉仪文黑-55W" pitchFamily="18" charset="-122"/>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endParaRPr>
          </a:p>
          <a:p>
            <a:pPr algn="just">
              <a:lnSpc>
                <a:spcPct val="150000"/>
              </a:lnSpc>
              <a:defRPr/>
            </a:pP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全国药店总量持续出清。根据中康资讯，全国药店总量在</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2024</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Q3</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达到约</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70.6</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万家，之后持续下降，截至</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2025</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Q4</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，已经连续</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5</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个季度关店数量超过</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1</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万家，</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2026</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Q1</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门店数净减少约</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3400</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家。供给的逐步出清</a:t>
            </a:r>
            <a:r>
              <a:rPr lang="zh-CN" altLang="en-US" sz="1600" dirty="0">
                <a:solidFill>
                  <a:prstClr val="black"/>
                </a:solidFill>
                <a:latin typeface="Arial" panose="020B0604020202090204" pitchFamily="34" charset="0"/>
                <a:ea typeface="汉仪文黑-55W" pitchFamily="18" charset="-122"/>
                <a:sym typeface="+mn-ea"/>
              </a:rPr>
              <a:t>，新开门店节奏放缓，</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年同店客流迎来逐步恢复，根据米内网数据，</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年</a:t>
            </a:r>
            <a:r>
              <a:rPr lang="en-US" altLang="zh-CN" sz="1600" dirty="0">
                <a:solidFill>
                  <a:prstClr val="black"/>
                </a:solidFill>
                <a:latin typeface="Arial" panose="020B0604020202090204" pitchFamily="34" charset="0"/>
                <a:ea typeface="汉仪文黑-55W" pitchFamily="18" charset="-122"/>
                <a:sym typeface="+mn-ea"/>
              </a:rPr>
              <a:t>5</a:t>
            </a:r>
            <a:r>
              <a:rPr lang="zh-CN" altLang="en-US" sz="1600" dirty="0">
                <a:solidFill>
                  <a:prstClr val="black"/>
                </a:solidFill>
                <a:latin typeface="Arial" panose="020B0604020202090204" pitchFamily="34" charset="0"/>
                <a:ea typeface="汉仪文黑-55W" pitchFamily="18" charset="-122"/>
                <a:sym typeface="+mn-ea"/>
              </a:rPr>
              <a:t>月的店均客流量为</a:t>
            </a:r>
            <a:r>
              <a:rPr lang="en-US" altLang="zh-CN" sz="1600" dirty="0">
                <a:solidFill>
                  <a:prstClr val="black"/>
                </a:solidFill>
                <a:latin typeface="Arial" panose="020B0604020202090204" pitchFamily="34" charset="0"/>
                <a:ea typeface="汉仪文黑-55W" pitchFamily="18" charset="-122"/>
                <a:sym typeface="+mn-ea"/>
              </a:rPr>
              <a:t>1686</a:t>
            </a:r>
            <a:r>
              <a:rPr lang="zh-CN" altLang="en-US" sz="1600" dirty="0">
                <a:solidFill>
                  <a:prstClr val="black"/>
                </a:solidFill>
                <a:latin typeface="Arial" panose="020B0604020202090204" pitchFamily="34" charset="0"/>
                <a:ea typeface="汉仪文黑-55W" pitchFamily="18" charset="-122"/>
                <a:sym typeface="+mn-ea"/>
              </a:rPr>
              <a:t>人次（含</a:t>
            </a:r>
            <a:r>
              <a:rPr lang="en-US" altLang="zh-CN" sz="1600" dirty="0">
                <a:solidFill>
                  <a:prstClr val="black"/>
                </a:solidFill>
                <a:latin typeface="Arial" panose="020B0604020202090204" pitchFamily="34" charset="0"/>
                <a:ea typeface="汉仪文黑-55W" pitchFamily="18" charset="-122"/>
                <a:sym typeface="+mn-ea"/>
              </a:rPr>
              <a:t>O2O</a:t>
            </a:r>
            <a:r>
              <a:rPr lang="zh-CN" altLang="en-US" sz="1600" dirty="0">
                <a:solidFill>
                  <a:prstClr val="black"/>
                </a:solidFill>
                <a:latin typeface="Arial" panose="020B0604020202090204" pitchFamily="34" charset="0"/>
                <a:ea typeface="汉仪文黑-55W" pitchFamily="18" charset="-122"/>
                <a:sym typeface="+mn-ea"/>
              </a:rPr>
              <a:t>配送），同比提升</a:t>
            </a:r>
            <a:r>
              <a:rPr lang="en-US" altLang="zh-CN" sz="1600" dirty="0">
                <a:solidFill>
                  <a:prstClr val="black"/>
                </a:solidFill>
                <a:latin typeface="Arial" panose="020B0604020202090204" pitchFamily="34" charset="0"/>
                <a:ea typeface="汉仪文黑-55W" pitchFamily="18" charset="-122"/>
                <a:sym typeface="+mn-ea"/>
              </a:rPr>
              <a:t>5.8%</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。刚性需求部分是支撑客单价的重要基础。根据米内网数据，</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2026</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1-5</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月药品</a:t>
            </a:r>
            <a:r>
              <a:rPr lang="zh-CN" altLang="en-US" sz="1600" dirty="0">
                <a:solidFill>
                  <a:prstClr val="black"/>
                </a:solidFill>
                <a:latin typeface="Arial" panose="020B0604020202090204" pitchFamily="34" charset="0"/>
                <a:ea typeface="汉仪文黑-55W" pitchFamily="18" charset="-122"/>
                <a:sym typeface="+mn-ea"/>
              </a:rPr>
              <a:t>销售累计同比增长</a:t>
            </a:r>
            <a:r>
              <a:rPr lang="en-US" altLang="zh-CN" sz="1600" dirty="0">
                <a:solidFill>
                  <a:prstClr val="black"/>
                </a:solidFill>
                <a:latin typeface="Arial" panose="020B0604020202090204" pitchFamily="34" charset="0"/>
                <a:ea typeface="汉仪文黑-55W" pitchFamily="18" charset="-122"/>
                <a:sym typeface="+mn-ea"/>
              </a:rPr>
              <a:t>1.5%</a:t>
            </a:r>
            <a:r>
              <a:rPr lang="zh-CN" altLang="en-US" sz="1600" dirty="0">
                <a:solidFill>
                  <a:prstClr val="black"/>
                </a:solidFill>
                <a:latin typeface="Arial" panose="020B0604020202090204" pitchFamily="34" charset="0"/>
                <a:ea typeface="汉仪文黑-55W" pitchFamily="18" charset="-122"/>
                <a:sym typeface="+mn-ea"/>
              </a:rPr>
              <a:t>，药品销售</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占比提升至</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82.8%</a:t>
            </a:r>
            <a:r>
              <a:rPr lang="zh-CN" altLang="en-US" sz="1600" dirty="0">
                <a:solidFill>
                  <a:prstClr val="black"/>
                </a:solidFill>
                <a:latin typeface="Arial" panose="020B0604020202090204" pitchFamily="34" charset="0"/>
                <a:ea typeface="汉仪文黑-55W" pitchFamily="18" charset="-122"/>
                <a:sym typeface="+mn-ea"/>
              </a:rPr>
              <a:t>。政策方面，此前担忧医保个人账改革对药店医保支付承压，实际上从医保支出数据来看依然保持稳定。</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根据医保局</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2025</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年统计公报，</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2025</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年职工医保参保人员药店费用</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2157.99</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亿元，居民医保参保人员药店购药费用</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296.69</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亿元，两项合计</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2454.68</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亿元，对比</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2024</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年同期，仍有增长。经营效益方面，</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2025</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年多数连锁药店选择战略性收缩或谨慎扩张，重心转向提升单店产出和盈利能力。数据显示，</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2025</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年百强企业平均综合毛利率为</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30.9%</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，平均净利润率为</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3.2%</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，较</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2024</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年分别回升</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0.5</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和</a:t>
            </a:r>
            <a:r>
              <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1</a:t>
            </a:r>
            <a:r>
              <a:rPr kumimoji="0" lang="zh-CN" altLang="en-US"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rPr>
              <a:t>个百分点。</a:t>
            </a:r>
            <a:r>
              <a:rPr lang="zh-CN" altLang="en-US" sz="1600" dirty="0">
                <a:solidFill>
                  <a:prstClr val="black"/>
                </a:solidFill>
                <a:latin typeface="Arial" panose="020B0604020202090204" pitchFamily="34" charset="0"/>
                <a:ea typeface="汉仪文黑-55W" pitchFamily="18" charset="-122"/>
                <a:sym typeface="+mn-ea"/>
              </a:rPr>
              <a:t>行业集中度提升是推动连锁药店上市公司增长的重要因素，</a:t>
            </a:r>
            <a:r>
              <a:rPr lang="en-US" altLang="zh-CN" sz="1600" dirty="0">
                <a:solidFill>
                  <a:prstClr val="black"/>
                </a:solidFill>
                <a:latin typeface="Arial" panose="020B0604020202090204" pitchFamily="34" charset="0"/>
                <a:ea typeface="汉仪文黑-55W" pitchFamily="18" charset="-122"/>
                <a:sym typeface="+mn-ea"/>
              </a:rPr>
              <a:t>2024~2025</a:t>
            </a:r>
            <a:r>
              <a:rPr lang="zh-CN" altLang="en-US" sz="1600" dirty="0">
                <a:solidFill>
                  <a:prstClr val="black"/>
                </a:solidFill>
                <a:latin typeface="Arial" panose="020B0604020202090204" pitchFamily="34" charset="0"/>
                <a:ea typeface="汉仪文黑-55W" pitchFamily="18" charset="-122"/>
                <a:sym typeface="+mn-ea"/>
              </a:rPr>
              <a:t>年行业出清阶段，上市企业也进行了优化管理，新开和并购步伐显著放缓。根据中康药店通数据，</a:t>
            </a:r>
            <a:r>
              <a:rPr lang="en-US" altLang="zh-CN" sz="1600" dirty="0">
                <a:solidFill>
                  <a:prstClr val="black"/>
                </a:solidFill>
                <a:latin typeface="Arial" panose="020B0604020202090204" pitchFamily="34" charset="0"/>
                <a:ea typeface="汉仪文黑-55W" pitchFamily="18" charset="-122"/>
                <a:sym typeface="+mn-ea"/>
              </a:rPr>
              <a:t>2025</a:t>
            </a:r>
            <a:r>
              <a:rPr lang="zh-CN" altLang="en-US" sz="1600" dirty="0">
                <a:solidFill>
                  <a:prstClr val="black"/>
                </a:solidFill>
                <a:latin typeface="Arial" panose="020B0604020202090204" pitchFamily="34" charset="0"/>
                <a:ea typeface="汉仪文黑-55W" pitchFamily="18" charset="-122"/>
                <a:sym typeface="+mn-ea"/>
              </a:rPr>
              <a:t>年全国</a:t>
            </a:r>
            <a:r>
              <a:rPr lang="en-US" altLang="zh-CN" sz="1600" dirty="0">
                <a:solidFill>
                  <a:prstClr val="black"/>
                </a:solidFill>
                <a:latin typeface="Arial" panose="020B0604020202090204" pitchFamily="34" charset="0"/>
                <a:ea typeface="汉仪文黑-55W" pitchFamily="18" charset="-122"/>
                <a:sym typeface="+mn-ea"/>
              </a:rPr>
              <a:t>Top20</a:t>
            </a:r>
            <a:r>
              <a:rPr lang="zh-CN" altLang="en-US" sz="1600" dirty="0">
                <a:solidFill>
                  <a:prstClr val="black"/>
                </a:solidFill>
                <a:latin typeface="Arial" panose="020B0604020202090204" pitchFamily="34" charset="0"/>
                <a:ea typeface="汉仪文黑-55W" pitchFamily="18" charset="-122"/>
                <a:sym typeface="+mn-ea"/>
              </a:rPr>
              <a:t>连锁中，仅</a:t>
            </a:r>
            <a:r>
              <a:rPr lang="en-US" altLang="zh-CN" sz="1600" dirty="0">
                <a:solidFill>
                  <a:prstClr val="black"/>
                </a:solidFill>
                <a:latin typeface="Arial" panose="020B0604020202090204" pitchFamily="34" charset="0"/>
                <a:ea typeface="汉仪文黑-55W" pitchFamily="18" charset="-122"/>
                <a:sym typeface="+mn-ea"/>
              </a:rPr>
              <a:t>5</a:t>
            </a:r>
            <a:r>
              <a:rPr lang="zh-CN" altLang="en-US" sz="1600" dirty="0">
                <a:solidFill>
                  <a:prstClr val="black"/>
                </a:solidFill>
                <a:latin typeface="Arial" panose="020B0604020202090204" pitchFamily="34" charset="0"/>
                <a:ea typeface="汉仪文黑-55W" pitchFamily="18" charset="-122"/>
                <a:sym typeface="+mn-ea"/>
              </a:rPr>
              <a:t>家连锁实现门店净增长。根据</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年</a:t>
            </a:r>
            <a:r>
              <a:rPr lang="en-US" altLang="zh-CN" sz="1600" dirty="0">
                <a:solidFill>
                  <a:prstClr val="black"/>
                </a:solidFill>
                <a:latin typeface="Arial" panose="020B0604020202090204" pitchFamily="34" charset="0"/>
                <a:ea typeface="汉仪文黑-55W" pitchFamily="18" charset="-122"/>
                <a:sym typeface="+mn-ea"/>
              </a:rPr>
              <a:t>Q1</a:t>
            </a:r>
            <a:r>
              <a:rPr lang="zh-CN" altLang="en-US" sz="1600" dirty="0">
                <a:solidFill>
                  <a:prstClr val="black"/>
                </a:solidFill>
                <a:latin typeface="Arial" panose="020B0604020202090204" pitchFamily="34" charset="0"/>
                <a:ea typeface="汉仪文黑-55W" pitchFamily="18" charset="-122"/>
                <a:sym typeface="+mn-ea"/>
              </a:rPr>
              <a:t>财报，益丰药房和健之佳实现单季度门店数量的净增长，内生增长逐步恢复。</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年</a:t>
            </a:r>
            <a:r>
              <a:rPr lang="en-US" altLang="zh-CN" sz="1600" dirty="0">
                <a:solidFill>
                  <a:prstClr val="black"/>
                </a:solidFill>
                <a:latin typeface="Arial" panose="020B0604020202090204" pitchFamily="34" charset="0"/>
                <a:ea typeface="汉仪文黑-55W" pitchFamily="18" charset="-122"/>
                <a:sym typeface="+mn-ea"/>
              </a:rPr>
              <a:t>Q1</a:t>
            </a:r>
            <a:r>
              <a:rPr lang="zh-CN" altLang="en-US" sz="1600" dirty="0">
                <a:solidFill>
                  <a:prstClr val="black"/>
                </a:solidFill>
                <a:latin typeface="Arial" panose="020B0604020202090204" pitchFamily="34" charset="0"/>
                <a:ea typeface="汉仪文黑-55W" pitchFamily="18" charset="-122"/>
                <a:sym typeface="+mn-ea"/>
              </a:rPr>
              <a:t>，大参林进行了两项同行业投资并购业务，涉及门店数为 </a:t>
            </a:r>
            <a:r>
              <a:rPr lang="en-US" altLang="zh-CN" sz="1600" dirty="0">
                <a:solidFill>
                  <a:prstClr val="black"/>
                </a:solidFill>
                <a:latin typeface="Arial" panose="020B0604020202090204" pitchFamily="34" charset="0"/>
                <a:ea typeface="汉仪文黑-55W" pitchFamily="18" charset="-122"/>
                <a:sym typeface="+mn-ea"/>
              </a:rPr>
              <a:t>58 </a:t>
            </a:r>
            <a:r>
              <a:rPr lang="zh-CN" altLang="en-US" sz="1600" dirty="0">
                <a:solidFill>
                  <a:prstClr val="black"/>
                </a:solidFill>
                <a:latin typeface="Arial" panose="020B0604020202090204" pitchFamily="34" charset="0"/>
                <a:ea typeface="汉仪文黑-55W" pitchFamily="18" charset="-122"/>
                <a:sym typeface="+mn-ea"/>
              </a:rPr>
              <a:t>家，药店整合并购步伐有望在</a:t>
            </a:r>
            <a:r>
              <a:rPr lang="en-US" altLang="zh-CN" sz="1600" dirty="0">
                <a:solidFill>
                  <a:prstClr val="black"/>
                </a:solidFill>
                <a:latin typeface="Arial" panose="020B0604020202090204" pitchFamily="34" charset="0"/>
                <a:ea typeface="汉仪文黑-55W" pitchFamily="18" charset="-122"/>
                <a:sym typeface="+mn-ea"/>
              </a:rPr>
              <a:t>2026</a:t>
            </a:r>
            <a:r>
              <a:rPr lang="zh-CN" altLang="en-US" sz="1600" dirty="0">
                <a:solidFill>
                  <a:prstClr val="black"/>
                </a:solidFill>
                <a:latin typeface="Arial" panose="020B0604020202090204" pitchFamily="34" charset="0"/>
                <a:ea typeface="汉仪文黑-55W" pitchFamily="18" charset="-122"/>
                <a:sym typeface="+mn-ea"/>
              </a:rPr>
              <a:t>年恢复。</a:t>
            </a:r>
            <a:endParaRPr kumimoji="0" lang="en-US" altLang="zh-CN" sz="1600" b="0" i="0" u="none" strike="noStrike" kern="1200" cap="none" spc="0" normalizeH="0" baseline="0" noProof="0" dirty="0">
              <a:ln>
                <a:noFill/>
              </a:ln>
              <a:solidFill>
                <a:prstClr val="black"/>
              </a:solidFill>
              <a:effectLst/>
              <a:uLnTx/>
              <a:uFillTx/>
              <a:latin typeface="Arial" panose="020B0604020202090204" pitchFamily="34" charset="0"/>
              <a:ea typeface="汉仪文黑-55W" pitchFamily="18" charset="-122"/>
              <a:cs typeface="+mn-cs"/>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b="1" dirty="0">
                <a:solidFill>
                  <a:prstClr val="white">
                    <a:lumMod val="85000"/>
                  </a:prstClr>
                </a:solidFill>
                <a:latin typeface="汉仪文黑-55W" pitchFamily="18" charset="-122"/>
                <a:ea typeface="汉仪文黑-55W" pitchFamily="18" charset="-122"/>
                <a:sym typeface="+mn-ea"/>
              </a:rPr>
              <a:t>9</a:t>
            </a:r>
            <a:endParaRPr kumimoji="0" lang="zh-CN" altLang="en-US" sz="1400" b="1" i="0" u="none" strike="noStrike" kern="1200" cap="none" spc="0" normalizeH="0" baseline="0" noProof="0" dirty="0">
              <a:ln>
                <a:noFill/>
              </a:ln>
              <a:solidFill>
                <a:prstClr val="black"/>
              </a:solidFill>
              <a:effectLst/>
              <a:uLnTx/>
              <a:uFillTx/>
              <a:latin typeface="汉仪文黑-55W" pitchFamily="18" charset="-122"/>
              <a:ea typeface="汉仪文黑-55W" pitchFamily="18" charset="-122"/>
              <a:cs typeface="+mn-cs"/>
            </a:endParaRPr>
          </a:p>
        </p:txBody>
      </p:sp>
      <p:sp>
        <p:nvSpPr>
          <p:cNvPr id="14" name="文本框 13"/>
          <p:cNvSpPr txBox="1"/>
          <p:nvPr/>
        </p:nvSpPr>
        <p:spPr>
          <a:xfrm>
            <a:off x="505113" y="217054"/>
            <a:ext cx="3632777" cy="461665"/>
          </a:xfrm>
          <a:prstGeom prst="rect">
            <a:avLst/>
          </a:prstGeom>
          <a:noFill/>
        </p:spPr>
        <p:txBody>
          <a:bodyPr wrap="square" lIns="0" rtlCol="0" anchor="t">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rgbClr val="5A2781"/>
                </a:solidFill>
                <a:effectLst/>
                <a:uLnTx/>
                <a:uFillTx/>
                <a:latin typeface="汉仪文黑-55W" pitchFamily="18" charset="-122"/>
                <a:ea typeface="汉仪文黑-55W" pitchFamily="18" charset="-122"/>
                <a:cs typeface="时尚中黑简体" charset="-122"/>
                <a:sym typeface="+mn-ea"/>
              </a:rPr>
              <a:t>医药推选及选股推荐思路</a:t>
            </a:r>
          </a:p>
        </p:txBody>
      </p:sp>
      <p:sp>
        <p:nvSpPr>
          <p:cNvPr id="5" name="文本框 4"/>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诚信、专业、稳健、高效</a:t>
            </a:r>
          </a:p>
        </p:txBody>
      </p:sp>
      <p:sp>
        <p:nvSpPr>
          <p:cNvPr id="6" name="文本框 5"/>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E7E6E6"/>
                </a:solidFill>
                <a:effectLst/>
                <a:uLnTx/>
                <a:uFillTx/>
                <a:latin typeface="汉仪文黑-55W" pitchFamily="18" charset="-122"/>
                <a:ea typeface="汉仪文黑-55W" pitchFamily="18" charset="-122"/>
                <a:cs typeface="+mn-cs"/>
              </a:rPr>
              <a:t>请阅读最后一页重要免责声明</a:t>
            </a:r>
          </a:p>
        </p:txBody>
      </p:sp>
      <p:sp>
        <p:nvSpPr>
          <p:cNvPr id="3" name="文本框 2" descr="BDCONTENTCONTROL_AUTO_SAVE_Summary2"/>
          <p:cNvSpPr txBox="1"/>
          <p:nvPr/>
        </p:nvSpPr>
        <p:spPr>
          <a:xfrm>
            <a:off x="437049" y="986786"/>
            <a:ext cx="11420133" cy="5256567"/>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en-US" altLang="zh-CN" sz="1500" b="0" i="0" u="none" strike="noStrike" kern="1200" cap="none" spc="0" normalizeH="0" baseline="0" noProof="0" dirty="0">
                <a:ln>
                  <a:noFill/>
                </a:ln>
                <a:solidFill>
                  <a:prstClr val="black"/>
                </a:solidFill>
                <a:effectLst/>
                <a:uLnTx/>
                <a:uFillTx/>
                <a:latin typeface="汉仪文黑-55W" pitchFamily="18" charset="-122"/>
                <a:ea typeface="汉仪文黑-55W" pitchFamily="18" charset="-122"/>
                <a:cs typeface="+mn-cs"/>
                <a:sym typeface="+mn-ea"/>
              </a:rPr>
              <a:t>2026</a:t>
            </a:r>
            <a:r>
              <a:rPr kumimoji="0" lang="zh-CN" altLang="en-US" sz="1500" b="0" i="0" u="none" strike="noStrike" kern="1200" cap="none" spc="0" normalizeH="0" baseline="0" noProof="0" dirty="0">
                <a:ln>
                  <a:noFill/>
                </a:ln>
                <a:solidFill>
                  <a:prstClr val="black"/>
                </a:solidFill>
                <a:effectLst/>
                <a:uLnTx/>
                <a:uFillTx/>
                <a:latin typeface="汉仪文黑-55W" pitchFamily="18" charset="-122"/>
                <a:ea typeface="汉仪文黑-55W" pitchFamily="18" charset="-122"/>
                <a:cs typeface="+mn-cs"/>
                <a:sym typeface="+mn-ea"/>
              </a:rPr>
              <a:t>年中国创新出海趋势持续强化，市场对创新药配置回升带来估值修复的弹性，维持医药行业“推荐”的评级，具体的推选方向和选股思路如下：</a:t>
            </a:r>
            <a:endParaRPr kumimoji="0" lang="en-US" altLang="zh-CN" sz="1500" b="0" i="0" u="none" strike="noStrike" kern="1200" cap="none" spc="0" normalizeH="0" baseline="0" noProof="0" dirty="0">
              <a:ln>
                <a:noFill/>
              </a:ln>
              <a:solidFill>
                <a:prstClr val="black"/>
              </a:solidFill>
              <a:effectLst/>
              <a:uLnTx/>
              <a:uFillTx/>
              <a:latin typeface="汉仪文黑-55W" pitchFamily="18" charset="-122"/>
              <a:ea typeface="汉仪文黑-55W" pitchFamily="18" charset="-122"/>
              <a:cs typeface="+mn-cs"/>
              <a:sym typeface="+mn-ea"/>
            </a:endParaRPr>
          </a:p>
          <a:p>
            <a:pPr marL="0" marR="0" lvl="0" indent="0" algn="just" defTabSz="914400" rtl="0" eaLnBrk="1" fontAlgn="auto" latinLnBrk="0" hangingPunct="1">
              <a:lnSpc>
                <a:spcPct val="150000"/>
              </a:lnSpc>
              <a:spcBef>
                <a:spcPts val="0"/>
              </a:spcBef>
              <a:spcAft>
                <a:spcPts val="0"/>
              </a:spcAft>
              <a:buClrTx/>
              <a:buSzTx/>
              <a:buFontTx/>
              <a:buNone/>
              <a:defRPr/>
            </a:pPr>
            <a:endParaRPr kumimoji="0" lang="en-US" altLang="zh-CN" sz="1500" b="0" i="0" u="none" strike="noStrike" kern="1200" cap="none" spc="0" normalizeH="0" baseline="0" noProof="0" dirty="0">
              <a:ln>
                <a:noFill/>
              </a:ln>
              <a:solidFill>
                <a:prstClr val="black"/>
              </a:solidFill>
              <a:effectLst/>
              <a:uLnTx/>
              <a:uFillTx/>
              <a:latin typeface="汉仪文黑-55W" pitchFamily="18" charset="-122"/>
              <a:ea typeface="汉仪文黑-55W" pitchFamily="18" charset="-122"/>
              <a:cs typeface="+mn-cs"/>
              <a:sym typeface="+mn-ea"/>
            </a:endParaRPr>
          </a:p>
          <a:p>
            <a:pPr lvl="0" algn="just">
              <a:lnSpc>
                <a:spcPct val="150000"/>
              </a:lnSpc>
              <a:defRPr/>
            </a:pPr>
            <a:r>
              <a:rPr lang="en-US" altLang="zh-CN" sz="1500" dirty="0">
                <a:solidFill>
                  <a:prstClr val="black"/>
                </a:solidFill>
                <a:latin typeface="汉仪文黑-55W" pitchFamily="18" charset="-122"/>
                <a:ea typeface="汉仪文黑-55W" pitchFamily="18" charset="-122"/>
                <a:sym typeface="+mn-ea"/>
              </a:rPr>
              <a:t>1</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CXO</a:t>
            </a:r>
            <a:r>
              <a:rPr lang="zh-CN" altLang="en-US" sz="1500" dirty="0">
                <a:solidFill>
                  <a:prstClr val="black"/>
                </a:solidFill>
                <a:latin typeface="汉仪文黑-55W" pitchFamily="18" charset="-122"/>
                <a:ea typeface="汉仪文黑-55W" pitchFamily="18" charset="-122"/>
                <a:sym typeface="+mn-ea"/>
              </a:rPr>
              <a:t>景气度进入业绩确认期，新签</a:t>
            </a:r>
            <a:r>
              <a:rPr lang="en-US" altLang="zh-CN" sz="1500" dirty="0">
                <a:solidFill>
                  <a:prstClr val="black"/>
                </a:solidFill>
                <a:latin typeface="汉仪文黑-55W" pitchFamily="18" charset="-122"/>
                <a:ea typeface="汉仪文黑-55W" pitchFamily="18" charset="-122"/>
                <a:sym typeface="+mn-ea"/>
              </a:rPr>
              <a:t>CDMO</a:t>
            </a:r>
            <a:r>
              <a:rPr lang="zh-CN" altLang="en-US" sz="1500" dirty="0">
                <a:solidFill>
                  <a:prstClr val="black"/>
                </a:solidFill>
                <a:latin typeface="汉仪文黑-55W" pitchFamily="18" charset="-122"/>
                <a:ea typeface="汉仪文黑-55W" pitchFamily="18" charset="-122"/>
                <a:sym typeface="+mn-ea"/>
              </a:rPr>
              <a:t>订单有望提升，估值有提升空间，推荐</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药明康德</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凯莱英</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九洲药业</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益诺思</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普蕊斯</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。早研方向关注</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药康生物</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endParaRPr lang="en-US" altLang="zh-CN" sz="1500" dirty="0">
              <a:solidFill>
                <a:prstClr val="black"/>
              </a:solidFill>
              <a:latin typeface="汉仪文黑-55W" pitchFamily="18" charset="-122"/>
              <a:ea typeface="汉仪文黑-55W" pitchFamily="18" charset="-122"/>
              <a:sym typeface="+mn-ea"/>
            </a:endParaRPr>
          </a:p>
          <a:p>
            <a:pPr marL="0" marR="0" lvl="0" indent="0" algn="just" defTabSz="914400" rtl="0" eaLnBrk="1" fontAlgn="auto" latinLnBrk="0" hangingPunct="1">
              <a:lnSpc>
                <a:spcPct val="150000"/>
              </a:lnSpc>
              <a:spcBef>
                <a:spcPts val="0"/>
              </a:spcBef>
              <a:spcAft>
                <a:spcPts val="0"/>
              </a:spcAft>
              <a:buClrTx/>
              <a:buSzTx/>
              <a:buFontTx/>
              <a:buNone/>
              <a:defRPr/>
            </a:pPr>
            <a:r>
              <a:rPr lang="en-US" altLang="zh-CN" sz="1500" dirty="0">
                <a:solidFill>
                  <a:prstClr val="black"/>
                </a:solidFill>
                <a:latin typeface="汉仪文黑-55W" pitchFamily="18" charset="-122"/>
                <a:ea typeface="汉仪文黑-55W" pitchFamily="18" charset="-122"/>
                <a:sym typeface="+mn-ea"/>
              </a:rPr>
              <a:t>2</a:t>
            </a:r>
            <a:r>
              <a:rPr lang="zh-CN" altLang="en-US" sz="1500" dirty="0">
                <a:solidFill>
                  <a:prstClr val="black"/>
                </a:solidFill>
                <a:latin typeface="汉仪文黑-55W" pitchFamily="18" charset="-122"/>
                <a:ea typeface="汉仪文黑-55W" pitchFamily="18" charset="-122"/>
                <a:sym typeface="+mn-ea"/>
              </a:rPr>
              <a:t>）自免领域，关注口服方向以及</a:t>
            </a:r>
            <a:r>
              <a:rPr lang="en-US" altLang="zh-CN" sz="1500" dirty="0">
                <a:solidFill>
                  <a:prstClr val="black"/>
                </a:solidFill>
                <a:latin typeface="汉仪文黑-55W" pitchFamily="18" charset="-122"/>
                <a:ea typeface="汉仪文黑-55W" pitchFamily="18" charset="-122"/>
                <a:sym typeface="+mn-ea"/>
              </a:rPr>
              <a:t>UC/IBD</a:t>
            </a:r>
            <a:r>
              <a:rPr lang="zh-CN" altLang="en-US" sz="1500" dirty="0">
                <a:solidFill>
                  <a:prstClr val="black"/>
                </a:solidFill>
                <a:latin typeface="汉仪文黑-55W" pitchFamily="18" charset="-122"/>
                <a:ea typeface="汉仪文黑-55W" pitchFamily="18" charset="-122"/>
                <a:sym typeface="+mn-ea"/>
              </a:rPr>
              <a:t>等难治领域的突破，推荐</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益方生物</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亚虹医药</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，关注</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荃信生物</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诺诚健华</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，国内商业化突破和重磅品种潜力，关注</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康诺亚</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p>
          <a:p>
            <a:pPr marL="0" marR="0" lvl="0" indent="0" algn="just" defTabSz="914400" rtl="0" eaLnBrk="1" fontAlgn="auto" latinLnBrk="0" hangingPunct="1">
              <a:lnSpc>
                <a:spcPct val="150000"/>
              </a:lnSpc>
              <a:spcBef>
                <a:spcPts val="0"/>
              </a:spcBef>
              <a:spcAft>
                <a:spcPts val="0"/>
              </a:spcAft>
              <a:buClrTx/>
              <a:buSzTx/>
              <a:buFontTx/>
              <a:buNone/>
              <a:defRPr/>
            </a:pPr>
            <a:r>
              <a:rPr lang="en-US" altLang="zh-CN" sz="1500" dirty="0">
                <a:solidFill>
                  <a:prstClr val="black"/>
                </a:solidFill>
                <a:latin typeface="汉仪文黑-55W" pitchFamily="18" charset="-122"/>
                <a:ea typeface="汉仪文黑-55W" pitchFamily="18" charset="-122"/>
                <a:sym typeface="+mn-ea"/>
              </a:rPr>
              <a:t>3</a:t>
            </a:r>
            <a:r>
              <a:rPr lang="zh-CN" altLang="en-US" sz="1500" dirty="0">
                <a:solidFill>
                  <a:prstClr val="black"/>
                </a:solidFill>
                <a:latin typeface="汉仪文黑-55W" pitchFamily="18" charset="-122"/>
                <a:ea typeface="汉仪文黑-55W" pitchFamily="18" charset="-122"/>
                <a:sym typeface="+mn-ea"/>
              </a:rPr>
              <a:t>）中国企业在</a:t>
            </a:r>
            <a:r>
              <a:rPr lang="en-US" altLang="zh-CN" sz="1500" dirty="0">
                <a:solidFill>
                  <a:prstClr val="black"/>
                </a:solidFill>
                <a:latin typeface="汉仪文黑-55W" pitchFamily="18" charset="-122"/>
                <a:ea typeface="汉仪文黑-55W" pitchFamily="18" charset="-122"/>
                <a:sym typeface="+mn-ea"/>
              </a:rPr>
              <a:t>MASH</a:t>
            </a:r>
            <a:r>
              <a:rPr lang="zh-CN" altLang="en-US" sz="1500" dirty="0">
                <a:solidFill>
                  <a:prstClr val="black"/>
                </a:solidFill>
                <a:latin typeface="汉仪文黑-55W" pitchFamily="18" charset="-122"/>
                <a:ea typeface="汉仪文黑-55W" pitchFamily="18" charset="-122"/>
                <a:sym typeface="+mn-ea"/>
              </a:rPr>
              <a:t>领域的进展和持续突破，有望实现出海突破，推荐</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众生药业</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p>
          <a:p>
            <a:pPr algn="just">
              <a:lnSpc>
                <a:spcPct val="150000"/>
              </a:lnSpc>
              <a:defRPr/>
            </a:pPr>
            <a:r>
              <a:rPr lang="en-US" altLang="zh-CN" sz="1500" dirty="0">
                <a:solidFill>
                  <a:prstClr val="black"/>
                </a:solidFill>
                <a:latin typeface="汉仪文黑-55W" pitchFamily="18" charset="-122"/>
                <a:ea typeface="汉仪文黑-55W" pitchFamily="18" charset="-122"/>
                <a:sym typeface="+mn-ea"/>
              </a:rPr>
              <a:t>4</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GLP-1</a:t>
            </a:r>
            <a:r>
              <a:rPr lang="zh-CN" altLang="en-US" sz="1500" dirty="0">
                <a:solidFill>
                  <a:prstClr val="black"/>
                </a:solidFill>
                <a:latin typeface="汉仪文黑-55W" pitchFamily="18" charset="-122"/>
                <a:ea typeface="汉仪文黑-55W" pitchFamily="18" charset="-122"/>
                <a:sym typeface="+mn-ea"/>
              </a:rPr>
              <a:t>创新出海，推荐</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众生药业</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歌礼制药</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，关注</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联邦制药</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恒瑞医药</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甘李药业</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endParaRPr lang="en-US" altLang="zh-CN" sz="1500" dirty="0">
              <a:solidFill>
                <a:prstClr val="black"/>
              </a:solidFill>
              <a:latin typeface="汉仪文黑-55W" pitchFamily="18" charset="-122"/>
              <a:ea typeface="汉仪文黑-55W" pitchFamily="18" charset="-122"/>
              <a:sym typeface="+mn-ea"/>
            </a:endParaRPr>
          </a:p>
          <a:p>
            <a:pPr algn="just">
              <a:lnSpc>
                <a:spcPct val="150000"/>
              </a:lnSpc>
              <a:defRPr/>
            </a:pPr>
            <a:r>
              <a:rPr lang="en-US" altLang="zh-CN" sz="1500" dirty="0">
                <a:solidFill>
                  <a:prstClr val="black"/>
                </a:solidFill>
                <a:latin typeface="汉仪文黑-55W" pitchFamily="18" charset="-122"/>
                <a:ea typeface="汉仪文黑-55W" pitchFamily="18" charset="-122"/>
                <a:sym typeface="+mn-ea"/>
              </a:rPr>
              <a:t>5</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KRAS</a:t>
            </a:r>
            <a:r>
              <a:rPr lang="zh-CN" altLang="en-US" sz="1500" dirty="0">
                <a:solidFill>
                  <a:prstClr val="black"/>
                </a:solidFill>
                <a:latin typeface="汉仪文黑-55W" pitchFamily="18" charset="-122"/>
                <a:ea typeface="汉仪文黑-55W" pitchFamily="18" charset="-122"/>
                <a:sym typeface="+mn-ea"/>
              </a:rPr>
              <a:t>靶点在胰腺癌等瘤种治疗的持续突破，关注</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加科思</a:t>
            </a:r>
            <a:r>
              <a:rPr lang="en-US" altLang="zh-CN" sz="1500" dirty="0">
                <a:solidFill>
                  <a:prstClr val="black"/>
                </a:solidFill>
                <a:latin typeface="汉仪文黑-55W" pitchFamily="18" charset="-122"/>
                <a:ea typeface="汉仪文黑-55W" pitchFamily="18" charset="-122"/>
                <a:sym typeface="+mn-ea"/>
              </a:rPr>
              <a:t>-B】</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劲方医药</a:t>
            </a:r>
            <a:r>
              <a:rPr lang="en-US" altLang="zh-CN" sz="1500">
                <a:solidFill>
                  <a:prstClr val="black"/>
                </a:solidFill>
                <a:latin typeface="汉仪文黑-55W" pitchFamily="18" charset="-122"/>
                <a:ea typeface="汉仪文黑-55W" pitchFamily="18" charset="-122"/>
                <a:sym typeface="+mn-ea"/>
              </a:rPr>
              <a:t>-B】</a:t>
            </a:r>
            <a:r>
              <a:rPr lang="zh-CN" altLang="en-US" sz="1500" dirty="0">
                <a:solidFill>
                  <a:prstClr val="black"/>
                </a:solidFill>
                <a:latin typeface="汉仪文黑-55W" pitchFamily="18" charset="-122"/>
                <a:ea typeface="汉仪文黑-55W" pitchFamily="18" charset="-122"/>
                <a:sym typeface="+mn-ea"/>
              </a:rPr>
              <a:t>，上游产业链配套关注</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康龙化成</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endParaRPr lang="en-US" altLang="zh-CN" sz="1500" dirty="0">
              <a:solidFill>
                <a:prstClr val="black"/>
              </a:solidFill>
              <a:latin typeface="汉仪文黑-55W" pitchFamily="18" charset="-122"/>
              <a:ea typeface="汉仪文黑-55W" pitchFamily="18" charset="-122"/>
              <a:sym typeface="+mn-ea"/>
            </a:endParaRPr>
          </a:p>
          <a:p>
            <a:pPr marL="0" marR="0" lvl="0" indent="0" algn="just" defTabSz="914400" rtl="0" eaLnBrk="1" fontAlgn="auto" latinLnBrk="0" hangingPunct="1">
              <a:lnSpc>
                <a:spcPct val="150000"/>
              </a:lnSpc>
              <a:spcBef>
                <a:spcPts val="0"/>
              </a:spcBef>
              <a:spcAft>
                <a:spcPts val="0"/>
              </a:spcAft>
              <a:buClrTx/>
              <a:buSzTx/>
              <a:buFontTx/>
              <a:buNone/>
              <a:defRPr/>
            </a:pPr>
            <a:r>
              <a:rPr lang="en-US" altLang="zh-CN" sz="1500" dirty="0">
                <a:solidFill>
                  <a:prstClr val="black"/>
                </a:solidFill>
                <a:latin typeface="汉仪文黑-55W" pitchFamily="18" charset="-122"/>
                <a:ea typeface="汉仪文黑-55W" pitchFamily="18" charset="-122"/>
                <a:sym typeface="+mn-ea"/>
              </a:rPr>
              <a:t>6</a:t>
            </a:r>
            <a:r>
              <a:rPr lang="zh-CN" altLang="en-US" sz="1500" dirty="0">
                <a:solidFill>
                  <a:prstClr val="black"/>
                </a:solidFill>
                <a:latin typeface="汉仪文黑-55W" pitchFamily="18" charset="-122"/>
                <a:ea typeface="汉仪文黑-55W" pitchFamily="18" charset="-122"/>
                <a:sym typeface="+mn-ea"/>
              </a:rPr>
              <a:t>）关注核药市场的发展机遇，推荐</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百洋医药</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东诚药业</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，关注</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中国同辐</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endParaRPr lang="en-US" altLang="zh-CN" sz="1500" dirty="0">
              <a:solidFill>
                <a:prstClr val="black"/>
              </a:solidFill>
              <a:latin typeface="汉仪文黑-55W" pitchFamily="18" charset="-122"/>
              <a:ea typeface="汉仪文黑-55W" pitchFamily="18" charset="-122"/>
              <a:sym typeface="+mn-ea"/>
            </a:endParaRPr>
          </a:p>
          <a:p>
            <a:pPr marL="0" marR="0" lvl="0" indent="0" algn="just" defTabSz="914400" rtl="0" eaLnBrk="1" fontAlgn="auto" latinLnBrk="0" hangingPunct="1">
              <a:lnSpc>
                <a:spcPct val="150000"/>
              </a:lnSpc>
              <a:spcBef>
                <a:spcPts val="0"/>
              </a:spcBef>
              <a:spcAft>
                <a:spcPts val="0"/>
              </a:spcAft>
              <a:buClrTx/>
              <a:buSzTx/>
              <a:buFontTx/>
              <a:buNone/>
              <a:defRPr/>
            </a:pPr>
            <a:r>
              <a:rPr lang="en-US" altLang="zh-CN" sz="1500" dirty="0">
                <a:solidFill>
                  <a:prstClr val="black"/>
                </a:solidFill>
                <a:latin typeface="汉仪文黑-55W" pitchFamily="18" charset="-122"/>
                <a:ea typeface="汉仪文黑-55W" pitchFamily="18" charset="-122"/>
                <a:sym typeface="+mn-ea"/>
              </a:rPr>
              <a:t>7</a:t>
            </a:r>
            <a:r>
              <a:rPr lang="zh-CN" altLang="en-US" sz="1500" dirty="0">
                <a:solidFill>
                  <a:prstClr val="black"/>
                </a:solidFill>
                <a:latin typeface="汉仪文黑-55W" pitchFamily="18" charset="-122"/>
                <a:ea typeface="汉仪文黑-55W" pitchFamily="18" charset="-122"/>
                <a:sym typeface="+mn-ea"/>
              </a:rPr>
              <a:t>）胰岛素和类似物出海突破，关注</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通化东宝</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东阳光药</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p>
          <a:p>
            <a:pPr algn="just">
              <a:lnSpc>
                <a:spcPct val="150000"/>
              </a:lnSpc>
              <a:defRPr/>
            </a:pPr>
            <a:r>
              <a:rPr lang="en-US" altLang="zh-CN" sz="1500" dirty="0">
                <a:solidFill>
                  <a:prstClr val="black"/>
                </a:solidFill>
                <a:latin typeface="汉仪文黑-55W" pitchFamily="18" charset="-122"/>
                <a:ea typeface="汉仪文黑-55W" pitchFamily="18" charset="-122"/>
                <a:sym typeface="+mn-ea"/>
              </a:rPr>
              <a:t>8</a:t>
            </a:r>
            <a:r>
              <a:rPr lang="zh-CN" altLang="en-US" sz="1500" dirty="0">
                <a:solidFill>
                  <a:prstClr val="black"/>
                </a:solidFill>
                <a:latin typeface="汉仪文黑-55W" pitchFamily="18" charset="-122"/>
                <a:ea typeface="汉仪文黑-55W" pitchFamily="18" charset="-122"/>
                <a:sym typeface="+mn-ea"/>
              </a:rPr>
              <a:t>）</a:t>
            </a:r>
            <a:r>
              <a:rPr lang="en-US" altLang="zh-CN" sz="1500" dirty="0">
                <a:solidFill>
                  <a:prstClr val="black"/>
                </a:solidFill>
                <a:latin typeface="汉仪文黑-55W" pitchFamily="18" charset="-122"/>
                <a:ea typeface="汉仪文黑-55W" pitchFamily="18" charset="-122"/>
                <a:sym typeface="+mn-ea"/>
              </a:rPr>
              <a:t>Q2</a:t>
            </a:r>
            <a:r>
              <a:rPr lang="zh-CN" altLang="en-US" sz="1500" dirty="0">
                <a:solidFill>
                  <a:prstClr val="black"/>
                </a:solidFill>
                <a:latin typeface="汉仪文黑-55W" pitchFamily="18" charset="-122"/>
                <a:ea typeface="汉仪文黑-55W" pitchFamily="18" charset="-122"/>
                <a:sym typeface="+mn-ea"/>
              </a:rPr>
              <a:t>同店趋势好转，行业并购整合节奏恢复，推荐</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益丰药房</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和</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老百姓</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endParaRPr lang="en-US" altLang="zh-CN" sz="1500" dirty="0">
              <a:solidFill>
                <a:prstClr val="black"/>
              </a:solidFill>
              <a:latin typeface="汉仪文黑-55W" pitchFamily="18" charset="-122"/>
              <a:ea typeface="汉仪文黑-55W" pitchFamily="18" charset="-122"/>
              <a:sym typeface="+mn-ea"/>
            </a:endParaRPr>
          </a:p>
          <a:p>
            <a:pPr algn="just">
              <a:lnSpc>
                <a:spcPct val="150000"/>
              </a:lnSpc>
              <a:defRPr/>
            </a:pPr>
            <a:r>
              <a:rPr lang="en-US" altLang="zh-CN" sz="1500" dirty="0">
                <a:solidFill>
                  <a:prstClr val="black"/>
                </a:solidFill>
                <a:latin typeface="汉仪文黑-55W" pitchFamily="18" charset="-122"/>
                <a:ea typeface="汉仪文黑-55W" pitchFamily="18" charset="-122"/>
                <a:sym typeface="+mn-ea"/>
              </a:rPr>
              <a:t>9</a:t>
            </a:r>
            <a:r>
              <a:rPr lang="zh-CN" altLang="en-US" sz="1500" dirty="0">
                <a:solidFill>
                  <a:prstClr val="black"/>
                </a:solidFill>
                <a:latin typeface="汉仪文黑-55W" pitchFamily="18" charset="-122"/>
                <a:ea typeface="汉仪文黑-55W" pitchFamily="18" charset="-122"/>
                <a:sym typeface="+mn-ea"/>
              </a:rPr>
              <a:t>）两用物项管理效果见证落地，中国产业链替代进程加速，粉体价格提升提升利润，推荐</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爱迪特</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，关注</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国瓷材料</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endParaRPr lang="en-US" altLang="zh-CN" sz="1500" dirty="0">
              <a:solidFill>
                <a:prstClr val="black"/>
              </a:solidFill>
              <a:latin typeface="汉仪文黑-55W" pitchFamily="18" charset="-122"/>
              <a:ea typeface="汉仪文黑-55W" pitchFamily="18" charset="-122"/>
              <a:sym typeface="+mn-ea"/>
            </a:endParaRPr>
          </a:p>
          <a:p>
            <a:pPr algn="just">
              <a:lnSpc>
                <a:spcPct val="150000"/>
              </a:lnSpc>
              <a:defRPr/>
            </a:pPr>
            <a:r>
              <a:rPr lang="en-US" altLang="zh-CN" sz="1500" dirty="0">
                <a:solidFill>
                  <a:prstClr val="black"/>
                </a:solidFill>
                <a:latin typeface="汉仪文黑-55W" pitchFamily="18" charset="-122"/>
                <a:ea typeface="汉仪文黑-55W" pitchFamily="18" charset="-122"/>
                <a:sym typeface="+mn-ea"/>
              </a:rPr>
              <a:t>10</a:t>
            </a:r>
            <a:r>
              <a:rPr lang="zh-CN" altLang="en-US" sz="1500" dirty="0">
                <a:solidFill>
                  <a:prstClr val="black"/>
                </a:solidFill>
                <a:latin typeface="汉仪文黑-55W" pitchFamily="18" charset="-122"/>
                <a:ea typeface="汉仪文黑-55W" pitchFamily="18" charset="-122"/>
                <a:sym typeface="+mn-ea"/>
              </a:rPr>
              <a:t>）放疗技术革新突破，推荐</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百洋医药</a:t>
            </a:r>
            <a:r>
              <a:rPr lang="en-US" altLang="zh-CN" sz="1500" dirty="0">
                <a:solidFill>
                  <a:prstClr val="black"/>
                </a:solidFill>
                <a:latin typeface="汉仪文黑-55W" pitchFamily="18" charset="-122"/>
                <a:ea typeface="汉仪文黑-55W" pitchFamily="18" charset="-122"/>
                <a:sym typeface="+mn-ea"/>
              </a:rPr>
              <a:t>】</a:t>
            </a:r>
            <a:r>
              <a:rPr lang="zh-CN" altLang="en-US" sz="1500" dirty="0">
                <a:solidFill>
                  <a:prstClr val="black"/>
                </a:solidFill>
                <a:latin typeface="汉仪文黑-55W" pitchFamily="18" charset="-122"/>
                <a:ea typeface="汉仪文黑-55W" pitchFamily="18" charset="-122"/>
                <a:sym typeface="+mn-ea"/>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文本框 35"/>
          <p:cNvSpPr txBox="1"/>
          <p:nvPr/>
        </p:nvSpPr>
        <p:spPr>
          <a:xfrm>
            <a:off x="516255" y="254000"/>
            <a:ext cx="4116070" cy="460375"/>
          </a:xfrm>
          <a:prstGeom prst="rect">
            <a:avLst/>
          </a:prstGeom>
          <a:noFill/>
        </p:spPr>
        <p:txBody>
          <a:bodyPr wrap="square" lIns="0" rtlCol="0" anchor="t">
            <a:spAutoFit/>
          </a:bodyPr>
          <a:lstStyle/>
          <a:p>
            <a:pPr lvl="0" algn="dist">
              <a:buClrTx/>
              <a:buSzTx/>
              <a:buFontTx/>
            </a:pPr>
            <a:r>
              <a:rPr lang="zh-CN" sz="2400" b="1" dirty="0">
                <a:solidFill>
                  <a:srgbClr val="5A2781"/>
                </a:solidFill>
                <a:latin typeface="汉仪文黑-55W" pitchFamily="18" charset="-122"/>
                <a:ea typeface="汉仪文黑-55W" pitchFamily="18" charset="-122"/>
                <a:cs typeface="时尚中黑简体" charset="-122"/>
                <a:sym typeface="+mn-ea"/>
              </a:rPr>
              <a:t>重点关注公司及盈利预测</a:t>
            </a:r>
          </a:p>
        </p:txBody>
      </p:sp>
      <p:sp>
        <p:nvSpPr>
          <p:cNvPr id="6" name="灯片编号占位符 5"/>
          <p:cNvSpPr>
            <a:spLocks noGrp="1"/>
          </p:cNvSpPr>
          <p:nvPr>
            <p:ph type="sldNum" sz="quarter" idx="12"/>
          </p:nvPr>
        </p:nvSpPr>
        <p:spPr/>
        <p:txBody>
          <a:bodyPr/>
          <a:lstStyle/>
          <a:p>
            <a:pPr algn="ctr"/>
            <a:r>
              <a:rPr lang="en-US" altLang="zh-CN" b="1" dirty="0">
                <a:solidFill>
                  <a:schemeClr val="bg1">
                    <a:lumMod val="85000"/>
                  </a:schemeClr>
                </a:solidFill>
                <a:latin typeface="汉仪文黑-55W" pitchFamily="18" charset="-122"/>
                <a:ea typeface="汉仪文黑-55W" pitchFamily="18" charset="-122"/>
                <a:sym typeface="+mn-ea"/>
              </a:rPr>
              <a:t>10</a:t>
            </a:r>
            <a:endParaRPr lang="zh-CN" altLang="en-US" b="1" dirty="0">
              <a:solidFill>
                <a:schemeClr val="bg1">
                  <a:lumMod val="85000"/>
                </a:schemeClr>
              </a:solidFill>
              <a:latin typeface="汉仪文黑-55W" pitchFamily="18" charset="-122"/>
              <a:ea typeface="汉仪文黑-55W" pitchFamily="18" charset="-122"/>
            </a:endParaRPr>
          </a:p>
        </p:txBody>
      </p:sp>
      <p:sp>
        <p:nvSpPr>
          <p:cNvPr id="3" name="文本框 2"/>
          <p:cNvSpPr txBox="1"/>
          <p:nvPr userDrawn="1"/>
        </p:nvSpPr>
        <p:spPr>
          <a:xfrm>
            <a:off x="506731" y="6310630"/>
            <a:ext cx="9187876" cy="276999"/>
          </a:xfrm>
          <a:prstGeom prst="rect">
            <a:avLst/>
          </a:prstGeom>
          <a:noFill/>
        </p:spPr>
        <p:txBody>
          <a:bodyPr wrap="square" lIns="0" rtlCol="0">
            <a:spAutoFit/>
          </a:bodyPr>
          <a:lstStyle/>
          <a:p>
            <a:r>
              <a:rPr lang="zh-CN" altLang="en-US" sz="1200" dirty="0">
                <a:solidFill>
                  <a:schemeClr val="tx1">
                    <a:lumMod val="65000"/>
                    <a:lumOff val="35000"/>
                  </a:schemeClr>
                </a:solidFill>
                <a:latin typeface="汉仪文黑-55W" pitchFamily="18" charset="-122"/>
                <a:ea typeface="汉仪文黑-55W" pitchFamily="18" charset="-122"/>
              </a:rPr>
              <a:t>资料来源</a:t>
            </a:r>
            <a:r>
              <a:rPr lang="zh-CN" altLang="en-US" sz="1200" dirty="0">
                <a:latin typeface="汉仪文黑-55W" pitchFamily="18" charset="-122"/>
                <a:ea typeface="汉仪文黑-55W" pitchFamily="18" charset="-122"/>
              </a:rPr>
              <a:t>：</a:t>
            </a:r>
            <a:r>
              <a:rPr lang="en-US" altLang="zh-CN" sz="1200" dirty="0">
                <a:latin typeface="汉仪文黑-55W" pitchFamily="18" charset="-122"/>
                <a:ea typeface="汉仪文黑-55W" pitchFamily="18" charset="-122"/>
              </a:rPr>
              <a:t>Wind</a:t>
            </a:r>
            <a:r>
              <a:rPr lang="zh-CN" altLang="en-US" sz="1200" dirty="0">
                <a:latin typeface="汉仪文黑-55W" pitchFamily="18" charset="-122"/>
                <a:ea typeface="汉仪文黑-55W" pitchFamily="18" charset="-122"/>
              </a:rPr>
              <a:t>，华鑫证券研究所（未评级公司盈利预测来自</a:t>
            </a:r>
            <a:r>
              <a:rPr lang="en-US" altLang="zh-CN" sz="1200" dirty="0">
                <a:latin typeface="汉仪文黑-55W" pitchFamily="18" charset="-122"/>
                <a:ea typeface="汉仪文黑-55W" pitchFamily="18" charset="-122"/>
              </a:rPr>
              <a:t>WIND</a:t>
            </a:r>
            <a:r>
              <a:rPr lang="zh-CN" altLang="en-US" sz="1200" dirty="0">
                <a:latin typeface="汉仪文黑-55W" pitchFamily="18" charset="-122"/>
                <a:ea typeface="汉仪文黑-55W" pitchFamily="18" charset="-122"/>
              </a:rPr>
              <a:t>一致预测）</a:t>
            </a:r>
            <a:endParaRPr lang="zh-CN" altLang="en-US" sz="1200" dirty="0">
              <a:solidFill>
                <a:schemeClr val="tx1">
                  <a:lumMod val="65000"/>
                  <a:lumOff val="35000"/>
                </a:schemeClr>
              </a:solidFill>
              <a:latin typeface="汉仪文黑-55W" pitchFamily="18" charset="-122"/>
              <a:ea typeface="汉仪文黑-55W" pitchFamily="18" charset="-122"/>
            </a:endParaRPr>
          </a:p>
        </p:txBody>
      </p:sp>
      <p:sp>
        <p:nvSpPr>
          <p:cNvPr id="7" name="文本框 6"/>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诚信、专业、稳健、高效</a:t>
            </a:r>
          </a:p>
        </p:txBody>
      </p:sp>
      <p:sp>
        <p:nvSpPr>
          <p:cNvPr id="8" name="文本框 7"/>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请阅读最后一页重要免责声明</a:t>
            </a:r>
          </a:p>
        </p:txBody>
      </p:sp>
      <p:graphicFrame>
        <p:nvGraphicFramePr>
          <p:cNvPr id="10" name="表格 9" descr="BDCONTENTCONTROL_Company_MainFinance1" title="重点公司主要财务指标"/>
          <p:cNvGraphicFramePr>
            <a:graphicFrameLocks noGrp="1"/>
          </p:cNvGraphicFramePr>
          <p:nvPr>
            <p:custDataLst>
              <p:tags r:id="rId1"/>
            </p:custDataLst>
            <p:extLst>
              <p:ext uri="{D42A27DB-BD31-4B8C-83A1-F6EECF244321}">
                <p14:modId xmlns:p14="http://schemas.microsoft.com/office/powerpoint/2010/main" val="4147983541"/>
              </p:ext>
            </p:extLst>
          </p:nvPr>
        </p:nvGraphicFramePr>
        <p:xfrm>
          <a:off x="289017" y="1180423"/>
          <a:ext cx="11140822" cy="4849940"/>
        </p:xfrm>
        <a:graphic>
          <a:graphicData uri="http://schemas.openxmlformats.org/drawingml/2006/table">
            <a:tbl>
              <a:tblPr firstRow="1" bandRow="1">
                <a:tableStyleId>{2D5ABB26-0587-4C30-8999-92F81FD0307C}</a:tableStyleId>
              </a:tblPr>
              <a:tblGrid>
                <a:gridCol w="1447800">
                  <a:extLst>
                    <a:ext uri="{9D8B030D-6E8A-4147-A177-3AD203B41FA5}">
                      <a16:colId xmlns:a16="http://schemas.microsoft.com/office/drawing/2014/main" val="20000"/>
                    </a:ext>
                  </a:extLst>
                </a:gridCol>
                <a:gridCol w="1672209">
                  <a:extLst>
                    <a:ext uri="{9D8B030D-6E8A-4147-A177-3AD203B41FA5}">
                      <a16:colId xmlns:a16="http://schemas.microsoft.com/office/drawing/2014/main" val="20001"/>
                    </a:ext>
                  </a:extLst>
                </a:gridCol>
                <a:gridCol w="1223391">
                  <a:extLst>
                    <a:ext uri="{9D8B030D-6E8A-4147-A177-3AD203B41FA5}">
                      <a16:colId xmlns:a16="http://schemas.microsoft.com/office/drawing/2014/main" val="20002"/>
                    </a:ext>
                  </a:extLst>
                </a:gridCol>
                <a:gridCol w="970026">
                  <a:extLst>
                    <a:ext uri="{9D8B030D-6E8A-4147-A177-3AD203B41FA5}">
                      <a16:colId xmlns:a16="http://schemas.microsoft.com/office/drawing/2014/main" val="20003"/>
                    </a:ext>
                  </a:extLst>
                </a:gridCol>
                <a:gridCol w="970026">
                  <a:extLst>
                    <a:ext uri="{9D8B030D-6E8A-4147-A177-3AD203B41FA5}">
                      <a16:colId xmlns:a16="http://schemas.microsoft.com/office/drawing/2014/main" val="20004"/>
                    </a:ext>
                  </a:extLst>
                </a:gridCol>
                <a:gridCol w="970026">
                  <a:extLst>
                    <a:ext uri="{9D8B030D-6E8A-4147-A177-3AD203B41FA5}">
                      <a16:colId xmlns:a16="http://schemas.microsoft.com/office/drawing/2014/main" val="20005"/>
                    </a:ext>
                  </a:extLst>
                </a:gridCol>
                <a:gridCol w="970026">
                  <a:extLst>
                    <a:ext uri="{9D8B030D-6E8A-4147-A177-3AD203B41FA5}">
                      <a16:colId xmlns:a16="http://schemas.microsoft.com/office/drawing/2014/main" val="20006"/>
                    </a:ext>
                  </a:extLst>
                </a:gridCol>
                <a:gridCol w="988124">
                  <a:extLst>
                    <a:ext uri="{9D8B030D-6E8A-4147-A177-3AD203B41FA5}">
                      <a16:colId xmlns:a16="http://schemas.microsoft.com/office/drawing/2014/main" val="20007"/>
                    </a:ext>
                  </a:extLst>
                </a:gridCol>
                <a:gridCol w="959168">
                  <a:extLst>
                    <a:ext uri="{9D8B030D-6E8A-4147-A177-3AD203B41FA5}">
                      <a16:colId xmlns:a16="http://schemas.microsoft.com/office/drawing/2014/main" val="20008"/>
                    </a:ext>
                  </a:extLst>
                </a:gridCol>
                <a:gridCol w="970026">
                  <a:extLst>
                    <a:ext uri="{9D8B030D-6E8A-4147-A177-3AD203B41FA5}">
                      <a16:colId xmlns:a16="http://schemas.microsoft.com/office/drawing/2014/main" val="20009"/>
                    </a:ext>
                  </a:extLst>
                </a:gridCol>
              </a:tblGrid>
              <a:tr h="401765">
                <a:tc rowSpan="2">
                  <a:txBody>
                    <a:bodyPr/>
                    <a:lstStyle/>
                    <a:p>
                      <a:pPr algn="ctr">
                        <a:buNone/>
                      </a:pPr>
                      <a:endParaRPr lang="en-US" altLang="zh-CN" sz="1400" b="1" baseline="0" dirty="0">
                        <a:solidFill>
                          <a:schemeClr val="bg1"/>
                        </a:solidFill>
                        <a:latin typeface="汉仪文黑-55W" pitchFamily="18" charset="-122"/>
                        <a:ea typeface="汉仪文黑-55W" pitchFamily="18" charset="-122"/>
                        <a:cs typeface="苹方" charset="0"/>
                      </a:endParaRPr>
                    </a:p>
                  </a:txBody>
                  <a:tcPr anchor="ctr">
                    <a:lnT w="12700">
                      <a:solidFill>
                        <a:srgbClr val="C8BBD5"/>
                      </a:solidFill>
                    </a:lnT>
                    <a:lnB w="12700">
                      <a:solidFill>
                        <a:srgbClr val="46255D"/>
                      </a:solidFill>
                    </a:lnB>
                    <a:solidFill>
                      <a:srgbClr val="46255D"/>
                    </a:solidFill>
                  </a:tcPr>
                </a:tc>
                <a:tc rowSpan="2">
                  <a:txBody>
                    <a:bodyPr/>
                    <a:lstStyle/>
                    <a:p>
                      <a:pPr algn="ctr">
                        <a:buNone/>
                      </a:pPr>
                      <a:endParaRPr lang="zh-CN" altLang="en-US" sz="1400" b="1" baseline="0" dirty="0">
                        <a:solidFill>
                          <a:schemeClr val="bg1"/>
                        </a:solidFill>
                        <a:latin typeface="汉仪文黑-55W" pitchFamily="18" charset="-122"/>
                        <a:ea typeface="汉仪文黑-55W" pitchFamily="18" charset="-122"/>
                      </a:endParaRPr>
                    </a:p>
                  </a:txBody>
                  <a:tcPr anchor="ctr">
                    <a:lnT w="12700">
                      <a:solidFill>
                        <a:srgbClr val="C8BBD5"/>
                      </a:solidFill>
                    </a:lnT>
                    <a:lnB w="12700">
                      <a:solidFill>
                        <a:srgbClr val="46255D"/>
                      </a:solidFill>
                    </a:lnB>
                    <a:solidFill>
                      <a:srgbClr val="46255D"/>
                    </a:solidFill>
                  </a:tcPr>
                </a:tc>
                <a:tc rowSpan="2">
                  <a:txBody>
                    <a:bodyPr/>
                    <a:lstStyle/>
                    <a:p>
                      <a:pPr marL="0" algn="ctr" defTabSz="914400" rtl="0" eaLnBrk="1" fontAlgn="ctr" latinLnBrk="0" hangingPunct="1">
                        <a:buNone/>
                      </a:pPr>
                      <a:r>
                        <a:rPr lang="zh-CN" altLang="en-US" sz="1400" u="none" strike="noStrike" kern="1200" dirty="0" smtClean="0">
                          <a:solidFill>
                            <a:schemeClr val="bg1"/>
                          </a:solidFill>
                          <a:effectLst/>
                        </a:rPr>
                        <a:t>股价</a:t>
                      </a:r>
                      <a:endParaRPr lang="en-US" altLang="zh-CN" sz="1400" b="1" u="none" strike="noStrike" kern="1200" dirty="0">
                        <a:solidFill>
                          <a:schemeClr val="bg1"/>
                        </a:solidFill>
                        <a:effectLst/>
                        <a:latin typeface="汉仪文黑-55W" panose="00020600040101010101" pitchFamily="18" charset="-122"/>
                        <a:ea typeface="汉仪文黑-55W" panose="00020600040101010101" pitchFamily="18" charset="-122"/>
                        <a:cs typeface="+mn-cs"/>
                      </a:endParaRPr>
                    </a:p>
                  </a:txBody>
                  <a:tcPr marL="9525" marR="9525" marT="9525" marB="0" anchor="ctr">
                    <a:lnT w="12700">
                      <a:solidFill>
                        <a:srgbClr val="C8BBD5"/>
                      </a:solidFill>
                    </a:lnT>
                    <a:lnB w="12700">
                      <a:solidFill>
                        <a:srgbClr val="46255D"/>
                      </a:solidFill>
                    </a:lnB>
                    <a:solidFill>
                      <a:srgbClr val="46255D"/>
                    </a:solidFill>
                  </a:tcPr>
                </a:tc>
                <a:tc gridSpan="3">
                  <a:txBody>
                    <a:bodyPr/>
                    <a:lstStyle/>
                    <a:p>
                      <a:pPr marL="0" algn="ctr" defTabSz="914400" rtl="0" eaLnBrk="1" fontAlgn="ctr" latinLnBrk="0" hangingPunct="1">
                        <a:buNone/>
                      </a:pPr>
                      <a:endParaRPr lang="en-US" altLang="zh-CN" sz="1400" b="1" u="none" strike="noStrike" kern="1200" dirty="0">
                        <a:solidFill>
                          <a:schemeClr val="bg1"/>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46255D"/>
                      </a:solidFill>
                    </a:lnT>
                    <a:lnB w="12700">
                      <a:solidFill>
                        <a:srgbClr val="C8BBD5"/>
                      </a:solidFill>
                    </a:lnB>
                    <a:solidFill>
                      <a:srgbClr val="46255D"/>
                    </a:solidFill>
                  </a:tcPr>
                </a:tc>
                <a:tc hMerge="1">
                  <a:txBody>
                    <a:bodyPr/>
                    <a:lstStyle/>
                    <a:p>
                      <a:pPr marL="0" algn="ctr" defTabSz="914400" rtl="0" eaLnBrk="1" fontAlgn="ctr" latinLnBrk="0" hangingPunct="1">
                        <a:buNone/>
                      </a:pP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46255D"/>
                      </a:solidFill>
                    </a:lnT>
                    <a:lnB w="12700">
                      <a:solidFill>
                        <a:srgbClr val="C8BBD5"/>
                      </a:solidFill>
                    </a:lnB>
                    <a:solidFill>
                      <a:srgbClr val="46255D"/>
                    </a:solidFill>
                  </a:tcPr>
                </a:tc>
                <a:tc hMerge="1">
                  <a:txBody>
                    <a:bodyPr/>
                    <a:lstStyle/>
                    <a:p>
                      <a:pPr marL="0" algn="ctr" defTabSz="914400" rtl="0" eaLnBrk="1" fontAlgn="ctr" latinLnBrk="0" hangingPunct="1">
                        <a:buNone/>
                      </a:pP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46255D"/>
                      </a:solidFill>
                    </a:lnT>
                    <a:lnB w="12700">
                      <a:solidFill>
                        <a:srgbClr val="C8BBD5"/>
                      </a:solidFill>
                    </a:lnB>
                    <a:solidFill>
                      <a:srgbClr val="46255D"/>
                    </a:solidFill>
                  </a:tcPr>
                </a:tc>
                <a:tc gridSpan="3">
                  <a:txBody>
                    <a:bodyPr/>
                    <a:lstStyle/>
                    <a:p>
                      <a:pPr marL="0" algn="ctr" defTabSz="914400" rtl="0" eaLnBrk="1" fontAlgn="ctr" latinLnBrk="0" hangingPunct="1">
                        <a:buNone/>
                      </a:pPr>
                      <a:endParaRPr lang="en-US" altLang="zh-CN" sz="1400" b="1" u="none" strike="noStrike" kern="1200" dirty="0">
                        <a:solidFill>
                          <a:schemeClr val="bg1"/>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46255D"/>
                      </a:solidFill>
                    </a:lnT>
                    <a:lnB w="12700">
                      <a:solidFill>
                        <a:srgbClr val="C8BBD5"/>
                      </a:solidFill>
                    </a:lnB>
                    <a:solidFill>
                      <a:srgbClr val="46255D"/>
                    </a:solidFill>
                  </a:tcPr>
                </a:tc>
                <a:tc hMerge="1">
                  <a:txBody>
                    <a:bodyPr/>
                    <a:lstStyle/>
                    <a:p>
                      <a:pPr marL="0" algn="ctr" defTabSz="914400" rtl="0" eaLnBrk="1" fontAlgn="ctr" latinLnBrk="0" hangingPunct="1">
                        <a:buNone/>
                      </a:pP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46255D"/>
                      </a:solidFill>
                    </a:lnT>
                    <a:lnB w="12700">
                      <a:solidFill>
                        <a:srgbClr val="C8BBD5"/>
                      </a:solidFill>
                    </a:lnB>
                    <a:solidFill>
                      <a:srgbClr val="46255D"/>
                    </a:solidFill>
                  </a:tcPr>
                </a:tc>
                <a:tc hMerge="1">
                  <a:txBody>
                    <a:bodyPr/>
                    <a:lstStyle/>
                    <a:p>
                      <a:pPr marL="0" algn="ctr" defTabSz="914400" rtl="0" eaLnBrk="1" fontAlgn="ctr" latinLnBrk="0" hangingPunct="1">
                        <a:buNone/>
                      </a:pP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46255D"/>
                      </a:solidFill>
                    </a:lnT>
                    <a:lnB w="12700">
                      <a:solidFill>
                        <a:srgbClr val="C8BBD5"/>
                      </a:solidFill>
                    </a:lnB>
                    <a:solidFill>
                      <a:srgbClr val="46255D"/>
                    </a:solidFill>
                  </a:tcPr>
                </a:tc>
                <a:tc rowSpan="2">
                  <a:txBody>
                    <a:bodyPr/>
                    <a:lstStyle/>
                    <a:p>
                      <a:pPr marL="0" algn="ctr" defTabSz="914400" rtl="0" eaLnBrk="1" fontAlgn="ctr" latinLnBrk="0" hangingPunct="1">
                        <a:buNone/>
                      </a:pPr>
                      <a:endParaRPr lang="zh-CN" altLang="en-US" sz="1400" b="1" u="none" strike="noStrike" kern="1200" dirty="0">
                        <a:solidFill>
                          <a:schemeClr val="bg1"/>
                        </a:solidFill>
                        <a:effectLst/>
                        <a:latin typeface="汉仪文黑-55W" panose="00020600040101010101" pitchFamily="18" charset="-122"/>
                        <a:ea typeface="汉仪文黑-55W" panose="00020600040101010101" pitchFamily="18" charset="-122"/>
                        <a:cs typeface="+mn-cs"/>
                      </a:endParaRPr>
                    </a:p>
                  </a:txBody>
                  <a:tcPr anchor="ctr">
                    <a:lnT w="12700">
                      <a:solidFill>
                        <a:srgbClr val="C8BBD5"/>
                      </a:solidFill>
                    </a:lnT>
                    <a:lnB w="12700">
                      <a:solidFill>
                        <a:srgbClr val="46255D"/>
                      </a:solidFill>
                    </a:lnB>
                    <a:solidFill>
                      <a:srgbClr val="46255D"/>
                    </a:solidFill>
                  </a:tcPr>
                </a:tc>
                <a:extLst>
                  <a:ext uri="{0D108BD9-81ED-4DB2-BD59-A6C34878D82A}">
                    <a16:rowId xmlns:a16="http://schemas.microsoft.com/office/drawing/2014/main" val="956550311"/>
                  </a:ext>
                </a:extLst>
              </a:tr>
              <a:tr h="107950">
                <a:tc vMerge="1">
                  <a:txBody>
                    <a:bodyPr/>
                    <a:lstStyle/>
                    <a:p>
                      <a:pPr algn="ctr">
                        <a:buNone/>
                      </a:pPr>
                      <a:endParaRPr lang="en-US" altLang="zh-CN" sz="1400" b="1" baseline="0" dirty="0">
                        <a:solidFill>
                          <a:srgbClr val="000000"/>
                        </a:solidFill>
                        <a:latin typeface="汉仪文黑-55W" pitchFamily="18" charset="-122"/>
                        <a:ea typeface="汉仪文黑-55W" pitchFamily="18" charset="-122"/>
                        <a:cs typeface="苹方" charset="0"/>
                      </a:endParaRPr>
                    </a:p>
                  </a:txBody>
                  <a:tcPr anchor="ctr">
                    <a:lnT w="12700">
                      <a:solidFill>
                        <a:srgbClr val="C8BBD5"/>
                      </a:solidFill>
                    </a:lnT>
                    <a:lnB w="12700">
                      <a:solidFill>
                        <a:srgbClr val="46255D"/>
                      </a:solidFill>
                    </a:lnB>
                    <a:solidFill>
                      <a:srgbClr val="46255D"/>
                    </a:solidFill>
                  </a:tcPr>
                </a:tc>
                <a:tc vMerge="1">
                  <a:txBody>
                    <a:bodyPr/>
                    <a:lstStyle/>
                    <a:p>
                      <a:pPr algn="ctr">
                        <a:buNone/>
                      </a:pPr>
                      <a:endParaRPr lang="zh-CN" altLang="en-US" sz="1400" b="1" baseline="0" dirty="0">
                        <a:solidFill>
                          <a:srgbClr val="000000"/>
                        </a:solidFill>
                        <a:latin typeface="汉仪文黑-55W" pitchFamily="18" charset="-122"/>
                        <a:ea typeface="汉仪文黑-55W" pitchFamily="18" charset="-122"/>
                      </a:endParaRPr>
                    </a:p>
                  </a:txBody>
                  <a:tcPr anchor="ctr">
                    <a:lnT w="12700">
                      <a:solidFill>
                        <a:srgbClr val="C8BBD5"/>
                      </a:solidFill>
                    </a:lnT>
                    <a:lnB w="12700">
                      <a:solidFill>
                        <a:srgbClr val="46255D"/>
                      </a:solidFill>
                    </a:lnB>
                    <a:solidFill>
                      <a:srgbClr val="46255D"/>
                    </a:solidFill>
                  </a:tcPr>
                </a:tc>
                <a:tc vMerge="1">
                  <a:txBody>
                    <a:bodyPr/>
                    <a:lstStyle/>
                    <a:p>
                      <a:pPr marL="0" algn="ctr" defTabSz="914400" rtl="0" eaLnBrk="1" fontAlgn="ctr" latinLnBrk="0" hangingPunct="1">
                        <a:buNone/>
                      </a:pP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9525" marR="9525" marT="9525" marB="0" anchor="ctr">
                    <a:lnT w="12700">
                      <a:solidFill>
                        <a:srgbClr val="C8BBD5"/>
                      </a:solidFill>
                    </a:lnT>
                    <a:lnB w="12700">
                      <a:solidFill>
                        <a:srgbClr val="46255D"/>
                      </a:solidFill>
                    </a:lnB>
                    <a:solidFill>
                      <a:srgbClr val="46255D"/>
                    </a:solidFill>
                  </a:tcPr>
                </a:tc>
                <a:tc>
                  <a:txBody>
                    <a:bodyPr/>
                    <a:lstStyle/>
                    <a:p>
                      <a:pPr marL="0" algn="ctr" defTabSz="914400" rtl="0" eaLnBrk="1" fontAlgn="ctr" latinLnBrk="0" hangingPunct="1">
                        <a:buNone/>
                      </a:pPr>
                      <a:r>
                        <a:rPr lang="en-US" altLang="zh-CN" sz="1400" u="none" strike="noStrike" kern="1200" dirty="0" smtClean="0">
                          <a:solidFill>
                            <a:schemeClr val="bg1"/>
                          </a:solidFill>
                          <a:effectLst/>
                        </a:rPr>
                        <a:t>2025</a:t>
                      </a:r>
                      <a:endParaRPr lang="en-US" altLang="zh-CN" sz="1400" b="1" u="none" strike="noStrike" kern="1200" dirty="0">
                        <a:solidFill>
                          <a:schemeClr val="bg1"/>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C8BBD5"/>
                      </a:solidFill>
                    </a:lnT>
                    <a:lnB w="12700">
                      <a:solidFill>
                        <a:srgbClr val="46255D"/>
                      </a:solidFill>
                    </a:lnB>
                    <a:solidFill>
                      <a:srgbClr val="46255D"/>
                    </a:solidFill>
                  </a:tcPr>
                </a:tc>
                <a:tc>
                  <a:txBody>
                    <a:bodyPr/>
                    <a:lstStyle/>
                    <a:p>
                      <a:pPr marL="0" algn="ctr" defTabSz="914400" rtl="0" eaLnBrk="1" fontAlgn="ctr" latinLnBrk="0" hangingPunct="1">
                        <a:buNone/>
                      </a:pPr>
                      <a:r>
                        <a:rPr lang="en-US" altLang="zh-CN" sz="1400" u="none" strike="noStrike" kern="1200" smtClean="0">
                          <a:solidFill>
                            <a:schemeClr val="bg1"/>
                          </a:solidFill>
                          <a:effectLst/>
                        </a:rPr>
                        <a:t>2026E</a:t>
                      </a:r>
                      <a:endParaRPr lang="en-US" altLang="zh-CN" sz="1400" b="1" u="none" strike="noStrike" kern="1200">
                        <a:solidFill>
                          <a:schemeClr val="bg1"/>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C8BBD5"/>
                      </a:solidFill>
                    </a:lnT>
                    <a:lnB w="12700">
                      <a:solidFill>
                        <a:srgbClr val="46255D"/>
                      </a:solidFill>
                    </a:lnB>
                    <a:solidFill>
                      <a:srgbClr val="46255D"/>
                    </a:solidFill>
                  </a:tcPr>
                </a:tc>
                <a:tc>
                  <a:txBody>
                    <a:bodyPr/>
                    <a:lstStyle/>
                    <a:p>
                      <a:pPr marL="0" algn="ctr" defTabSz="914400" rtl="0" eaLnBrk="1" fontAlgn="ctr" latinLnBrk="0" hangingPunct="1">
                        <a:buNone/>
                      </a:pPr>
                      <a:r>
                        <a:rPr lang="en-US" altLang="zh-CN" sz="1400" u="none" strike="noStrike" kern="1200" smtClean="0">
                          <a:solidFill>
                            <a:schemeClr val="bg1"/>
                          </a:solidFill>
                          <a:effectLst/>
                        </a:rPr>
                        <a:t>2027E</a:t>
                      </a:r>
                      <a:endParaRPr lang="en-US" altLang="zh-CN" sz="1400" b="1" u="none" strike="noStrike" kern="1200">
                        <a:solidFill>
                          <a:schemeClr val="bg1"/>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C8BBD5"/>
                      </a:solidFill>
                    </a:lnT>
                    <a:lnB w="12700">
                      <a:solidFill>
                        <a:srgbClr val="46255D"/>
                      </a:solidFill>
                    </a:lnB>
                    <a:solidFill>
                      <a:srgbClr val="46255D"/>
                    </a:solidFill>
                  </a:tcPr>
                </a:tc>
                <a:tc>
                  <a:txBody>
                    <a:bodyPr/>
                    <a:lstStyle/>
                    <a:p>
                      <a:pPr marL="0" algn="ctr" defTabSz="914400" rtl="0" eaLnBrk="1" fontAlgn="ctr" latinLnBrk="0" hangingPunct="1">
                        <a:buNone/>
                      </a:pPr>
                      <a:r>
                        <a:rPr lang="en-US" altLang="zh-CN" sz="1400" u="none" strike="noStrike" kern="1200" smtClean="0">
                          <a:solidFill>
                            <a:schemeClr val="bg1"/>
                          </a:solidFill>
                          <a:effectLst/>
                        </a:rPr>
                        <a:t>2025</a:t>
                      </a:r>
                      <a:endParaRPr lang="en-US" altLang="zh-CN" sz="1400" b="1" u="none" strike="noStrike" kern="1200">
                        <a:solidFill>
                          <a:schemeClr val="bg1"/>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C8BBD5"/>
                      </a:solidFill>
                    </a:lnT>
                    <a:lnB w="12700">
                      <a:solidFill>
                        <a:srgbClr val="46255D"/>
                      </a:solidFill>
                    </a:lnB>
                    <a:solidFill>
                      <a:srgbClr val="46255D"/>
                    </a:solidFill>
                  </a:tcPr>
                </a:tc>
                <a:tc>
                  <a:txBody>
                    <a:bodyPr/>
                    <a:lstStyle/>
                    <a:p>
                      <a:pPr marL="0" algn="ctr" defTabSz="914400" rtl="0" eaLnBrk="1" fontAlgn="ctr" latinLnBrk="0" hangingPunct="1">
                        <a:buNone/>
                      </a:pPr>
                      <a:r>
                        <a:rPr lang="en-US" altLang="zh-CN" sz="1400" u="none" strike="noStrike" kern="1200" smtClean="0">
                          <a:solidFill>
                            <a:schemeClr val="bg1"/>
                          </a:solidFill>
                          <a:effectLst/>
                        </a:rPr>
                        <a:t>2026E</a:t>
                      </a:r>
                      <a:endParaRPr lang="en-US" altLang="zh-CN" sz="1400" b="1" u="none" strike="noStrike" kern="1200">
                        <a:solidFill>
                          <a:schemeClr val="bg1"/>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C8BBD5"/>
                      </a:solidFill>
                    </a:lnT>
                    <a:lnB w="12700">
                      <a:solidFill>
                        <a:srgbClr val="46255D"/>
                      </a:solidFill>
                    </a:lnB>
                    <a:solidFill>
                      <a:srgbClr val="46255D"/>
                    </a:solidFill>
                  </a:tcPr>
                </a:tc>
                <a:tc>
                  <a:txBody>
                    <a:bodyPr/>
                    <a:lstStyle/>
                    <a:p>
                      <a:pPr marL="0" algn="ctr" defTabSz="914400" rtl="0" eaLnBrk="1" fontAlgn="ctr" latinLnBrk="0" hangingPunct="1">
                        <a:buNone/>
                      </a:pPr>
                      <a:r>
                        <a:rPr lang="en-US" altLang="zh-CN" sz="1400" u="none" strike="noStrike" kern="1200" dirty="0" smtClean="0">
                          <a:solidFill>
                            <a:schemeClr val="bg1"/>
                          </a:solidFill>
                          <a:effectLst/>
                        </a:rPr>
                        <a:t>2027E</a:t>
                      </a:r>
                      <a:endParaRPr lang="en-US" altLang="zh-CN" sz="1400" b="1" u="none" strike="noStrike" kern="1200" dirty="0">
                        <a:solidFill>
                          <a:schemeClr val="bg1"/>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C8BBD5"/>
                      </a:solidFill>
                    </a:lnT>
                    <a:lnB w="12700">
                      <a:solidFill>
                        <a:srgbClr val="46255D"/>
                      </a:solidFill>
                    </a:lnB>
                    <a:solidFill>
                      <a:srgbClr val="46255D"/>
                    </a:solidFill>
                  </a:tcPr>
                </a:tc>
                <a:tc vMerge="1">
                  <a:txBody>
                    <a:bodyPr/>
                    <a:lstStyle/>
                    <a:p>
                      <a:pPr marL="0" algn="ctr" defTabSz="914400" rtl="0" eaLnBrk="1" fontAlgn="ctr" latinLnBrk="0" hangingPunct="1">
                        <a:buNone/>
                      </a:pPr>
                      <a:endParaRPr lang="zh-CN" altLang="en-US"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anchor="ctr">
                    <a:lnT w="12700">
                      <a:solidFill>
                        <a:srgbClr val="C8BBD5"/>
                      </a:solidFill>
                    </a:lnT>
                    <a:lnB w="12700">
                      <a:solidFill>
                        <a:srgbClr val="46255D"/>
                      </a:solidFill>
                    </a:lnB>
                    <a:solidFill>
                      <a:srgbClr val="46255D"/>
                    </a:solidFill>
                  </a:tcPr>
                </a:tc>
                <a:extLst>
                  <a:ext uri="{0D108BD9-81ED-4DB2-BD59-A6C34878D82A}">
                    <a16:rowId xmlns:a16="http://schemas.microsoft.com/office/drawing/2014/main" val="3725471831"/>
                  </a:ext>
                </a:extLst>
              </a:tr>
              <a:tr h="470535">
                <a:tc>
                  <a:txBody>
                    <a:bodyPr/>
                    <a:lstStyle/>
                    <a:p>
                      <a:pPr algn="ctr">
                        <a:buNone/>
                      </a:pPr>
                      <a:r>
                        <a:rPr lang="en-US" altLang="zh-CN" sz="1400" baseline="0" smtClean="0"/>
                        <a:t>002317.SZ</a:t>
                      </a:r>
                      <a:endParaRPr lang="en-US" altLang="zh-CN" sz="1400" b="1" baseline="0" dirty="0">
                        <a:solidFill>
                          <a:srgbClr val="000000"/>
                        </a:solidFill>
                        <a:latin typeface="汉仪文黑-55W" pitchFamily="18" charset="-122"/>
                        <a:ea typeface="汉仪文黑-55W" pitchFamily="18" charset="-122"/>
                        <a:cs typeface="苹方" charset="0"/>
                      </a:endParaRPr>
                    </a:p>
                  </a:txBody>
                  <a:tcPr anchor="ctr">
                    <a:lnT w="12700">
                      <a:solidFill>
                        <a:srgbClr val="46255D"/>
                      </a:solidFill>
                    </a:lnT>
                  </a:tcPr>
                </a:tc>
                <a:tc>
                  <a:txBody>
                    <a:bodyPr/>
                    <a:lstStyle/>
                    <a:p>
                      <a:pPr algn="ctr">
                        <a:buNone/>
                      </a:pPr>
                      <a:r>
                        <a:rPr lang="zh-CN" altLang="en-US" sz="1400" baseline="0" dirty="0" smtClean="0"/>
                        <a:t>众生药业</a:t>
                      </a:r>
                      <a:endParaRPr lang="zh-CN" altLang="en-US" sz="1400" b="1" baseline="0" dirty="0">
                        <a:solidFill>
                          <a:srgbClr val="000000"/>
                        </a:solidFill>
                        <a:latin typeface="汉仪文黑-55W" pitchFamily="18" charset="-122"/>
                        <a:ea typeface="汉仪文黑-55W" pitchFamily="18" charset="-122"/>
                      </a:endParaRPr>
                    </a:p>
                  </a:txBody>
                  <a:tcPr anchor="ctr">
                    <a:lnT w="12700">
                      <a:solidFill>
                        <a:srgbClr val="46255D"/>
                      </a:solidFill>
                    </a:lnT>
                  </a:tcPr>
                </a:tc>
                <a:tc>
                  <a:txBody>
                    <a:bodyPr/>
                    <a:lstStyle/>
                    <a:p>
                      <a:pPr marL="0" algn="ctr" defTabSz="914400" rtl="0" eaLnBrk="1" fontAlgn="ctr" latinLnBrk="0" hangingPunct="1">
                        <a:buNone/>
                      </a:pPr>
                      <a:r>
                        <a:rPr lang="en-US" altLang="zh-CN" sz="1400" u="none" strike="noStrike" kern="1200" smtClean="0">
                          <a:effectLst/>
                        </a:rPr>
                        <a:t>25.85</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9525" marR="9525" marT="9525" marB="0" anchor="ctr">
                    <a:lnT w="12700">
                      <a:solidFill>
                        <a:srgbClr val="46255D"/>
                      </a:solidFill>
                    </a:lnT>
                  </a:tcPr>
                </a:tc>
                <a:tc>
                  <a:txBody>
                    <a:bodyPr/>
                    <a:lstStyle/>
                    <a:p>
                      <a:pPr marL="0" algn="ctr" defTabSz="914400" rtl="0" eaLnBrk="1" fontAlgn="ctr" latinLnBrk="0" hangingPunct="1">
                        <a:buNone/>
                      </a:pPr>
                      <a:r>
                        <a:rPr lang="en-US" altLang="zh-CN" sz="1400" u="none" strike="noStrike" kern="1200" smtClean="0">
                          <a:effectLst/>
                        </a:rPr>
                        <a:t>0.32</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46255D"/>
                      </a:solidFill>
                    </a:lnT>
                  </a:tcPr>
                </a:tc>
                <a:tc>
                  <a:txBody>
                    <a:bodyPr/>
                    <a:lstStyle/>
                    <a:p>
                      <a:pPr marL="0" algn="ctr" defTabSz="914400" rtl="0" eaLnBrk="1" fontAlgn="ctr" latinLnBrk="0" hangingPunct="1">
                        <a:buNone/>
                      </a:pPr>
                      <a:r>
                        <a:rPr lang="en-US" altLang="zh-CN" sz="1400" u="none" strike="noStrike" kern="1200" smtClean="0">
                          <a:effectLst/>
                        </a:rPr>
                        <a:t>0.38</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46255D"/>
                      </a:solidFill>
                    </a:lnT>
                  </a:tcPr>
                </a:tc>
                <a:tc>
                  <a:txBody>
                    <a:bodyPr/>
                    <a:lstStyle/>
                    <a:p>
                      <a:pPr marL="0" algn="ctr" defTabSz="914400" rtl="0" eaLnBrk="1" fontAlgn="ctr" latinLnBrk="0" hangingPunct="1">
                        <a:buNone/>
                      </a:pPr>
                      <a:r>
                        <a:rPr lang="en-US" altLang="zh-CN" sz="1400" u="none" strike="noStrike" kern="1200" smtClean="0">
                          <a:effectLst/>
                        </a:rPr>
                        <a:t>0.49</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46255D"/>
                      </a:solidFill>
                    </a:lnT>
                  </a:tcPr>
                </a:tc>
                <a:tc>
                  <a:txBody>
                    <a:bodyPr/>
                    <a:lstStyle/>
                    <a:p>
                      <a:pPr marL="0" algn="ctr" defTabSz="914400" rtl="0" eaLnBrk="1" fontAlgn="ctr" latinLnBrk="0" hangingPunct="1">
                        <a:buNone/>
                      </a:pPr>
                      <a:r>
                        <a:rPr lang="en-US" altLang="zh-CN" sz="1400" u="none" strike="noStrike" kern="1200" smtClean="0">
                          <a:effectLst/>
                        </a:rPr>
                        <a:t>80.78</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46255D"/>
                      </a:solidFill>
                    </a:lnT>
                  </a:tcPr>
                </a:tc>
                <a:tc>
                  <a:txBody>
                    <a:bodyPr/>
                    <a:lstStyle/>
                    <a:p>
                      <a:pPr marL="0" algn="ctr" defTabSz="914400" rtl="0" eaLnBrk="1" fontAlgn="ctr" latinLnBrk="0" hangingPunct="1">
                        <a:buNone/>
                      </a:pPr>
                      <a:r>
                        <a:rPr lang="en-US" altLang="zh-CN" sz="1400" u="none" strike="noStrike" kern="1200" smtClean="0">
                          <a:effectLst/>
                        </a:rPr>
                        <a:t>68.03</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46255D"/>
                      </a:solidFill>
                    </a:lnT>
                  </a:tcPr>
                </a:tc>
                <a:tc>
                  <a:txBody>
                    <a:bodyPr/>
                    <a:lstStyle/>
                    <a:p>
                      <a:pPr marL="0" algn="ctr" defTabSz="914400" rtl="0" eaLnBrk="1" fontAlgn="ctr" latinLnBrk="0" hangingPunct="1">
                        <a:buNone/>
                      </a:pPr>
                      <a:r>
                        <a:rPr lang="en-US" altLang="zh-CN" sz="1400" u="none" strike="noStrike" kern="1200" smtClean="0">
                          <a:effectLst/>
                        </a:rPr>
                        <a:t>52.76</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lnT w="12700">
                      <a:solidFill>
                        <a:srgbClr val="46255D"/>
                      </a:solidFill>
                    </a:lnT>
                  </a:tcPr>
                </a:tc>
                <a:tc>
                  <a:txBody>
                    <a:bodyPr/>
                    <a:lstStyle/>
                    <a:p>
                      <a:pPr marL="0" algn="ctr" defTabSz="914400" rtl="0" eaLnBrk="1" fontAlgn="ctr" latinLnBrk="0" hangingPunct="1">
                        <a:buNone/>
                      </a:pPr>
                      <a:r>
                        <a:rPr lang="zh-CN" altLang="en-US" sz="1400" u="none" strike="noStrike" kern="1200" smtClean="0">
                          <a:effectLst/>
                        </a:rPr>
                        <a:t>买入</a:t>
                      </a:r>
                      <a:endParaRPr lang="zh-CN" altLang="en-US"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anchor="ctr">
                    <a:lnT w="12700">
                      <a:solidFill>
                        <a:srgbClr val="46255D"/>
                      </a:solidFill>
                    </a:lnT>
                  </a:tcPr>
                </a:tc>
                <a:extLst>
                  <a:ext uri="{0D108BD9-81ED-4DB2-BD59-A6C34878D82A}">
                    <a16:rowId xmlns:a16="http://schemas.microsoft.com/office/drawing/2014/main" val="2527901041"/>
                  </a:ext>
                </a:extLst>
              </a:tr>
              <a:tr h="470535">
                <a:tc>
                  <a:txBody>
                    <a:bodyPr/>
                    <a:lstStyle/>
                    <a:p>
                      <a:pPr algn="ctr">
                        <a:buNone/>
                      </a:pPr>
                      <a:r>
                        <a:rPr lang="en-US" altLang="zh-CN" sz="1400" baseline="0" dirty="0" smtClean="0"/>
                        <a:t>002821.SZ</a:t>
                      </a:r>
                      <a:endParaRPr lang="en-US" altLang="zh-CN" sz="1400" b="1" baseline="0" dirty="0">
                        <a:solidFill>
                          <a:srgbClr val="000000"/>
                        </a:solidFill>
                        <a:latin typeface="汉仪文黑-55W" pitchFamily="18" charset="-122"/>
                        <a:ea typeface="汉仪文黑-55W" pitchFamily="18" charset="-122"/>
                        <a:cs typeface="苹方" charset="0"/>
                      </a:endParaRPr>
                    </a:p>
                  </a:txBody>
                  <a:tcPr anchor="ctr"/>
                </a:tc>
                <a:tc>
                  <a:txBody>
                    <a:bodyPr/>
                    <a:lstStyle/>
                    <a:p>
                      <a:pPr algn="ctr">
                        <a:buNone/>
                      </a:pPr>
                      <a:r>
                        <a:rPr lang="zh-CN" altLang="en-US" sz="1400" baseline="0" smtClean="0"/>
                        <a:t>凯莱英</a:t>
                      </a:r>
                      <a:endParaRPr lang="zh-CN" altLang="en-US" sz="1400" b="1" baseline="0" dirty="0">
                        <a:solidFill>
                          <a:srgbClr val="000000"/>
                        </a:solidFill>
                        <a:latin typeface="汉仪文黑-55W" pitchFamily="18" charset="-122"/>
                        <a:ea typeface="汉仪文黑-55W" pitchFamily="18" charset="-122"/>
                      </a:endParaRPr>
                    </a:p>
                  </a:txBody>
                  <a:tcPr anchor="ctr"/>
                </a:tc>
                <a:tc>
                  <a:txBody>
                    <a:bodyPr/>
                    <a:lstStyle/>
                    <a:p>
                      <a:pPr marL="0" algn="ctr" defTabSz="914400" rtl="0" eaLnBrk="1" fontAlgn="ctr" latinLnBrk="0" hangingPunct="1">
                        <a:buNone/>
                      </a:pPr>
                      <a:r>
                        <a:rPr lang="en-US" altLang="zh-CN" sz="1400" u="none" strike="noStrike" kern="1200" smtClean="0">
                          <a:effectLst/>
                        </a:rPr>
                        <a:t>164.94</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9525" marR="9525" marT="9525" marB="0" anchor="ctr"/>
                </a:tc>
                <a:tc>
                  <a:txBody>
                    <a:bodyPr/>
                    <a:lstStyle/>
                    <a:p>
                      <a:pPr marL="0" algn="ctr" defTabSz="914400" rtl="0" eaLnBrk="1" fontAlgn="ctr" latinLnBrk="0" hangingPunct="1">
                        <a:buNone/>
                      </a:pP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zh-CN" altLang="en-US"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anchor="ctr"/>
                </a:tc>
                <a:extLst>
                  <a:ext uri="{0D108BD9-81ED-4DB2-BD59-A6C34878D82A}">
                    <a16:rowId xmlns:a16="http://schemas.microsoft.com/office/drawing/2014/main" val="2993308336"/>
                  </a:ext>
                </a:extLst>
              </a:tr>
              <a:tr h="470535">
                <a:tc>
                  <a:txBody>
                    <a:bodyPr/>
                    <a:lstStyle/>
                    <a:p>
                      <a:pPr algn="ctr">
                        <a:buNone/>
                      </a:pPr>
                      <a:r>
                        <a:rPr lang="en-US" altLang="zh-CN" sz="1400" baseline="0" smtClean="0"/>
                        <a:t>301235.SZ</a:t>
                      </a:r>
                      <a:endParaRPr lang="en-US" altLang="zh-CN" sz="1400" b="1" baseline="0" dirty="0">
                        <a:solidFill>
                          <a:srgbClr val="000000"/>
                        </a:solidFill>
                        <a:latin typeface="汉仪文黑-55W" pitchFamily="18" charset="-122"/>
                        <a:ea typeface="汉仪文黑-55W" pitchFamily="18" charset="-122"/>
                        <a:cs typeface="苹方" charset="0"/>
                      </a:endParaRPr>
                    </a:p>
                  </a:txBody>
                  <a:tcPr anchor="ctr"/>
                </a:tc>
                <a:tc>
                  <a:txBody>
                    <a:bodyPr/>
                    <a:lstStyle/>
                    <a:p>
                      <a:pPr algn="ctr">
                        <a:buNone/>
                      </a:pPr>
                      <a:r>
                        <a:rPr lang="zh-CN" altLang="en-US" sz="1400" baseline="0" smtClean="0"/>
                        <a:t>华康洁净</a:t>
                      </a:r>
                      <a:endParaRPr lang="zh-CN" altLang="en-US" sz="1400" b="1" baseline="0" dirty="0">
                        <a:solidFill>
                          <a:srgbClr val="000000"/>
                        </a:solidFill>
                        <a:latin typeface="汉仪文黑-55W" pitchFamily="18" charset="-122"/>
                        <a:ea typeface="汉仪文黑-55W" pitchFamily="18" charset="-122"/>
                      </a:endParaRPr>
                    </a:p>
                  </a:txBody>
                  <a:tcPr anchor="ctr"/>
                </a:tc>
                <a:tc>
                  <a:txBody>
                    <a:bodyPr/>
                    <a:lstStyle/>
                    <a:p>
                      <a:pPr marL="0" algn="ctr" defTabSz="914400" rtl="0" eaLnBrk="1" fontAlgn="ctr" latinLnBrk="0" hangingPunct="1">
                        <a:buNone/>
                      </a:pPr>
                      <a:r>
                        <a:rPr lang="en-US" altLang="zh-CN" sz="1400" u="none" strike="noStrike" kern="1200" dirty="0" smtClean="0">
                          <a:effectLst/>
                        </a:rPr>
                        <a:t>45.63</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9525" marR="9525" marT="9525" marB="0" anchor="ctr"/>
                </a:tc>
                <a:tc>
                  <a:txBody>
                    <a:bodyPr/>
                    <a:lstStyle/>
                    <a:p>
                      <a:pPr marL="0" algn="ctr" defTabSz="914400" rtl="0" eaLnBrk="1" fontAlgn="ctr" latinLnBrk="0" hangingPunct="1">
                        <a:buNone/>
                      </a:pPr>
                      <a:r>
                        <a:rPr lang="en-US" altLang="zh-CN" sz="1400" u="none" strike="noStrike" kern="1200" smtClean="0">
                          <a:effectLst/>
                        </a:rPr>
                        <a:t>1.09</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1.87</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2.79</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41.86</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24.40</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dirty="0" smtClean="0">
                          <a:effectLst/>
                        </a:rPr>
                        <a:t>16.35</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zh-CN" altLang="en-US" sz="1400" u="none" strike="noStrike" kern="1200" smtClean="0">
                          <a:effectLst/>
                        </a:rPr>
                        <a:t>买入</a:t>
                      </a:r>
                      <a:endParaRPr lang="zh-CN" altLang="en-US"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anchor="ctr"/>
                </a:tc>
                <a:extLst>
                  <a:ext uri="{0D108BD9-81ED-4DB2-BD59-A6C34878D82A}">
                    <a16:rowId xmlns:a16="http://schemas.microsoft.com/office/drawing/2014/main" val="3503159769"/>
                  </a:ext>
                </a:extLst>
              </a:tr>
              <a:tr h="470535">
                <a:tc>
                  <a:txBody>
                    <a:bodyPr/>
                    <a:lstStyle/>
                    <a:p>
                      <a:pPr algn="ctr">
                        <a:buNone/>
                      </a:pPr>
                      <a:r>
                        <a:rPr lang="en-US" altLang="zh-CN" sz="1400" baseline="0" smtClean="0"/>
                        <a:t>301257.SZ</a:t>
                      </a:r>
                      <a:endParaRPr lang="en-US" altLang="zh-CN" sz="1400" b="1" baseline="0" dirty="0">
                        <a:solidFill>
                          <a:srgbClr val="000000"/>
                        </a:solidFill>
                        <a:latin typeface="汉仪文黑-55W" pitchFamily="18" charset="-122"/>
                        <a:ea typeface="汉仪文黑-55W" pitchFamily="18" charset="-122"/>
                        <a:cs typeface="苹方" charset="0"/>
                      </a:endParaRPr>
                    </a:p>
                  </a:txBody>
                  <a:tcPr anchor="ctr"/>
                </a:tc>
                <a:tc>
                  <a:txBody>
                    <a:bodyPr/>
                    <a:lstStyle/>
                    <a:p>
                      <a:pPr algn="ctr">
                        <a:buNone/>
                      </a:pPr>
                      <a:r>
                        <a:rPr lang="zh-CN" altLang="en-US" sz="1400" baseline="0" dirty="0" smtClean="0"/>
                        <a:t>普蕊斯</a:t>
                      </a:r>
                      <a:endParaRPr lang="zh-CN" altLang="en-US" sz="1400" b="1" baseline="0" dirty="0">
                        <a:solidFill>
                          <a:srgbClr val="000000"/>
                        </a:solidFill>
                        <a:latin typeface="汉仪文黑-55W" pitchFamily="18" charset="-122"/>
                        <a:ea typeface="汉仪文黑-55W" pitchFamily="18" charset="-122"/>
                      </a:endParaRPr>
                    </a:p>
                  </a:txBody>
                  <a:tcPr anchor="ctr"/>
                </a:tc>
                <a:tc>
                  <a:txBody>
                    <a:bodyPr/>
                    <a:lstStyle/>
                    <a:p>
                      <a:pPr marL="0" algn="ctr" defTabSz="914400" rtl="0" eaLnBrk="1" fontAlgn="ctr" latinLnBrk="0" hangingPunct="1">
                        <a:buNone/>
                      </a:pPr>
                      <a:r>
                        <a:rPr lang="en-US" altLang="zh-CN" sz="1400" u="none" strike="noStrike" kern="1200" smtClean="0">
                          <a:effectLst/>
                        </a:rPr>
                        <a:t>43.00</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9525" marR="9525" marT="9525" marB="0" anchor="ctr"/>
                </a:tc>
                <a:tc>
                  <a:txBody>
                    <a:bodyPr/>
                    <a:lstStyle/>
                    <a:p>
                      <a:pPr marL="0" algn="ctr" defTabSz="914400" rtl="0" eaLnBrk="1" fontAlgn="ctr" latinLnBrk="0" hangingPunct="1">
                        <a:buNone/>
                      </a:pP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zh-CN" altLang="en-US"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anchor="ctr"/>
                </a:tc>
                <a:extLst>
                  <a:ext uri="{0D108BD9-81ED-4DB2-BD59-A6C34878D82A}">
                    <a16:rowId xmlns:a16="http://schemas.microsoft.com/office/drawing/2014/main" val="583967305"/>
                  </a:ext>
                </a:extLst>
              </a:tr>
              <a:tr h="470535">
                <a:tc>
                  <a:txBody>
                    <a:bodyPr/>
                    <a:lstStyle/>
                    <a:p>
                      <a:pPr algn="ctr">
                        <a:buNone/>
                      </a:pPr>
                      <a:r>
                        <a:rPr lang="en-US" altLang="zh-CN" sz="1400" baseline="0" smtClean="0"/>
                        <a:t>603259.SH</a:t>
                      </a:r>
                      <a:endParaRPr lang="en-US" altLang="zh-CN" sz="1400" b="1" baseline="0" dirty="0">
                        <a:solidFill>
                          <a:srgbClr val="000000"/>
                        </a:solidFill>
                        <a:latin typeface="汉仪文黑-55W" pitchFamily="18" charset="-122"/>
                        <a:ea typeface="汉仪文黑-55W" pitchFamily="18" charset="-122"/>
                        <a:cs typeface="苹方" charset="0"/>
                      </a:endParaRPr>
                    </a:p>
                  </a:txBody>
                  <a:tcPr anchor="ctr"/>
                </a:tc>
                <a:tc>
                  <a:txBody>
                    <a:bodyPr/>
                    <a:lstStyle/>
                    <a:p>
                      <a:pPr algn="ctr">
                        <a:buNone/>
                      </a:pPr>
                      <a:r>
                        <a:rPr lang="zh-CN" altLang="en-US" sz="1400" baseline="0" smtClean="0"/>
                        <a:t>药明康德</a:t>
                      </a:r>
                      <a:endParaRPr lang="zh-CN" altLang="en-US" sz="1400" b="1" baseline="0" dirty="0">
                        <a:solidFill>
                          <a:srgbClr val="000000"/>
                        </a:solidFill>
                        <a:latin typeface="汉仪文黑-55W" pitchFamily="18" charset="-122"/>
                        <a:ea typeface="汉仪文黑-55W" pitchFamily="18" charset="-122"/>
                      </a:endParaRPr>
                    </a:p>
                  </a:txBody>
                  <a:tcPr anchor="ctr"/>
                </a:tc>
                <a:tc>
                  <a:txBody>
                    <a:bodyPr/>
                    <a:lstStyle/>
                    <a:p>
                      <a:pPr marL="0" algn="ctr" defTabSz="914400" rtl="0" eaLnBrk="1" fontAlgn="ctr" latinLnBrk="0" hangingPunct="1">
                        <a:buNone/>
                      </a:pPr>
                      <a:r>
                        <a:rPr lang="en-US" altLang="zh-CN" sz="1400" u="none" strike="noStrike" kern="1200" smtClean="0">
                          <a:effectLst/>
                        </a:rPr>
                        <a:t>157.40</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9525" marR="9525" marT="9525" marB="0" anchor="ctr"/>
                </a:tc>
                <a:tc>
                  <a:txBody>
                    <a:bodyPr/>
                    <a:lstStyle/>
                    <a:p>
                      <a:pPr marL="0" algn="ctr" defTabSz="914400" rtl="0" eaLnBrk="1" fontAlgn="ctr" latinLnBrk="0" hangingPunct="1">
                        <a:buNone/>
                      </a:pPr>
                      <a:r>
                        <a:rPr lang="en-US" altLang="zh-CN" sz="1400" u="none" strike="noStrike" kern="1200" smtClean="0">
                          <a:effectLst/>
                        </a:rPr>
                        <a:t>6.42</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7.15</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8.88</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24.52</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22.01</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17.73</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zh-CN" altLang="en-US" sz="1400" u="none" strike="noStrike" kern="1200" smtClean="0">
                          <a:effectLst/>
                        </a:rPr>
                        <a:t>买入</a:t>
                      </a:r>
                      <a:endParaRPr lang="zh-CN" altLang="en-US"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anchor="ctr"/>
                </a:tc>
                <a:extLst>
                  <a:ext uri="{0D108BD9-81ED-4DB2-BD59-A6C34878D82A}">
                    <a16:rowId xmlns:a16="http://schemas.microsoft.com/office/drawing/2014/main" val="3276521974"/>
                  </a:ext>
                </a:extLst>
              </a:tr>
              <a:tr h="470535">
                <a:tc>
                  <a:txBody>
                    <a:bodyPr/>
                    <a:lstStyle/>
                    <a:p>
                      <a:pPr algn="ctr">
                        <a:buNone/>
                      </a:pPr>
                      <a:r>
                        <a:rPr lang="en-US" altLang="zh-CN" sz="1400" baseline="0" smtClean="0"/>
                        <a:t>688176.SH</a:t>
                      </a:r>
                      <a:endParaRPr lang="en-US" altLang="zh-CN" sz="1400" b="1" baseline="0" dirty="0">
                        <a:solidFill>
                          <a:srgbClr val="000000"/>
                        </a:solidFill>
                        <a:latin typeface="汉仪文黑-55W" pitchFamily="18" charset="-122"/>
                        <a:ea typeface="汉仪文黑-55W" pitchFamily="18" charset="-122"/>
                        <a:cs typeface="苹方" charset="0"/>
                      </a:endParaRPr>
                    </a:p>
                  </a:txBody>
                  <a:tcPr anchor="ctr"/>
                </a:tc>
                <a:tc>
                  <a:txBody>
                    <a:bodyPr/>
                    <a:lstStyle/>
                    <a:p>
                      <a:pPr algn="ctr">
                        <a:buNone/>
                      </a:pPr>
                      <a:r>
                        <a:rPr lang="zh-CN" altLang="en-US" sz="1400" baseline="0" dirty="0" smtClean="0"/>
                        <a:t>亚虹医药</a:t>
                      </a:r>
                      <a:r>
                        <a:rPr lang="en-US" altLang="zh-CN" sz="1400" baseline="0" dirty="0" smtClean="0"/>
                        <a:t>-U</a:t>
                      </a:r>
                      <a:endParaRPr lang="zh-CN" altLang="en-US" sz="1400" b="1" baseline="0" dirty="0">
                        <a:solidFill>
                          <a:srgbClr val="000000"/>
                        </a:solidFill>
                        <a:latin typeface="汉仪文黑-55W" pitchFamily="18" charset="-122"/>
                        <a:ea typeface="汉仪文黑-55W" pitchFamily="18" charset="-122"/>
                      </a:endParaRPr>
                    </a:p>
                  </a:txBody>
                  <a:tcPr anchor="ctr"/>
                </a:tc>
                <a:tc>
                  <a:txBody>
                    <a:bodyPr/>
                    <a:lstStyle/>
                    <a:p>
                      <a:pPr marL="0" algn="ctr" defTabSz="914400" rtl="0" eaLnBrk="1" fontAlgn="ctr" latinLnBrk="0" hangingPunct="1">
                        <a:buNone/>
                      </a:pPr>
                      <a:r>
                        <a:rPr lang="en-US" altLang="zh-CN" sz="1400" u="none" strike="noStrike" kern="1200" smtClean="0">
                          <a:effectLst/>
                        </a:rPr>
                        <a:t>11.88</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9525" marR="9525" marT="9525" marB="0" anchor="ctr"/>
                </a:tc>
                <a:tc>
                  <a:txBody>
                    <a:bodyPr/>
                    <a:lstStyle/>
                    <a:p>
                      <a:pPr marL="0" algn="ctr" defTabSz="914400" rtl="0" eaLnBrk="1" fontAlgn="ctr" latinLnBrk="0" hangingPunct="1">
                        <a:buNone/>
                      </a:pPr>
                      <a:r>
                        <a:rPr lang="en-US" altLang="zh-CN" sz="1400" u="none" strike="noStrike" kern="1200" smtClean="0">
                          <a:effectLst/>
                        </a:rPr>
                        <a:t>-0.73</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-0.55</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-0.26</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-16.27</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-21.60</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-45.69</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zh-CN" altLang="en-US" sz="1400" u="none" strike="noStrike" kern="1200" smtClean="0">
                          <a:effectLst/>
                        </a:rPr>
                        <a:t>买入</a:t>
                      </a:r>
                      <a:endParaRPr lang="zh-CN" altLang="en-US"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anchor="ctr"/>
                </a:tc>
                <a:extLst>
                  <a:ext uri="{0D108BD9-81ED-4DB2-BD59-A6C34878D82A}">
                    <a16:rowId xmlns:a16="http://schemas.microsoft.com/office/drawing/2014/main" val="1636615593"/>
                  </a:ext>
                </a:extLst>
              </a:tr>
              <a:tr h="470535">
                <a:tc>
                  <a:txBody>
                    <a:bodyPr/>
                    <a:lstStyle/>
                    <a:p>
                      <a:pPr algn="ctr">
                        <a:buNone/>
                      </a:pPr>
                      <a:r>
                        <a:rPr lang="en-US" altLang="zh-CN" sz="1400" baseline="0" smtClean="0"/>
                        <a:t>688382.SH</a:t>
                      </a:r>
                      <a:endParaRPr lang="en-US" altLang="zh-CN" sz="1400" b="1" baseline="0" dirty="0">
                        <a:solidFill>
                          <a:srgbClr val="000000"/>
                        </a:solidFill>
                        <a:latin typeface="汉仪文黑-55W" pitchFamily="18" charset="-122"/>
                        <a:ea typeface="汉仪文黑-55W" pitchFamily="18" charset="-122"/>
                        <a:cs typeface="苹方" charset="0"/>
                      </a:endParaRPr>
                    </a:p>
                  </a:txBody>
                  <a:tcPr anchor="ctr"/>
                </a:tc>
                <a:tc>
                  <a:txBody>
                    <a:bodyPr/>
                    <a:lstStyle/>
                    <a:p>
                      <a:pPr algn="ctr">
                        <a:buNone/>
                      </a:pPr>
                      <a:r>
                        <a:rPr lang="zh-CN" altLang="en-US" sz="1400" baseline="0" smtClean="0"/>
                        <a:t>益方生物</a:t>
                      </a:r>
                      <a:r>
                        <a:rPr lang="en-US" altLang="zh-CN" sz="1400" baseline="0" smtClean="0"/>
                        <a:t>-U</a:t>
                      </a:r>
                      <a:endParaRPr lang="zh-CN" altLang="en-US" sz="1400" b="1" baseline="0" dirty="0">
                        <a:solidFill>
                          <a:srgbClr val="000000"/>
                        </a:solidFill>
                        <a:latin typeface="汉仪文黑-55W" pitchFamily="18" charset="-122"/>
                        <a:ea typeface="汉仪文黑-55W" pitchFamily="18" charset="-122"/>
                      </a:endParaRPr>
                    </a:p>
                  </a:txBody>
                  <a:tcPr anchor="ctr"/>
                </a:tc>
                <a:tc>
                  <a:txBody>
                    <a:bodyPr/>
                    <a:lstStyle/>
                    <a:p>
                      <a:pPr marL="0" algn="ctr" defTabSz="914400" rtl="0" eaLnBrk="1" fontAlgn="ctr" latinLnBrk="0" hangingPunct="1">
                        <a:buNone/>
                      </a:pPr>
                      <a:r>
                        <a:rPr lang="en-US" altLang="zh-CN" sz="1400" u="none" strike="noStrike" kern="1200" smtClean="0">
                          <a:effectLst/>
                        </a:rPr>
                        <a:t>20.09</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9525" marR="9525" marT="9525" marB="0" anchor="ctr"/>
                </a:tc>
                <a:tc>
                  <a:txBody>
                    <a:bodyPr/>
                    <a:lstStyle/>
                    <a:p>
                      <a:pPr marL="0" algn="ctr" defTabSz="914400" rtl="0" eaLnBrk="1" fontAlgn="ctr" latinLnBrk="0" hangingPunct="1">
                        <a:buNone/>
                      </a:pPr>
                      <a:r>
                        <a:rPr lang="en-US" altLang="zh-CN" sz="1400" u="none" strike="noStrike" kern="1200" smtClean="0">
                          <a:effectLst/>
                        </a:rPr>
                        <a:t>-0.55</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-0.46</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-0.35</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-36.53</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-43.67</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-57.40</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zh-CN" altLang="en-US" sz="1400" u="none" strike="noStrike" kern="1200" smtClean="0">
                          <a:effectLst/>
                        </a:rPr>
                        <a:t>买入</a:t>
                      </a:r>
                      <a:endParaRPr lang="zh-CN" altLang="en-US"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anchor="ctr"/>
                </a:tc>
                <a:extLst>
                  <a:ext uri="{0D108BD9-81ED-4DB2-BD59-A6C34878D82A}">
                    <a16:rowId xmlns:a16="http://schemas.microsoft.com/office/drawing/2014/main" val="2048814543"/>
                  </a:ext>
                </a:extLst>
              </a:tr>
              <a:tr h="470535">
                <a:tc>
                  <a:txBody>
                    <a:bodyPr/>
                    <a:lstStyle/>
                    <a:p>
                      <a:pPr algn="ctr">
                        <a:buNone/>
                      </a:pPr>
                      <a:r>
                        <a:rPr lang="en-US" altLang="zh-CN" sz="1400" baseline="0" smtClean="0"/>
                        <a:t>688488.SH</a:t>
                      </a:r>
                      <a:endParaRPr lang="en-US" altLang="zh-CN" sz="1400" b="1" baseline="0" dirty="0">
                        <a:solidFill>
                          <a:srgbClr val="000000"/>
                        </a:solidFill>
                        <a:latin typeface="汉仪文黑-55W" pitchFamily="18" charset="-122"/>
                        <a:ea typeface="汉仪文黑-55W" pitchFamily="18" charset="-122"/>
                        <a:cs typeface="苹方" charset="0"/>
                      </a:endParaRPr>
                    </a:p>
                  </a:txBody>
                  <a:tcPr anchor="ctr"/>
                </a:tc>
                <a:tc>
                  <a:txBody>
                    <a:bodyPr/>
                    <a:lstStyle/>
                    <a:p>
                      <a:pPr algn="ctr">
                        <a:buNone/>
                      </a:pPr>
                      <a:r>
                        <a:rPr lang="zh-CN" altLang="en-US" sz="1400" baseline="0" smtClean="0"/>
                        <a:t>艾迪药业</a:t>
                      </a:r>
                      <a:endParaRPr lang="zh-CN" altLang="en-US" sz="1400" b="1" baseline="0" dirty="0">
                        <a:solidFill>
                          <a:srgbClr val="000000"/>
                        </a:solidFill>
                        <a:latin typeface="汉仪文黑-55W" pitchFamily="18" charset="-122"/>
                        <a:ea typeface="汉仪文黑-55W" pitchFamily="18" charset="-122"/>
                      </a:endParaRPr>
                    </a:p>
                  </a:txBody>
                  <a:tcPr anchor="ctr"/>
                </a:tc>
                <a:tc>
                  <a:txBody>
                    <a:bodyPr/>
                    <a:lstStyle/>
                    <a:p>
                      <a:pPr marL="0" algn="ctr" defTabSz="914400" rtl="0" eaLnBrk="1" fontAlgn="ctr" latinLnBrk="0" hangingPunct="1">
                        <a:buNone/>
                      </a:pPr>
                      <a:r>
                        <a:rPr lang="en-US" altLang="zh-CN" sz="1400" u="none" strike="noStrike" kern="1200" smtClean="0">
                          <a:effectLst/>
                        </a:rPr>
                        <a:t>16.12</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9525" marR="9525" marT="9525" marB="0" anchor="ctr"/>
                </a:tc>
                <a:tc>
                  <a:txBody>
                    <a:bodyPr/>
                    <a:lstStyle/>
                    <a:p>
                      <a:pPr marL="0" algn="ctr" defTabSz="914400" rtl="0" eaLnBrk="1" fontAlgn="ctr" latinLnBrk="0" hangingPunct="1">
                        <a:buNone/>
                      </a:pPr>
                      <a:r>
                        <a:rPr lang="en-US" altLang="zh-CN" sz="1400" u="none" strike="noStrike" kern="1200" smtClean="0">
                          <a:effectLst/>
                        </a:rPr>
                        <a:t>-0.05</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0.13</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0.24</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-322.40</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124.00</a:t>
                      </a: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en-US" altLang="zh-CN" sz="1400" u="none" strike="noStrike" kern="1200" smtClean="0">
                          <a:effectLst/>
                        </a:rPr>
                        <a:t>67.17</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r>
                        <a:rPr lang="zh-CN" altLang="en-US" sz="1400" u="none" strike="noStrike" kern="1200" smtClean="0">
                          <a:effectLst/>
                        </a:rPr>
                        <a:t>买入</a:t>
                      </a:r>
                      <a:endParaRPr lang="zh-CN" altLang="en-US"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anchor="ctr"/>
                </a:tc>
                <a:extLst>
                  <a:ext uri="{0D108BD9-81ED-4DB2-BD59-A6C34878D82A}">
                    <a16:rowId xmlns:a16="http://schemas.microsoft.com/office/drawing/2014/main" val="2903202983"/>
                  </a:ext>
                </a:extLst>
              </a:tr>
              <a:tr h="470535">
                <a:tc>
                  <a:txBody>
                    <a:bodyPr/>
                    <a:lstStyle/>
                    <a:p>
                      <a:pPr algn="ctr">
                        <a:buNone/>
                      </a:pPr>
                      <a:r>
                        <a:rPr lang="en-US" altLang="zh-CN" sz="1400" baseline="0" smtClean="0"/>
                        <a:t>688513.SH</a:t>
                      </a:r>
                      <a:endParaRPr lang="en-US" altLang="zh-CN" sz="1400" b="1" baseline="0" dirty="0">
                        <a:solidFill>
                          <a:srgbClr val="000000"/>
                        </a:solidFill>
                        <a:latin typeface="汉仪文黑-55W" pitchFamily="18" charset="-122"/>
                        <a:ea typeface="汉仪文黑-55W" pitchFamily="18" charset="-122"/>
                        <a:cs typeface="苹方" charset="0"/>
                      </a:endParaRPr>
                    </a:p>
                  </a:txBody>
                  <a:tcPr anchor="ctr"/>
                </a:tc>
                <a:tc>
                  <a:txBody>
                    <a:bodyPr/>
                    <a:lstStyle/>
                    <a:p>
                      <a:pPr algn="ctr">
                        <a:buNone/>
                      </a:pPr>
                      <a:r>
                        <a:rPr lang="zh-CN" altLang="en-US" sz="1400" baseline="0" smtClean="0"/>
                        <a:t>苑东生物</a:t>
                      </a:r>
                      <a:endParaRPr lang="zh-CN" altLang="en-US" sz="1400" b="1" baseline="0" dirty="0">
                        <a:solidFill>
                          <a:srgbClr val="000000"/>
                        </a:solidFill>
                        <a:latin typeface="汉仪文黑-55W" pitchFamily="18" charset="-122"/>
                        <a:ea typeface="汉仪文黑-55W" pitchFamily="18" charset="-122"/>
                      </a:endParaRPr>
                    </a:p>
                  </a:txBody>
                  <a:tcPr anchor="ctr"/>
                </a:tc>
                <a:tc>
                  <a:txBody>
                    <a:bodyPr/>
                    <a:lstStyle/>
                    <a:p>
                      <a:pPr marL="0" algn="ctr" defTabSz="914400" rtl="0" eaLnBrk="1" fontAlgn="ctr" latinLnBrk="0" hangingPunct="1">
                        <a:buNone/>
                      </a:pPr>
                      <a:r>
                        <a:rPr lang="en-US" altLang="zh-CN" sz="1400" u="none" strike="noStrike" kern="1200" smtClean="0">
                          <a:effectLst/>
                        </a:rPr>
                        <a:t>43.58</a:t>
                      </a: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9525" marR="9525" marT="9525" marB="0" anchor="ctr"/>
                </a:tc>
                <a:tc>
                  <a:txBody>
                    <a:bodyPr/>
                    <a:lstStyle/>
                    <a:p>
                      <a:pPr marL="0" algn="ctr" defTabSz="914400" rtl="0" eaLnBrk="1" fontAlgn="ctr" latinLnBrk="0" hangingPunct="1">
                        <a:buNone/>
                      </a:pP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en-US" altLang="zh-CN"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marL="0" marR="0" marT="0" marB="0" anchor="ctr"/>
                </a:tc>
                <a:tc>
                  <a:txBody>
                    <a:bodyPr/>
                    <a:lstStyle/>
                    <a:p>
                      <a:pPr marL="0" algn="ctr" defTabSz="914400" rtl="0" eaLnBrk="1" fontAlgn="ctr" latinLnBrk="0" hangingPunct="1">
                        <a:buNone/>
                      </a:pPr>
                      <a:endParaRPr lang="zh-CN" altLang="en-US" sz="1400" b="1" u="none" strike="noStrike" kern="1200" dirty="0">
                        <a:solidFill>
                          <a:srgbClr val="000000"/>
                        </a:solidFill>
                        <a:effectLst/>
                        <a:latin typeface="汉仪文黑-55W" panose="00020600040101010101" pitchFamily="18" charset="-122"/>
                        <a:ea typeface="汉仪文黑-55W" panose="00020600040101010101" pitchFamily="18" charset="-122"/>
                        <a:cs typeface="+mn-cs"/>
                      </a:endParaRPr>
                    </a:p>
                  </a:txBody>
                  <a:tcPr anchor="ctr"/>
                </a:tc>
                <a:extLst>
                  <a:ext uri="{0D108BD9-81ED-4DB2-BD59-A6C34878D82A}">
                    <a16:rowId xmlns:a16="http://schemas.microsoft.com/office/drawing/2014/main" val="3380337469"/>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gn="ctr"/>
            <a:r>
              <a:rPr lang="en-US" altLang="zh-CN" b="1" dirty="0">
                <a:solidFill>
                  <a:schemeClr val="bg1"/>
                </a:solidFill>
                <a:latin typeface="汉仪文黑-55W" pitchFamily="18" charset="-122"/>
                <a:ea typeface="汉仪文黑-55W" pitchFamily="18" charset="-122"/>
              </a:rPr>
              <a:t>11</a:t>
            </a:r>
          </a:p>
        </p:txBody>
      </p:sp>
      <p:sp>
        <p:nvSpPr>
          <p:cNvPr id="14" name="文本框 13"/>
          <p:cNvSpPr txBox="1"/>
          <p:nvPr/>
        </p:nvSpPr>
        <p:spPr>
          <a:xfrm>
            <a:off x="514350" y="254000"/>
            <a:ext cx="1689100" cy="460375"/>
          </a:xfrm>
          <a:prstGeom prst="rect">
            <a:avLst/>
          </a:prstGeom>
          <a:noFill/>
        </p:spPr>
        <p:txBody>
          <a:bodyPr wrap="square" lIns="0" rtlCol="0" anchor="t">
            <a:spAutoFit/>
          </a:bodyPr>
          <a:lstStyle/>
          <a:p>
            <a:pPr algn="dist"/>
            <a:r>
              <a:rPr lang="zh-CN" altLang="en-US" sz="2400" b="1" dirty="0">
                <a:solidFill>
                  <a:srgbClr val="5A2781"/>
                </a:solidFill>
                <a:latin typeface="汉仪文黑-55W" pitchFamily="18" charset="-122"/>
                <a:ea typeface="汉仪文黑-55W" pitchFamily="18" charset="-122"/>
                <a:cs typeface="时尚中黑简体" charset="-122"/>
                <a:sym typeface="+mn-ea"/>
              </a:rPr>
              <a:t>风险提示</a:t>
            </a:r>
            <a:endParaRPr lang="zh-CN" sz="2400" b="1" dirty="0">
              <a:solidFill>
                <a:srgbClr val="5A2781"/>
              </a:solidFill>
              <a:latin typeface="汉仪文黑-55W" pitchFamily="18" charset="-122"/>
              <a:ea typeface="汉仪文黑-55W" pitchFamily="18" charset="-122"/>
              <a:cs typeface="时尚中黑简体" charset="-122"/>
              <a:sym typeface="+mn-ea"/>
            </a:endParaRPr>
          </a:p>
        </p:txBody>
      </p:sp>
      <p:graphicFrame>
        <p:nvGraphicFramePr>
          <p:cNvPr id="2" name="表格 1" descr="BDCONTENTCONTROL_3bcd1352-8837-4e87-b25c-c055db3cc5e6" title="合规提示末页声明"/>
          <p:cNvGraphicFramePr>
            <a:graphicFrameLocks noGrp="1"/>
          </p:cNvGraphicFramePr>
          <p:nvPr/>
        </p:nvGraphicFramePr>
        <p:xfrm>
          <a:off x="2757600" y="5904000"/>
          <a:ext cx="8726400" cy="338400"/>
        </p:xfrm>
        <a:graphic>
          <a:graphicData uri="http://schemas.openxmlformats.org/drawingml/2006/table">
            <a:tbl>
              <a:tblPr firstRow="1" bandRow="1">
                <a:tableStyleId>{5C22544A-7EE6-4342-B048-85BDC9FD1C3A}</a:tableStyleId>
              </a:tblPr>
              <a:tblGrid>
                <a:gridCol w="8726400">
                  <a:extLst>
                    <a:ext uri="{9D8B030D-6E8A-4147-A177-3AD203B41FA5}">
                      <a16:colId xmlns:a16="http://schemas.microsoft.com/office/drawing/2014/main" val="20000"/>
                    </a:ext>
                  </a:extLst>
                </a:gridCol>
              </a:tblGrid>
              <a:tr h="338400">
                <a:tc>
                  <a:txBody>
                    <a:bodyPr/>
                    <a:lstStyle/>
                    <a:p>
                      <a:endParaRPr lang="zh-CN" altLang="en-US" sz="1600" b="0" i="0" baseline="0" dirty="0">
                        <a:solidFill>
                          <a:schemeClr val="tx1">
                            <a:lumMod val="75000"/>
                            <a:lumOff val="25000"/>
                          </a:schemeClr>
                        </a:solidFill>
                        <a:latin typeface="汉仪文黑-55W" pitchFamily="18" charset="-122"/>
                        <a:ea typeface="思源黑体 CN Regular" pitchFamily="34" charset="-122"/>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8" name="文本框 7"/>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诚信、专业、稳健、高效</a:t>
            </a:r>
          </a:p>
        </p:txBody>
      </p:sp>
      <p:sp>
        <p:nvSpPr>
          <p:cNvPr id="9" name="文本框 8"/>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请阅读最后一页重要免责声明</a:t>
            </a:r>
          </a:p>
        </p:txBody>
      </p:sp>
      <p:sp>
        <p:nvSpPr>
          <p:cNvPr id="3" name="文本框 2"/>
          <p:cNvSpPr txBox="1"/>
          <p:nvPr/>
        </p:nvSpPr>
        <p:spPr>
          <a:xfrm>
            <a:off x="1205867" y="1268289"/>
            <a:ext cx="9708928" cy="4216539"/>
          </a:xfrm>
          <a:prstGeom prst="rect">
            <a:avLst/>
          </a:prstGeom>
          <a:noFill/>
        </p:spPr>
        <p:txBody>
          <a:bodyPr wrap="square" rtlCol="0">
            <a:spAutoFit/>
          </a:bodyPr>
          <a:lstStyle/>
          <a:p>
            <a:r>
              <a:rPr lang="en-US" altLang="zh-CN" sz="2000" b="1" dirty="0">
                <a:solidFill>
                  <a:srgbClr val="5A2781"/>
                </a:solidFill>
                <a:latin typeface="汉仪文黑-55W" pitchFamily="18" charset="-122"/>
                <a:ea typeface="汉仪文黑-55W" pitchFamily="18" charset="-122"/>
                <a:sym typeface="+mn-ea"/>
              </a:rPr>
              <a:t>1.</a:t>
            </a:r>
            <a:r>
              <a:rPr lang="zh-CN" altLang="en-US" sz="2000" b="1" dirty="0">
                <a:solidFill>
                  <a:srgbClr val="5A2781"/>
                </a:solidFill>
                <a:latin typeface="汉仪文黑-55W" pitchFamily="18" charset="-122"/>
                <a:ea typeface="汉仪文黑-55W" pitchFamily="18" charset="-122"/>
                <a:sym typeface="+mn-ea"/>
              </a:rPr>
              <a:t>研发失败或无法产业化的风险</a:t>
            </a:r>
          </a:p>
          <a:p>
            <a:r>
              <a:rPr lang="zh-CN" altLang="en-US" sz="1600" dirty="0">
                <a:solidFill>
                  <a:schemeClr val="tx1">
                    <a:lumMod val="75000"/>
                    <a:lumOff val="25000"/>
                  </a:schemeClr>
                </a:solidFill>
                <a:latin typeface="汉仪文黑-55W" pitchFamily="18" charset="-122"/>
                <a:ea typeface="汉仪文黑-55W" pitchFamily="18" charset="-122"/>
                <a:sym typeface="+mn-ea"/>
              </a:rPr>
              <a:t>医药生物技术壁垒高，研发失败可能导致不能按计划开发出新产品，无法产业化。</a:t>
            </a:r>
          </a:p>
          <a:p>
            <a:endParaRPr lang="en-US" altLang="zh-CN" sz="2000" dirty="0">
              <a:solidFill>
                <a:schemeClr val="tx1">
                  <a:lumMod val="75000"/>
                  <a:lumOff val="25000"/>
                </a:schemeClr>
              </a:solidFill>
              <a:latin typeface="汉仪文黑-55W" pitchFamily="18" charset="-122"/>
              <a:ea typeface="汉仪文黑-55W" pitchFamily="18" charset="-122"/>
            </a:endParaRPr>
          </a:p>
          <a:p>
            <a:r>
              <a:rPr lang="en-US" altLang="zh-CN" sz="2000" b="1" dirty="0">
                <a:solidFill>
                  <a:srgbClr val="5A2781"/>
                </a:solidFill>
                <a:latin typeface="汉仪文黑-55W" pitchFamily="18" charset="-122"/>
                <a:ea typeface="汉仪文黑-55W" pitchFamily="18" charset="-122"/>
                <a:sym typeface="+mn-ea"/>
              </a:rPr>
              <a:t>2.</a:t>
            </a:r>
            <a:r>
              <a:rPr lang="zh-CN" altLang="en-US" sz="2000" b="1" dirty="0">
                <a:solidFill>
                  <a:srgbClr val="5A2781"/>
                </a:solidFill>
                <a:latin typeface="汉仪文黑-55W" pitchFamily="18" charset="-122"/>
                <a:ea typeface="汉仪文黑-55W" pitchFamily="18" charset="-122"/>
                <a:sym typeface="+mn-ea"/>
              </a:rPr>
              <a:t>销售不及预期风险</a:t>
            </a:r>
          </a:p>
          <a:p>
            <a:r>
              <a:rPr lang="zh-CN" altLang="en-US" sz="1600" dirty="0">
                <a:solidFill>
                  <a:schemeClr val="tx1">
                    <a:lumMod val="75000"/>
                    <a:lumOff val="25000"/>
                  </a:schemeClr>
                </a:solidFill>
                <a:latin typeface="汉仪文黑-55W" pitchFamily="18" charset="-122"/>
                <a:ea typeface="汉仪文黑-55W" pitchFamily="18" charset="-122"/>
                <a:sym typeface="+mn-ea"/>
              </a:rPr>
              <a:t>因营销策略不能适应市场、学术推广不充分等因素影响，导致销售不及预期。</a:t>
            </a:r>
            <a:endParaRPr lang="en-US" altLang="zh-CN" sz="1600" dirty="0">
              <a:solidFill>
                <a:schemeClr val="tx1">
                  <a:lumMod val="75000"/>
                  <a:lumOff val="25000"/>
                </a:schemeClr>
              </a:solidFill>
              <a:latin typeface="汉仪文黑-55W" pitchFamily="18" charset="-122"/>
              <a:ea typeface="汉仪文黑-55W" pitchFamily="18" charset="-122"/>
              <a:sym typeface="+mn-ea"/>
            </a:endParaRPr>
          </a:p>
          <a:p>
            <a:endParaRPr lang="en-US" altLang="zh-CN" sz="1600" dirty="0">
              <a:solidFill>
                <a:schemeClr val="tx1">
                  <a:lumMod val="75000"/>
                  <a:lumOff val="25000"/>
                </a:schemeClr>
              </a:solidFill>
              <a:latin typeface="汉仪文黑-55W" pitchFamily="18" charset="-122"/>
              <a:ea typeface="汉仪文黑-55W" pitchFamily="18" charset="-122"/>
              <a:sym typeface="+mn-ea"/>
            </a:endParaRPr>
          </a:p>
          <a:p>
            <a:r>
              <a:rPr lang="en-US" altLang="zh-CN" sz="2000" b="1" dirty="0">
                <a:solidFill>
                  <a:srgbClr val="5A2781"/>
                </a:solidFill>
                <a:latin typeface="汉仪文黑-55W" pitchFamily="18" charset="-122"/>
                <a:ea typeface="汉仪文黑-55W" pitchFamily="18" charset="-122"/>
                <a:sym typeface="+mn-ea"/>
              </a:rPr>
              <a:t>3.</a:t>
            </a:r>
            <a:r>
              <a:rPr lang="zh-CN" altLang="en-US" sz="2000" b="1" dirty="0">
                <a:solidFill>
                  <a:srgbClr val="5A2781"/>
                </a:solidFill>
                <a:latin typeface="汉仪文黑-55W" pitchFamily="18" charset="-122"/>
                <a:ea typeface="汉仪文黑-55W" pitchFamily="18" charset="-122"/>
                <a:sym typeface="+mn-ea"/>
              </a:rPr>
              <a:t>竞争加剧风险</a:t>
            </a:r>
          </a:p>
          <a:p>
            <a:r>
              <a:rPr lang="zh-CN" altLang="en-US" sz="1600" dirty="0">
                <a:solidFill>
                  <a:schemeClr val="tx1">
                    <a:lumMod val="75000"/>
                    <a:lumOff val="25000"/>
                  </a:schemeClr>
                </a:solidFill>
                <a:latin typeface="汉仪文黑-55W" pitchFamily="18" charset="-122"/>
                <a:ea typeface="汉仪文黑-55W" pitchFamily="18" charset="-122"/>
                <a:sym typeface="+mn-ea"/>
              </a:rPr>
              <a:t>如有多个同种产品已上市，或即将有多个产品陆续上市，市场竞争激烈。</a:t>
            </a:r>
            <a:endParaRPr lang="zh-CN" altLang="en-US" sz="2000" dirty="0">
              <a:solidFill>
                <a:schemeClr val="tx1">
                  <a:lumMod val="75000"/>
                  <a:lumOff val="25000"/>
                </a:schemeClr>
              </a:solidFill>
              <a:latin typeface="汉仪文黑-55W" pitchFamily="18" charset="-122"/>
              <a:ea typeface="汉仪文黑-55W" pitchFamily="18" charset="-122"/>
              <a:sym typeface="+mn-ea"/>
            </a:endParaRPr>
          </a:p>
          <a:p>
            <a:endParaRPr lang="zh-CN" altLang="en-US" sz="1600" dirty="0">
              <a:solidFill>
                <a:schemeClr val="tx1">
                  <a:lumMod val="75000"/>
                  <a:lumOff val="25000"/>
                </a:schemeClr>
              </a:solidFill>
              <a:latin typeface="汉仪文黑-55W" pitchFamily="18" charset="-122"/>
              <a:ea typeface="汉仪文黑-55W" pitchFamily="18" charset="-122"/>
              <a:sym typeface="+mn-ea"/>
            </a:endParaRPr>
          </a:p>
          <a:p>
            <a:r>
              <a:rPr lang="en-US" altLang="zh-CN" sz="2000" b="1" dirty="0">
                <a:solidFill>
                  <a:srgbClr val="5A2781"/>
                </a:solidFill>
                <a:latin typeface="汉仪文黑-55W" pitchFamily="18" charset="-122"/>
                <a:ea typeface="汉仪文黑-55W" pitchFamily="18" charset="-122"/>
                <a:sym typeface="+mn-ea"/>
              </a:rPr>
              <a:t>4.</a:t>
            </a:r>
            <a:r>
              <a:rPr lang="zh-CN" altLang="en-US" sz="2000" b="1" dirty="0">
                <a:solidFill>
                  <a:srgbClr val="5A2781"/>
                </a:solidFill>
                <a:latin typeface="汉仪文黑-55W" pitchFamily="18" charset="-122"/>
                <a:ea typeface="汉仪文黑-55W" pitchFamily="18" charset="-122"/>
                <a:sym typeface="+mn-ea"/>
              </a:rPr>
              <a:t>政策性风险</a:t>
            </a:r>
          </a:p>
          <a:p>
            <a:r>
              <a:rPr lang="zh-CN" altLang="en-US" sz="1600" dirty="0">
                <a:solidFill>
                  <a:schemeClr val="tx1">
                    <a:lumMod val="75000"/>
                    <a:lumOff val="25000"/>
                  </a:schemeClr>
                </a:solidFill>
                <a:latin typeface="汉仪文黑-55W" pitchFamily="18" charset="-122"/>
                <a:ea typeface="汉仪文黑-55W" pitchFamily="18" charset="-122"/>
                <a:sym typeface="+mn-ea"/>
              </a:rPr>
              <a:t>医药生物是受高监管的行业，任何行业政策调整都可能对公司产生影响。</a:t>
            </a:r>
            <a:endParaRPr lang="en-US" altLang="zh-CN" sz="1600" dirty="0">
              <a:solidFill>
                <a:schemeClr val="tx1">
                  <a:lumMod val="75000"/>
                  <a:lumOff val="25000"/>
                </a:schemeClr>
              </a:solidFill>
              <a:latin typeface="汉仪文黑-55W" pitchFamily="18" charset="-122"/>
              <a:ea typeface="汉仪文黑-55W" pitchFamily="18" charset="-122"/>
              <a:sym typeface="+mn-ea"/>
            </a:endParaRPr>
          </a:p>
          <a:p>
            <a:endParaRPr lang="en-US" altLang="zh-CN" sz="1600" dirty="0">
              <a:solidFill>
                <a:schemeClr val="tx1">
                  <a:lumMod val="75000"/>
                  <a:lumOff val="25000"/>
                </a:schemeClr>
              </a:solidFill>
              <a:latin typeface="汉仪文黑-55W" pitchFamily="18" charset="-122"/>
              <a:ea typeface="汉仪文黑-55W" pitchFamily="18" charset="-122"/>
              <a:sym typeface="+mn-ea"/>
            </a:endParaRPr>
          </a:p>
          <a:p>
            <a:r>
              <a:rPr lang="en-US" altLang="zh-CN" sz="2000" b="1" dirty="0">
                <a:solidFill>
                  <a:srgbClr val="5A2781"/>
                </a:solidFill>
                <a:latin typeface="汉仪文黑-55W" pitchFamily="18" charset="-122"/>
                <a:ea typeface="汉仪文黑-55W" pitchFamily="18" charset="-122"/>
                <a:sym typeface="+mn-ea"/>
              </a:rPr>
              <a:t>5.</a:t>
            </a:r>
            <a:r>
              <a:rPr lang="zh-CN" altLang="en-US" sz="2000" b="1" dirty="0">
                <a:solidFill>
                  <a:srgbClr val="5A2781"/>
                </a:solidFill>
                <a:latin typeface="汉仪文黑-55W" pitchFamily="18" charset="-122"/>
                <a:ea typeface="汉仪文黑-55W" pitchFamily="18" charset="-122"/>
              </a:rPr>
              <a:t>推荐公司业绩不及预期风险</a:t>
            </a:r>
            <a:endParaRPr lang="en-US" altLang="zh-CN" sz="2000" b="1" dirty="0">
              <a:solidFill>
                <a:srgbClr val="5A2781"/>
              </a:solidFill>
              <a:latin typeface="汉仪文黑-55W" pitchFamily="18" charset="-122"/>
              <a:ea typeface="汉仪文黑-55W" pitchFamily="18" charset="-122"/>
            </a:endParaRPr>
          </a:p>
          <a:p>
            <a:endParaRPr lang="zh-CN" altLang="en-US" sz="2000" b="1" dirty="0">
              <a:solidFill>
                <a:srgbClr val="5A2781"/>
              </a:solidFill>
              <a:latin typeface="汉仪文黑-55W" pitchFamily="18" charset="-122"/>
              <a:ea typeface="汉仪文黑-55W" pitchFamily="18" charset="-122"/>
              <a:sym typeface="+mn-ea"/>
            </a:endParaRPr>
          </a:p>
          <a:p>
            <a:endParaRPr lang="zh-CN" altLang="en-US" sz="1600" dirty="0">
              <a:solidFill>
                <a:schemeClr val="tx1">
                  <a:lumMod val="75000"/>
                  <a:lumOff val="25000"/>
                </a:schemeClr>
              </a:solidFill>
              <a:latin typeface="汉仪文黑-55W" pitchFamily="18" charset="-122"/>
              <a:ea typeface="汉仪文黑-55W" pitchFamily="18"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文本框 31"/>
          <p:cNvSpPr txBox="1"/>
          <p:nvPr/>
        </p:nvSpPr>
        <p:spPr>
          <a:xfrm>
            <a:off x="5812155" y="2463301"/>
            <a:ext cx="4837430" cy="107721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rgbClr val="5A2781"/>
                </a:solidFill>
                <a:latin typeface="汉仪文黑-55W" pitchFamily="18" charset="-122"/>
                <a:ea typeface="汉仪文黑-55W" pitchFamily="18" charset="-122"/>
                <a:cs typeface="思源黑体 CN Regular" pitchFamily="34" charset="-122"/>
              </a:rPr>
              <a:t>2</a:t>
            </a:r>
            <a:r>
              <a:rPr lang="en-US" altLang="zh-CN" sz="2800" b="1" dirty="0">
                <a:solidFill>
                  <a:srgbClr val="5A2781"/>
                </a:solidFill>
                <a:latin typeface="汉仪文黑-55W" pitchFamily="18" charset="-122"/>
                <a:ea typeface="汉仪文黑-55W" pitchFamily="18" charset="-122"/>
                <a:cs typeface="思源黑体 CN Regular" pitchFamily="34" charset="-122"/>
              </a:rPr>
              <a:t>.</a:t>
            </a:r>
            <a:r>
              <a:rPr lang="zh-CN" altLang="en-US" sz="2800" b="1" dirty="0">
                <a:solidFill>
                  <a:srgbClr val="5A2781"/>
                </a:solidFill>
                <a:latin typeface="汉仪文黑-55W" pitchFamily="18" charset="-122"/>
                <a:ea typeface="汉仪文黑-55W" pitchFamily="18" charset="-122"/>
                <a:cs typeface="思源黑体 CN Regular" pitchFamily="34" charset="-122"/>
              </a:rPr>
              <a:t>医药板块走势与估值</a:t>
            </a:r>
          </a:p>
          <a:p>
            <a:endParaRPr lang="zh-CN" altLang="en-US" sz="2800" b="1" dirty="0">
              <a:solidFill>
                <a:srgbClr val="5A2781"/>
              </a:solidFill>
              <a:latin typeface="汉仪文黑-55W" pitchFamily="18" charset="-122"/>
              <a:ea typeface="汉仪文黑-55W" pitchFamily="18" charset="-122"/>
              <a:cs typeface="思源黑体 CN Regular" pitchFamily="34" charset="-122"/>
            </a:endParaRPr>
          </a:p>
        </p:txBody>
      </p:sp>
      <p:sp>
        <p:nvSpPr>
          <p:cNvPr id="101" name="文本框 31"/>
          <p:cNvSpPr txBox="1"/>
          <p:nvPr/>
        </p:nvSpPr>
        <p:spPr>
          <a:xfrm>
            <a:off x="5812155" y="1583634"/>
            <a:ext cx="4837430" cy="646331"/>
          </a:xfrm>
          <a:prstGeom prst="rect">
            <a:avLst/>
          </a:prstGeom>
          <a:noFill/>
        </p:spPr>
        <p:txBody>
          <a:bodyPr wrap="square" rtlCol="0">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altLang="zh-CN" sz="3600" b="1" dirty="0">
                <a:solidFill>
                  <a:srgbClr val="5A2781"/>
                </a:solidFill>
                <a:latin typeface="汉仪文黑-55W" pitchFamily="18" charset="-122"/>
                <a:ea typeface="汉仪文黑-55W" pitchFamily="18" charset="-122"/>
                <a:cs typeface="思源黑体 CN Regular" pitchFamily="34" charset="-122"/>
              </a:rPr>
              <a:t>1</a:t>
            </a:r>
            <a:r>
              <a:rPr lang="en-US" altLang="zh-CN" sz="2800" b="1" dirty="0">
                <a:solidFill>
                  <a:srgbClr val="5A2781"/>
                </a:solidFill>
                <a:latin typeface="汉仪文黑-55W" pitchFamily="18" charset="-122"/>
                <a:ea typeface="汉仪文黑-55W" pitchFamily="18" charset="-122"/>
                <a:cs typeface="思源黑体 CN Regular" pitchFamily="34" charset="-122"/>
              </a:rPr>
              <a:t>.</a:t>
            </a:r>
            <a:r>
              <a:rPr lang="zh-CN" altLang="en-US" sz="2800" b="1" dirty="0">
                <a:solidFill>
                  <a:srgbClr val="5A2781"/>
                </a:solidFill>
                <a:latin typeface="汉仪文黑-55W" pitchFamily="18" charset="-122"/>
                <a:ea typeface="汉仪文黑-55W" pitchFamily="18" charset="-122"/>
                <a:cs typeface="思源黑体 CN Regular" pitchFamily="34" charset="-122"/>
              </a:rPr>
              <a:t>医药行情跟踪</a:t>
            </a:r>
          </a:p>
        </p:txBody>
      </p:sp>
      <p:sp>
        <p:nvSpPr>
          <p:cNvPr id="5" name="灯片编号占位符 4"/>
          <p:cNvSpPr>
            <a:spLocks noGrp="1"/>
          </p:cNvSpPr>
          <p:nvPr>
            <p:ph type="sldNum" sz="quarter" idx="12"/>
          </p:nvPr>
        </p:nvSpPr>
        <p:spPr/>
        <p:txBody>
          <a:bodyPr/>
          <a:lstStyle/>
          <a:p>
            <a:pPr algn="ctr"/>
            <a:r>
              <a:rPr lang="en-US" altLang="zh-CN" b="1" dirty="0">
                <a:solidFill>
                  <a:schemeClr val="bg1">
                    <a:lumMod val="85000"/>
                  </a:schemeClr>
                </a:solidFill>
                <a:latin typeface="汉仪文黑-55W" pitchFamily="18" charset="-122"/>
                <a:ea typeface="汉仪文黑-55W" pitchFamily="18" charset="-122"/>
                <a:sym typeface="+mn-ea"/>
              </a:rPr>
              <a:t>12</a:t>
            </a:r>
            <a:endParaRPr lang="zh-CN" altLang="en-US" b="1" dirty="0">
              <a:latin typeface="汉仪文黑-55W" pitchFamily="18" charset="-122"/>
              <a:ea typeface="汉仪文黑-55W" pitchFamily="18" charset="-122"/>
            </a:endParaRPr>
          </a:p>
        </p:txBody>
      </p:sp>
      <p:sp>
        <p:nvSpPr>
          <p:cNvPr id="6" name="文本框 5"/>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诚信、专业、稳健、高效</a:t>
            </a:r>
          </a:p>
        </p:txBody>
      </p:sp>
      <p:sp>
        <p:nvSpPr>
          <p:cNvPr id="7" name="文本框 6"/>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请阅读最后一页重要免责声明</a:t>
            </a:r>
          </a:p>
        </p:txBody>
      </p:sp>
      <p:sp>
        <p:nvSpPr>
          <p:cNvPr id="2" name="文本框 31"/>
          <p:cNvSpPr txBox="1"/>
          <p:nvPr/>
        </p:nvSpPr>
        <p:spPr>
          <a:xfrm>
            <a:off x="5812155" y="4294505"/>
            <a:ext cx="4837430"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rgbClr val="5A2781"/>
                </a:solidFill>
                <a:latin typeface="汉仪文黑-55W" pitchFamily="18" charset="-122"/>
                <a:ea typeface="汉仪文黑-55W" pitchFamily="18" charset="-122"/>
                <a:cs typeface="思源黑体 CN Regular" pitchFamily="34" charset="-122"/>
              </a:rPr>
              <a:t>4</a:t>
            </a:r>
            <a:r>
              <a:rPr lang="en-US" altLang="zh-CN" sz="2800" b="1" dirty="0">
                <a:solidFill>
                  <a:srgbClr val="5A2781"/>
                </a:solidFill>
                <a:latin typeface="汉仪文黑-55W" pitchFamily="18" charset="-122"/>
                <a:ea typeface="汉仪文黑-55W" pitchFamily="18" charset="-122"/>
                <a:cs typeface="思源黑体 CN Regular" pitchFamily="34" charset="-122"/>
              </a:rPr>
              <a:t>.</a:t>
            </a:r>
            <a:r>
              <a:rPr lang="zh-CN" altLang="en-US" sz="2800" b="1" dirty="0">
                <a:solidFill>
                  <a:srgbClr val="5A2781"/>
                </a:solidFill>
                <a:latin typeface="汉仪文黑-55W" pitchFamily="18" charset="-122"/>
                <a:ea typeface="汉仪文黑-55W" pitchFamily="18" charset="-122"/>
                <a:cs typeface="思源黑体 CN Regular" pitchFamily="34" charset="-122"/>
              </a:rPr>
              <a:t>行业重要政策和要闻</a:t>
            </a:r>
          </a:p>
        </p:txBody>
      </p:sp>
      <p:sp>
        <p:nvSpPr>
          <p:cNvPr id="8" name="文本框 31"/>
          <p:cNvSpPr txBox="1"/>
          <p:nvPr/>
        </p:nvSpPr>
        <p:spPr>
          <a:xfrm>
            <a:off x="5812155" y="3451860"/>
            <a:ext cx="4837430"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rgbClr val="5A2781"/>
                </a:solidFill>
                <a:latin typeface="汉仪文黑-55W" pitchFamily="18" charset="-122"/>
                <a:ea typeface="汉仪文黑-55W" pitchFamily="18" charset="-122"/>
                <a:cs typeface="思源黑体 CN Regular" pitchFamily="34" charset="-122"/>
              </a:rPr>
              <a:t>3</a:t>
            </a:r>
            <a:r>
              <a:rPr lang="en-US" altLang="zh-CN" sz="2800" b="1" dirty="0">
                <a:solidFill>
                  <a:srgbClr val="5A2781"/>
                </a:solidFill>
                <a:latin typeface="汉仪文黑-55W" pitchFamily="18" charset="-122"/>
                <a:ea typeface="汉仪文黑-55W" pitchFamily="18" charset="-122"/>
                <a:cs typeface="思源黑体 CN Regular" pitchFamily="34" charset="-122"/>
              </a:rPr>
              <a:t>.</a:t>
            </a:r>
            <a:r>
              <a:rPr lang="zh-CN" altLang="en-US" sz="2800" b="1" dirty="0">
                <a:solidFill>
                  <a:srgbClr val="5A2781"/>
                </a:solidFill>
                <a:latin typeface="汉仪文黑-55W" pitchFamily="18" charset="-122"/>
                <a:ea typeface="汉仪文黑-55W" pitchFamily="18" charset="-122"/>
                <a:cs typeface="思源黑体 CN Regular" pitchFamily="34" charset="-122"/>
              </a:rPr>
              <a:t>团队近期研究成果</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801743" y="2306955"/>
            <a:ext cx="6588514" cy="922020"/>
            <a:chOff x="4449" y="5575"/>
            <a:chExt cx="8775" cy="1452"/>
          </a:xfrm>
        </p:grpSpPr>
        <p:sp>
          <p:nvSpPr>
            <p:cNvPr id="3" name="文本框 31"/>
            <p:cNvSpPr txBox="1"/>
            <p:nvPr/>
          </p:nvSpPr>
          <p:spPr>
            <a:xfrm>
              <a:off x="4449" y="5575"/>
              <a:ext cx="1471" cy="1452"/>
            </a:xfrm>
            <a:prstGeom prst="rect">
              <a:avLst/>
            </a:prstGeom>
            <a:noFill/>
          </p:spPr>
          <p:txBody>
            <a:bodyPr wrap="square" rtlCol="0">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a:r>
                <a:rPr lang="en-US" altLang="zh-CN" sz="5400" b="1" dirty="0">
                  <a:solidFill>
                    <a:schemeClr val="bg1"/>
                  </a:solidFill>
                  <a:latin typeface="汉仪文黑-55W" pitchFamily="18" charset="-122"/>
                  <a:ea typeface="汉仪文黑-55W" pitchFamily="18" charset="-122"/>
                  <a:cs typeface="+mn-ea"/>
                </a:rPr>
                <a:t>01</a:t>
              </a:r>
            </a:p>
          </p:txBody>
        </p:sp>
        <p:sp>
          <p:nvSpPr>
            <p:cNvPr id="4" name="文本框 31"/>
            <p:cNvSpPr txBox="1"/>
            <p:nvPr/>
          </p:nvSpPr>
          <p:spPr>
            <a:xfrm>
              <a:off x="6108" y="5575"/>
              <a:ext cx="7116" cy="1452"/>
            </a:xfrm>
            <a:prstGeom prst="rect">
              <a:avLst/>
            </a:prstGeom>
            <a:noFill/>
          </p:spPr>
          <p:txBody>
            <a:bodyPr wrap="square" rtlCol="0">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a:r>
                <a:rPr lang="zh-CN" altLang="en-US" sz="5400" dirty="0">
                  <a:solidFill>
                    <a:schemeClr val="bg1"/>
                  </a:solidFill>
                  <a:latin typeface="汉仪文黑-55W" pitchFamily="18" charset="-122"/>
                  <a:ea typeface="汉仪文黑-55W" pitchFamily="18" charset="-122"/>
                  <a:cs typeface="+mn-ea"/>
                </a:rPr>
                <a:t>医药行情跟踪</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669765" y="2440970"/>
            <a:ext cx="10213194" cy="3943468"/>
          </a:xfrm>
          <a:prstGeom prst="rect">
            <a:avLst/>
          </a:prstGeom>
        </p:spPr>
      </p:pic>
      <p:sp>
        <p:nvSpPr>
          <p:cNvPr id="9" name="灯片编号占位符 8">
            <a:extLst>
              <a:ext uri="{FF2B5EF4-FFF2-40B4-BE49-F238E27FC236}">
                <a16:creationId xmlns:a16="http://schemas.microsoft.com/office/drawing/2014/main" id="{07F16E25-F3B5-42A3-9DEF-37B2932F7DB9}"/>
              </a:ext>
            </a:extLst>
          </p:cNvPr>
          <p:cNvSpPr>
            <a:spLocks noGrp="1"/>
          </p:cNvSpPr>
          <p:nvPr>
            <p:ph type="sldNum" idx="12"/>
          </p:nvPr>
        </p:nvSpPr>
        <p:spPr/>
        <p:txBody>
          <a:bodyPr/>
          <a:lstStyle/>
          <a:p>
            <a:pPr algn="ctr">
              <a:buNone/>
            </a:pPr>
            <a:r>
              <a:rPr b="1">
                <a:solidFill>
                  <a:schemeClr val="bg1">
                    <a:lumMod val="85000"/>
                  </a:schemeClr>
                </a:solidFill>
                <a:latin typeface="苹方"/>
                <a:ea typeface="苹方"/>
                <a:cs typeface="苹方"/>
              </a:rPr>
              <a:t>14</a:t>
            </a:r>
            <a:endParaRPr b="1">
              <a:latin typeface="苹方"/>
              <a:ea typeface="苹方"/>
              <a:cs typeface="苹方"/>
            </a:endParaRPr>
          </a:p>
        </p:txBody>
      </p:sp>
      <p:sp>
        <p:nvSpPr>
          <p:cNvPr id="14" name="文本框 13">
            <a:extLst>
              <a:ext uri="{FF2B5EF4-FFF2-40B4-BE49-F238E27FC236}">
                <a16:creationId xmlns:a16="http://schemas.microsoft.com/office/drawing/2014/main" id="{67816DFE-EBE0-4996-B2DA-3DAF57205EC6}"/>
              </a:ext>
            </a:extLst>
          </p:cNvPr>
          <p:cNvSpPr>
            <a:spLocks noGrp="1"/>
          </p:cNvSpPr>
          <p:nvPr/>
        </p:nvSpPr>
        <p:spPr>
          <a:xfrm>
            <a:off x="514350" y="254000"/>
            <a:ext cx="4467225" cy="460375"/>
          </a:xfrm>
          <a:prstGeom prst="rect">
            <a:avLst/>
          </a:prstGeom>
          <a:noFill/>
        </p:spPr>
        <p:txBody>
          <a:bodyPr wrap="square" lIns="0" anchor="t">
            <a:spAutoFit/>
          </a:bodyPr>
          <a:lstStyle/>
          <a:p>
            <a:pPr>
              <a:buNone/>
            </a:pPr>
            <a:r>
              <a:rPr sz="2400" b="1">
                <a:solidFill>
                  <a:srgbClr val="5A2781"/>
                </a:solidFill>
                <a:latin typeface="苹方"/>
                <a:ea typeface="苹方"/>
                <a:cs typeface="苹方"/>
              </a:rPr>
              <a:t>1.行情跟踪-行业一周涨跌幅</a:t>
            </a:r>
          </a:p>
        </p:txBody>
      </p:sp>
      <p:sp>
        <p:nvSpPr>
          <p:cNvPr id="15" name="文本框 14">
            <a:extLst>
              <a:ext uri="{FF2B5EF4-FFF2-40B4-BE49-F238E27FC236}">
                <a16:creationId xmlns:a16="http://schemas.microsoft.com/office/drawing/2014/main" id="{6750F3CD-0F41-4344-A00E-6E72F5B7C05D}"/>
              </a:ext>
            </a:extLst>
          </p:cNvPr>
          <p:cNvSpPr>
            <a:spLocks noGrp="1"/>
          </p:cNvSpPr>
          <p:nvPr/>
        </p:nvSpPr>
        <p:spPr>
          <a:xfrm>
            <a:off x="0" y="6588000"/>
            <a:ext cx="2160000" cy="307777"/>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1400">
                <a:solidFill>
                  <a:schemeClr val="bg2"/>
                </a:solidFill>
                <a:latin typeface="汉仪文黑-55W"/>
                <a:ea typeface="汉仪文黑-55W"/>
                <a:cs typeface="汉仪文黑-55W"/>
              </a:rPr>
              <a:t>诚信、专业、稳健、高效</a:t>
            </a:r>
          </a:p>
        </p:txBody>
      </p:sp>
      <p:sp>
        <p:nvSpPr>
          <p:cNvPr id="16" name="文本框 15">
            <a:extLst>
              <a:ext uri="{FF2B5EF4-FFF2-40B4-BE49-F238E27FC236}">
                <a16:creationId xmlns:a16="http://schemas.microsoft.com/office/drawing/2014/main" id="{84FAEE0C-A3F7-475E-8EA8-ED683BE5FDCD}"/>
              </a:ext>
            </a:extLst>
          </p:cNvPr>
          <p:cNvSpPr>
            <a:spLocks noGrp="1"/>
          </p:cNvSpPr>
          <p:nvPr/>
        </p:nvSpPr>
        <p:spPr>
          <a:xfrm>
            <a:off x="8573450" y="6588000"/>
            <a:ext cx="2520000" cy="307777"/>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1400">
                <a:solidFill>
                  <a:schemeClr val="bg2"/>
                </a:solidFill>
                <a:latin typeface="汉仪文黑-55W"/>
                <a:ea typeface="汉仪文黑-55W"/>
                <a:cs typeface="汉仪文黑-55W"/>
              </a:rPr>
              <a:t>请阅读最后一页重要免责声明</a:t>
            </a:r>
          </a:p>
        </p:txBody>
      </p:sp>
      <p:sp>
        <p:nvSpPr>
          <p:cNvPr id="3" name="文本框 2">
            <a:extLst>
              <a:ext uri="{FF2B5EF4-FFF2-40B4-BE49-F238E27FC236}">
                <a16:creationId xmlns:a16="http://schemas.microsoft.com/office/drawing/2014/main" id="{7A54021A-8F7B-44B6-A92A-19EFFA0D40CB}"/>
              </a:ext>
            </a:extLst>
          </p:cNvPr>
          <p:cNvSpPr>
            <a:spLocks noGrp="1"/>
          </p:cNvSpPr>
          <p:nvPr/>
        </p:nvSpPr>
        <p:spPr>
          <a:xfrm>
            <a:off x="60983" y="6324442"/>
            <a:ext cx="10611485" cy="275590"/>
          </a:xfrm>
          <a:prstGeom prst="rect">
            <a:avLst/>
          </a:prstGeom>
          <a:noFill/>
        </p:spPr>
        <p:txBody>
          <a:bodyPr wrap="square">
            <a:spAutoFit/>
          </a:bodyPr>
          <a:lstStyle/>
          <a:p>
            <a:pPr algn="l">
              <a:buClrTx/>
              <a:buSzTx/>
              <a:buFontTx/>
              <a:buNone/>
            </a:pPr>
            <a:r>
              <a:rPr sz="1200" dirty="0" err="1">
                <a:solidFill>
                  <a:schemeClr val="tx1">
                    <a:lumMod val="65000"/>
                    <a:lumOff val="35000"/>
                  </a:schemeClr>
                </a:solidFill>
                <a:latin typeface="汉仪文黑-55W" panose="00020600040101010101" pitchFamily="18" charset="-122"/>
                <a:ea typeface="汉仪文黑-55W" panose="00020600040101010101" pitchFamily="18" charset="-122"/>
                <a:cs typeface="苹方"/>
              </a:rPr>
              <a:t>资料来源：WIND，华鑫证券研究</a:t>
            </a:r>
            <a:r>
              <a:rPr sz="1200" dirty="0" err="1">
                <a:solidFill>
                  <a:schemeClr val="tx1">
                    <a:lumMod val="65000"/>
                    <a:lumOff val="35000"/>
                  </a:schemeClr>
                </a:solidFill>
                <a:latin typeface="汉仪文黑-55W" panose="00020600040101010101" pitchFamily="18" charset="-122"/>
                <a:ea typeface="汉仪文黑-55W" panose="00020600040101010101" pitchFamily="18" charset="-122"/>
                <a:cs typeface="汉仪文黑-55W"/>
              </a:rPr>
              <a:t>所</a:t>
            </a:r>
            <a:endParaRPr sz="1200" dirty="0">
              <a:solidFill>
                <a:schemeClr val="tx1">
                  <a:lumMod val="65000"/>
                  <a:lumOff val="35000"/>
                </a:schemeClr>
              </a:solidFill>
              <a:latin typeface="汉仪文黑-55W" panose="00020600040101010101" pitchFamily="18" charset="-122"/>
              <a:ea typeface="汉仪文黑-55W" panose="00020600040101010101" pitchFamily="18" charset="-122"/>
              <a:cs typeface="汉仪文黑-55W"/>
            </a:endParaRPr>
          </a:p>
        </p:txBody>
      </p:sp>
      <p:sp>
        <p:nvSpPr>
          <p:cNvPr id="8" name="文本框 7">
            <a:extLst>
              <a:ext uri="{FF2B5EF4-FFF2-40B4-BE49-F238E27FC236}">
                <a16:creationId xmlns:a16="http://schemas.microsoft.com/office/drawing/2014/main" id="{F370BA52-639F-41B2-94AF-BA57B7549545}"/>
              </a:ext>
            </a:extLst>
          </p:cNvPr>
          <p:cNvSpPr>
            <a:spLocks noGrp="1"/>
          </p:cNvSpPr>
          <p:nvPr/>
        </p:nvSpPr>
        <p:spPr>
          <a:xfrm>
            <a:off x="4826950" y="2115975"/>
            <a:ext cx="2539365" cy="306705"/>
          </a:xfrm>
          <a:prstGeom prst="rect">
            <a:avLst/>
          </a:prstGeom>
          <a:noFill/>
        </p:spPr>
        <p:txBody>
          <a:bodyPr wrap="square">
            <a:spAutoFit/>
          </a:bodyPr>
          <a:lstStyle/>
          <a:p>
            <a:r>
              <a:rPr sz="1400" b="1">
                <a:solidFill>
                  <a:schemeClr val="tx1"/>
                </a:solidFill>
                <a:latin typeface="汉仪文黑-55W"/>
                <a:ea typeface="汉仪文黑-55W"/>
                <a:cs typeface="汉仪文黑-55W"/>
              </a:rPr>
              <a:t>图表：板块近一周涨跌幅</a:t>
            </a:r>
          </a:p>
        </p:txBody>
      </p:sp>
      <p:sp>
        <p:nvSpPr>
          <p:cNvPr id="10" name="矩形 9">
            <a:extLst>
              <a:ext uri="{FF2B5EF4-FFF2-40B4-BE49-F238E27FC236}">
                <a16:creationId xmlns:a16="http://schemas.microsoft.com/office/drawing/2014/main" id="{FBD99E53-5458-48F4-87FF-D65D159C7823}"/>
              </a:ext>
            </a:extLst>
          </p:cNvPr>
          <p:cNvSpPr>
            <a:spLocks noGrp="1"/>
          </p:cNvSpPr>
          <p:nvPr/>
        </p:nvSpPr>
        <p:spPr>
          <a:xfrm>
            <a:off x="9638766" y="3415479"/>
            <a:ext cx="389367" cy="3070740"/>
          </a:xfrm>
          <a:prstGeom prst="rect">
            <a:avLst/>
          </a:prstGeom>
          <a:noFill/>
          <a:ln w="2857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endParaRPr/>
          </a:p>
        </p:txBody>
      </p:sp>
      <p:sp>
        <p:nvSpPr>
          <p:cNvPr id="17" name="文本框 1"/>
          <p:cNvSpPr txBox="1"/>
          <p:nvPr/>
        </p:nvSpPr>
        <p:spPr>
          <a:xfrm>
            <a:off x="333026" y="861027"/>
            <a:ext cx="11100646" cy="1772254"/>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lnSpc>
                <a:spcPct val="150000"/>
              </a:lnSpc>
              <a:buClr>
                <a:srgbClr val="5A2781"/>
              </a:buClr>
              <a:buFont typeface="Wingdings" panose="05000000000000000000" charset="0"/>
              <a:buChar char="p"/>
              <a:defRPr/>
            </a:pPr>
            <a:r>
              <a:rPr lang="zh-CN" altLang="en-US" sz="1400" b="1" dirty="0">
                <a:solidFill>
                  <a:schemeClr val="tx1"/>
                </a:solidFill>
                <a:latin typeface="汉仪文黑-55W" panose="00020600040101010101" pitchFamily="18" charset="-122"/>
                <a:ea typeface="汉仪文黑-55W" panose="00020600040101010101" pitchFamily="18" charset="-122"/>
                <a:sym typeface="+mn-ea"/>
              </a:rPr>
              <a:t>医药行业</a:t>
            </a:r>
            <a:r>
              <a:rPr lang="zh-CN" altLang="en-US" sz="1400" b="1" dirty="0">
                <a:latin typeface="汉仪文黑-55W" panose="00020600040101010101" pitchFamily="18" charset="-122"/>
                <a:ea typeface="汉仪文黑-55W" panose="00020600040101010101" pitchFamily="18" charset="-122"/>
                <a:sym typeface="+mn-ea"/>
              </a:rPr>
              <a:t>最近一周</a:t>
            </a:r>
            <a:r>
              <a:rPr lang="zh-CN" altLang="en-US" sz="1400" b="1" dirty="0">
                <a:solidFill>
                  <a:schemeClr val="tx1"/>
                </a:solidFill>
                <a:latin typeface="汉仪文黑-55W" panose="00020600040101010101" pitchFamily="18" charset="-122"/>
                <a:ea typeface="汉仪文黑-55W" panose="00020600040101010101" pitchFamily="18" charset="-122"/>
                <a:sym typeface="+mn-ea"/>
              </a:rPr>
              <a:t>跑输沪深</a:t>
            </a:r>
            <a:r>
              <a:rPr lang="en-US" altLang="zh-CN" sz="1400" b="1" dirty="0">
                <a:solidFill>
                  <a:schemeClr val="tx1"/>
                </a:solidFill>
                <a:latin typeface="汉仪文黑-55W" panose="00020600040101010101" pitchFamily="18" charset="-122"/>
                <a:ea typeface="汉仪文黑-55W" panose="00020600040101010101" pitchFamily="18" charset="-122"/>
                <a:sym typeface="+mn-ea"/>
              </a:rPr>
              <a:t>300</a:t>
            </a:r>
            <a:r>
              <a:rPr lang="zh-CN" altLang="en-US" sz="1400" b="1" dirty="0">
                <a:solidFill>
                  <a:schemeClr val="tx1"/>
                </a:solidFill>
                <a:latin typeface="汉仪文黑-55W" panose="00020600040101010101" pitchFamily="18" charset="-122"/>
                <a:ea typeface="汉仪文黑-55W" panose="00020600040101010101" pitchFamily="18" charset="-122"/>
                <a:sym typeface="+mn-ea"/>
              </a:rPr>
              <a:t>指数</a:t>
            </a:r>
            <a:r>
              <a:rPr lang="en-US" altLang="zh-CN" sz="1400" b="1" dirty="0">
                <a:solidFill>
                  <a:schemeClr val="tx1"/>
                </a:solidFill>
                <a:latin typeface="汉仪文黑-55W" panose="00020600040101010101" pitchFamily="18" charset="-122"/>
                <a:ea typeface="汉仪文黑-55W" panose="00020600040101010101" pitchFamily="18" charset="-122"/>
                <a:sym typeface="+mn-ea"/>
              </a:rPr>
              <a:t>1.22</a:t>
            </a:r>
            <a:r>
              <a:rPr lang="zh-CN" altLang="en-US" sz="1400" b="1" dirty="0">
                <a:solidFill>
                  <a:schemeClr val="tx1"/>
                </a:solidFill>
                <a:latin typeface="汉仪文黑-55W" panose="00020600040101010101" pitchFamily="18" charset="-122"/>
                <a:ea typeface="汉仪文黑-55W" panose="00020600040101010101" pitchFamily="18" charset="-122"/>
                <a:sym typeface="+mn-ea"/>
              </a:rPr>
              <a:t>个百分点，涨幅排名第</a:t>
            </a:r>
            <a:r>
              <a:rPr lang="en-US" altLang="zh-CN" sz="1400" b="1" dirty="0">
                <a:solidFill>
                  <a:schemeClr val="tx1"/>
                </a:solidFill>
                <a:latin typeface="汉仪文黑-55W" panose="00020600040101010101" pitchFamily="18" charset="-122"/>
                <a:ea typeface="汉仪文黑-55W" panose="00020600040101010101" pitchFamily="18" charset="-122"/>
                <a:sym typeface="+mn-ea"/>
              </a:rPr>
              <a:t>29</a:t>
            </a:r>
            <a:r>
              <a:rPr lang="zh-CN" altLang="en-US" sz="1400" b="1" dirty="0">
                <a:solidFill>
                  <a:schemeClr val="tx1"/>
                </a:solidFill>
                <a:latin typeface="汉仪文黑-55W" panose="00020600040101010101" pitchFamily="18" charset="-122"/>
                <a:ea typeface="汉仪文黑-55W" panose="00020600040101010101" pitchFamily="18" charset="-122"/>
                <a:sym typeface="+mn-ea"/>
              </a:rPr>
              <a:t>位</a:t>
            </a:r>
          </a:p>
          <a:p>
            <a:pPr marL="285750" indent="-285750">
              <a:lnSpc>
                <a:spcPct val="150000"/>
              </a:lnSpc>
              <a:buClr>
                <a:srgbClr val="5A2781"/>
              </a:buClr>
              <a:buFont typeface="Wingdings" panose="05000000000000000000" charset="0"/>
              <a:buChar char="p"/>
              <a:defRPr/>
            </a:pPr>
            <a:r>
              <a:rPr lang="zh-CN" altLang="en-US" sz="1400" dirty="0">
                <a:solidFill>
                  <a:schemeClr val="tx1"/>
                </a:solidFill>
                <a:latin typeface="汉仪文黑-55W" panose="00020600040101010101" pitchFamily="18" charset="-122"/>
                <a:ea typeface="汉仪文黑-55W" panose="00020600040101010101" pitchFamily="18" charset="-122"/>
                <a:sym typeface="+mn-ea"/>
              </a:rPr>
              <a:t>医药生物行业指数最近一周（</a:t>
            </a:r>
            <a:r>
              <a:rPr lang="en-US" altLang="zh-CN" sz="1400" dirty="0" smtClean="0">
                <a:solidFill>
                  <a:schemeClr val="tx1"/>
                </a:solidFill>
                <a:latin typeface="汉仪文黑-55W" panose="00020600040101010101" pitchFamily="18" charset="-122"/>
                <a:ea typeface="汉仪文黑-55W" panose="00020600040101010101" pitchFamily="18" charset="-122"/>
                <a:sym typeface="+mn-ea"/>
              </a:rPr>
              <a:t>2026/08/22-2026/08/28</a:t>
            </a:r>
            <a:r>
              <a:rPr lang="zh-CN" altLang="en-US" sz="1400" dirty="0" smtClean="0">
                <a:solidFill>
                  <a:schemeClr val="tx1"/>
                </a:solidFill>
                <a:latin typeface="汉仪文黑-55W" panose="00020600040101010101" pitchFamily="18" charset="-122"/>
                <a:ea typeface="汉仪文黑-55W" panose="00020600040101010101" pitchFamily="18" charset="-122"/>
                <a:sym typeface="+mn-ea"/>
              </a:rPr>
              <a:t>）</a:t>
            </a:r>
            <a:r>
              <a:rPr lang="zh-CN" altLang="en-US" sz="1400" dirty="0">
                <a:solidFill>
                  <a:schemeClr val="tx1"/>
                </a:solidFill>
                <a:latin typeface="汉仪文黑-55W" panose="00020600040101010101" pitchFamily="18" charset="-122"/>
                <a:ea typeface="汉仪文黑-55W" panose="00020600040101010101" pitchFamily="18" charset="-122"/>
                <a:sym typeface="+mn-ea"/>
              </a:rPr>
              <a:t>跌幅为</a:t>
            </a:r>
            <a:r>
              <a:rPr lang="en-US" altLang="zh-CN" sz="1400" dirty="0">
                <a:solidFill>
                  <a:schemeClr val="tx1"/>
                </a:solidFill>
                <a:latin typeface="汉仪文黑-55W" panose="00020600040101010101" pitchFamily="18" charset="-122"/>
                <a:ea typeface="汉仪文黑-55W" panose="00020600040101010101" pitchFamily="18" charset="-122"/>
                <a:sym typeface="+mn-ea"/>
              </a:rPr>
              <a:t>1.43%</a:t>
            </a:r>
            <a:r>
              <a:rPr lang="zh-CN" altLang="en-US" sz="1400" dirty="0">
                <a:solidFill>
                  <a:schemeClr val="tx1"/>
                </a:solidFill>
                <a:latin typeface="汉仪文黑-55W" panose="00020600040101010101" pitchFamily="18" charset="-122"/>
                <a:ea typeface="汉仪文黑-55W" panose="00020600040101010101" pitchFamily="18" charset="-122"/>
                <a:sym typeface="+mn-ea"/>
              </a:rPr>
              <a:t>，跑输了沪深</a:t>
            </a:r>
            <a:r>
              <a:rPr lang="en-US" altLang="zh-CN" sz="1400" dirty="0">
                <a:solidFill>
                  <a:schemeClr val="tx1"/>
                </a:solidFill>
                <a:latin typeface="汉仪文黑-55W" panose="00020600040101010101" pitchFamily="18" charset="-122"/>
                <a:ea typeface="汉仪文黑-55W" panose="00020600040101010101" pitchFamily="18" charset="-122"/>
                <a:sym typeface="+mn-ea"/>
              </a:rPr>
              <a:t>300</a:t>
            </a:r>
            <a:r>
              <a:rPr lang="zh-CN" altLang="en-US" sz="1400" dirty="0">
                <a:solidFill>
                  <a:schemeClr val="tx1"/>
                </a:solidFill>
                <a:latin typeface="汉仪文黑-55W" panose="00020600040101010101" pitchFamily="18" charset="-122"/>
                <a:ea typeface="汉仪文黑-55W" panose="00020600040101010101" pitchFamily="18" charset="-122"/>
                <a:sym typeface="+mn-ea"/>
              </a:rPr>
              <a:t>指数</a:t>
            </a:r>
            <a:r>
              <a:rPr lang="en-US" altLang="zh-CN" sz="1400" dirty="0">
                <a:solidFill>
                  <a:schemeClr val="tx1"/>
                </a:solidFill>
                <a:latin typeface="汉仪文黑-55W" panose="00020600040101010101" pitchFamily="18" charset="-122"/>
                <a:ea typeface="汉仪文黑-55W" panose="00020600040101010101" pitchFamily="18" charset="-122"/>
                <a:sym typeface="+mn-ea"/>
              </a:rPr>
              <a:t>1.22</a:t>
            </a:r>
            <a:r>
              <a:rPr lang="zh-CN" altLang="en-US" sz="1400" dirty="0">
                <a:solidFill>
                  <a:schemeClr val="tx1"/>
                </a:solidFill>
                <a:latin typeface="汉仪文黑-55W" panose="00020600040101010101" pitchFamily="18" charset="-122"/>
                <a:ea typeface="汉仪文黑-55W" panose="00020600040101010101" pitchFamily="18" charset="-122"/>
                <a:sym typeface="+mn-ea"/>
              </a:rPr>
              <a:t>个百分点；在申万</a:t>
            </a:r>
            <a:r>
              <a:rPr lang="en-US" altLang="zh-CN" sz="1400" dirty="0">
                <a:solidFill>
                  <a:schemeClr val="tx1"/>
                </a:solidFill>
                <a:latin typeface="汉仪文黑-55W" panose="00020600040101010101" pitchFamily="18" charset="-122"/>
                <a:ea typeface="汉仪文黑-55W" panose="00020600040101010101" pitchFamily="18" charset="-122"/>
                <a:sym typeface="+mn-ea"/>
              </a:rPr>
              <a:t>31</a:t>
            </a:r>
            <a:r>
              <a:rPr lang="zh-CN" altLang="en-US" sz="1400" dirty="0">
                <a:solidFill>
                  <a:schemeClr val="tx1"/>
                </a:solidFill>
                <a:latin typeface="汉仪文黑-55W" panose="00020600040101010101" pitchFamily="18" charset="-122"/>
                <a:ea typeface="汉仪文黑-55W" panose="00020600040101010101" pitchFamily="18" charset="-122"/>
                <a:sym typeface="+mn-ea"/>
              </a:rPr>
              <a:t>个一级行业指数中，医药生物行业指数最近一周涨幅排名第</a:t>
            </a:r>
            <a:r>
              <a:rPr lang="en-US" altLang="zh-CN" sz="1400" dirty="0">
                <a:solidFill>
                  <a:schemeClr val="tx1"/>
                </a:solidFill>
                <a:latin typeface="汉仪文黑-55W" panose="00020600040101010101" pitchFamily="18" charset="-122"/>
                <a:ea typeface="汉仪文黑-55W" panose="00020600040101010101" pitchFamily="18" charset="-122"/>
                <a:sym typeface="+mn-ea"/>
              </a:rPr>
              <a:t>29</a:t>
            </a:r>
            <a:r>
              <a:rPr lang="zh-CN" altLang="en-US" sz="1400" dirty="0">
                <a:solidFill>
                  <a:schemeClr val="tx1"/>
                </a:solidFill>
                <a:latin typeface="汉仪文黑-55W" panose="00020600040101010101" pitchFamily="18" charset="-122"/>
                <a:ea typeface="汉仪文黑-55W" panose="00020600040101010101" pitchFamily="18" charset="-122"/>
                <a:sym typeface="+mn-ea"/>
              </a:rPr>
              <a:t>位。</a:t>
            </a:r>
          </a:p>
        </p:txBody>
      </p:sp>
    </p:spTree>
    <p:extLst>
      <p:ext uri="{BB962C8B-B14F-4D97-AF65-F5344CB8AC3E}">
        <p14:creationId xmlns:p14="http://schemas.microsoft.com/office/powerpoint/2010/main" val="763845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573654" y="2678945"/>
            <a:ext cx="10739388" cy="4016773"/>
          </a:xfrm>
          <a:prstGeom prst="rect">
            <a:avLst/>
          </a:prstGeom>
        </p:spPr>
      </p:pic>
      <p:sp>
        <p:nvSpPr>
          <p:cNvPr id="9" name="灯片编号占位符 8">
            <a:extLst>
              <a:ext uri="{FF2B5EF4-FFF2-40B4-BE49-F238E27FC236}">
                <a16:creationId xmlns:a16="http://schemas.microsoft.com/office/drawing/2014/main" id="{AD94E945-36C2-44C8-8BEC-F068155682C5}"/>
              </a:ext>
            </a:extLst>
          </p:cNvPr>
          <p:cNvSpPr>
            <a:spLocks noGrp="1"/>
          </p:cNvSpPr>
          <p:nvPr>
            <p:ph type="sldNum" idx="12"/>
          </p:nvPr>
        </p:nvSpPr>
        <p:spPr/>
        <p:txBody>
          <a:bodyPr/>
          <a:lstStyle/>
          <a:p>
            <a:pPr algn="ctr">
              <a:buNone/>
            </a:pPr>
            <a:r>
              <a:rPr b="1">
                <a:solidFill>
                  <a:schemeClr val="bg1">
                    <a:lumMod val="85000"/>
                  </a:schemeClr>
                </a:solidFill>
                <a:latin typeface="苹方"/>
                <a:ea typeface="苹方"/>
                <a:cs typeface="苹方"/>
              </a:rPr>
              <a:t>15</a:t>
            </a:r>
            <a:endParaRPr b="1">
              <a:latin typeface="苹方"/>
              <a:ea typeface="苹方"/>
              <a:cs typeface="苹方"/>
            </a:endParaRPr>
          </a:p>
        </p:txBody>
      </p:sp>
      <p:sp>
        <p:nvSpPr>
          <p:cNvPr id="14" name="文本框 13">
            <a:extLst>
              <a:ext uri="{FF2B5EF4-FFF2-40B4-BE49-F238E27FC236}">
                <a16:creationId xmlns:a16="http://schemas.microsoft.com/office/drawing/2014/main" id="{72895493-150D-4475-8261-353D364E2B99}"/>
              </a:ext>
            </a:extLst>
          </p:cNvPr>
          <p:cNvSpPr>
            <a:spLocks noGrp="1"/>
          </p:cNvSpPr>
          <p:nvPr/>
        </p:nvSpPr>
        <p:spPr>
          <a:xfrm>
            <a:off x="514350" y="254000"/>
            <a:ext cx="4467225" cy="460375"/>
          </a:xfrm>
          <a:prstGeom prst="rect">
            <a:avLst/>
          </a:prstGeom>
          <a:noFill/>
        </p:spPr>
        <p:txBody>
          <a:bodyPr wrap="square" lIns="0" anchor="t">
            <a:spAutoFit/>
          </a:bodyPr>
          <a:lstStyle/>
          <a:p>
            <a:pPr>
              <a:buNone/>
            </a:pPr>
            <a:r>
              <a:rPr sz="2400" b="1">
                <a:solidFill>
                  <a:srgbClr val="5A2781"/>
                </a:solidFill>
                <a:latin typeface="苹方"/>
                <a:ea typeface="苹方"/>
                <a:cs typeface="苹方"/>
              </a:rPr>
              <a:t>1.行情跟踪-行业月度涨跌幅</a:t>
            </a:r>
          </a:p>
        </p:txBody>
      </p:sp>
      <p:sp>
        <p:nvSpPr>
          <p:cNvPr id="15" name="文本框 14">
            <a:extLst>
              <a:ext uri="{FF2B5EF4-FFF2-40B4-BE49-F238E27FC236}">
                <a16:creationId xmlns:a16="http://schemas.microsoft.com/office/drawing/2014/main" id="{B0F890E4-42CB-4B68-8E2C-EADD45AC4782}"/>
              </a:ext>
            </a:extLst>
          </p:cNvPr>
          <p:cNvSpPr>
            <a:spLocks noGrp="1"/>
          </p:cNvSpPr>
          <p:nvPr/>
        </p:nvSpPr>
        <p:spPr>
          <a:xfrm>
            <a:off x="0" y="6588000"/>
            <a:ext cx="2160000" cy="307777"/>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1400">
                <a:solidFill>
                  <a:schemeClr val="bg2"/>
                </a:solidFill>
                <a:latin typeface="汉仪文黑-55W"/>
                <a:ea typeface="汉仪文黑-55W"/>
                <a:cs typeface="汉仪文黑-55W"/>
              </a:rPr>
              <a:t>诚信、专业、稳健、高效</a:t>
            </a:r>
          </a:p>
        </p:txBody>
      </p:sp>
      <p:sp>
        <p:nvSpPr>
          <p:cNvPr id="16" name="文本框 15">
            <a:extLst>
              <a:ext uri="{FF2B5EF4-FFF2-40B4-BE49-F238E27FC236}">
                <a16:creationId xmlns:a16="http://schemas.microsoft.com/office/drawing/2014/main" id="{6A3AE03E-EB21-432E-9D24-2557E51E8258}"/>
              </a:ext>
            </a:extLst>
          </p:cNvPr>
          <p:cNvSpPr>
            <a:spLocks noGrp="1"/>
          </p:cNvSpPr>
          <p:nvPr/>
        </p:nvSpPr>
        <p:spPr>
          <a:xfrm>
            <a:off x="8573450" y="6588000"/>
            <a:ext cx="2520000" cy="307777"/>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1400">
                <a:solidFill>
                  <a:schemeClr val="bg2"/>
                </a:solidFill>
                <a:latin typeface="汉仪文黑-55W"/>
                <a:ea typeface="汉仪文黑-55W"/>
                <a:cs typeface="汉仪文黑-55W"/>
              </a:rPr>
              <a:t>请阅读最后一页重要免责声明</a:t>
            </a:r>
          </a:p>
        </p:txBody>
      </p:sp>
      <p:sp>
        <p:nvSpPr>
          <p:cNvPr id="3" name="文本框 2">
            <a:extLst>
              <a:ext uri="{FF2B5EF4-FFF2-40B4-BE49-F238E27FC236}">
                <a16:creationId xmlns:a16="http://schemas.microsoft.com/office/drawing/2014/main" id="{93FE1677-E0E7-4828-BC6B-08C379F9850F}"/>
              </a:ext>
            </a:extLst>
          </p:cNvPr>
          <p:cNvSpPr>
            <a:spLocks noGrp="1"/>
          </p:cNvSpPr>
          <p:nvPr/>
        </p:nvSpPr>
        <p:spPr>
          <a:xfrm>
            <a:off x="55949" y="6350241"/>
            <a:ext cx="4549475" cy="275590"/>
          </a:xfrm>
          <a:prstGeom prst="rect">
            <a:avLst/>
          </a:prstGeom>
          <a:noFill/>
        </p:spPr>
        <p:txBody>
          <a:bodyPr wrap="square">
            <a:spAutoFit/>
          </a:bodyPr>
          <a:lstStyle/>
          <a:p>
            <a:pPr lvl="0" algn="l">
              <a:buClrTx/>
              <a:buSzTx/>
              <a:buFontTx/>
              <a:buNone/>
            </a:pPr>
            <a:r>
              <a:rPr sz="1200" dirty="0" err="1">
                <a:solidFill>
                  <a:schemeClr val="tx1">
                    <a:lumMod val="65000"/>
                    <a:lumOff val="35000"/>
                  </a:schemeClr>
                </a:solidFill>
                <a:latin typeface="汉仪文黑-55W" panose="00020600040101010101" pitchFamily="18" charset="-122"/>
                <a:ea typeface="汉仪文黑-55W" panose="00020600040101010101" pitchFamily="18" charset="-122"/>
                <a:cs typeface="汉仪文黑-55W"/>
              </a:rPr>
              <a:t>资料来源：</a:t>
            </a:r>
            <a:r>
              <a:rPr sz="1200" dirty="0" err="1">
                <a:solidFill>
                  <a:schemeClr val="tx1">
                    <a:lumMod val="65000"/>
                    <a:lumOff val="35000"/>
                  </a:schemeClr>
                </a:solidFill>
                <a:latin typeface="汉仪文黑-55W" panose="00020600040101010101" pitchFamily="18" charset="-122"/>
                <a:ea typeface="汉仪文黑-55W" panose="00020600040101010101" pitchFamily="18" charset="-122"/>
                <a:cs typeface="苹方"/>
              </a:rPr>
              <a:t>WIND，华鑫证券研究所</a:t>
            </a:r>
            <a:endParaRPr sz="1200" dirty="0">
              <a:solidFill>
                <a:schemeClr val="tx1">
                  <a:lumMod val="65000"/>
                  <a:lumOff val="35000"/>
                </a:schemeClr>
              </a:solidFill>
              <a:latin typeface="汉仪文黑-55W" panose="00020600040101010101" pitchFamily="18" charset="-122"/>
              <a:ea typeface="汉仪文黑-55W" panose="00020600040101010101" pitchFamily="18" charset="-122"/>
              <a:cs typeface="苹方"/>
            </a:endParaRPr>
          </a:p>
        </p:txBody>
      </p:sp>
      <p:sp>
        <p:nvSpPr>
          <p:cNvPr id="8" name="文本框 7">
            <a:extLst>
              <a:ext uri="{FF2B5EF4-FFF2-40B4-BE49-F238E27FC236}">
                <a16:creationId xmlns:a16="http://schemas.microsoft.com/office/drawing/2014/main" id="{48436BE0-AD78-427F-8A26-F0179151FD2B}"/>
              </a:ext>
            </a:extLst>
          </p:cNvPr>
          <p:cNvSpPr>
            <a:spLocks noGrp="1"/>
          </p:cNvSpPr>
          <p:nvPr/>
        </p:nvSpPr>
        <p:spPr>
          <a:xfrm>
            <a:off x="4680000" y="2096489"/>
            <a:ext cx="2539365" cy="306705"/>
          </a:xfrm>
          <a:prstGeom prst="rect">
            <a:avLst/>
          </a:prstGeom>
          <a:noFill/>
        </p:spPr>
        <p:txBody>
          <a:bodyPr wrap="square">
            <a:spAutoFit/>
          </a:bodyPr>
          <a:lstStyle/>
          <a:p>
            <a:r>
              <a:rPr sz="1400" b="1">
                <a:solidFill>
                  <a:schemeClr val="tx1"/>
                </a:solidFill>
                <a:latin typeface="汉仪文黑-55W"/>
                <a:ea typeface="汉仪文黑-55W"/>
                <a:cs typeface="汉仪文黑-55W"/>
              </a:rPr>
              <a:t>图表：板块近一月涨跌幅</a:t>
            </a:r>
          </a:p>
        </p:txBody>
      </p:sp>
      <p:sp>
        <p:nvSpPr>
          <p:cNvPr id="6" name="矩形 5">
            <a:extLst>
              <a:ext uri="{FF2B5EF4-FFF2-40B4-BE49-F238E27FC236}">
                <a16:creationId xmlns:a16="http://schemas.microsoft.com/office/drawing/2014/main" id="{A5F2ABC8-1F98-40F2-AD38-B309F9636A90}"/>
              </a:ext>
            </a:extLst>
          </p:cNvPr>
          <p:cNvSpPr>
            <a:spLocks noGrp="1"/>
          </p:cNvSpPr>
          <p:nvPr/>
        </p:nvSpPr>
        <p:spPr>
          <a:xfrm>
            <a:off x="768668" y="721995"/>
            <a:ext cx="10874692" cy="1181100"/>
          </a:xfrm>
          <a:prstGeom prst="rect">
            <a:avLst/>
          </a:prstGeom>
        </p:spPr>
        <p:txBody>
          <a:bodyPr wrap="square">
            <a:no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marL="285750" indent="-285750">
              <a:lnSpc>
                <a:spcPct val="150000"/>
              </a:lnSpc>
              <a:buClr>
                <a:srgbClr val="5A2781"/>
              </a:buClr>
              <a:buFont typeface="Wingdings"/>
              <a:buChar char="p"/>
            </a:pPr>
            <a:endParaRPr sz="1600">
              <a:solidFill>
                <a:schemeClr val="tx1">
                  <a:lumMod val="75000"/>
                  <a:lumOff val="25000"/>
                </a:schemeClr>
              </a:solidFill>
              <a:latin typeface="汉仪文黑-55W"/>
              <a:ea typeface="汉仪文黑-55W"/>
              <a:cs typeface="汉仪文黑-55W"/>
            </a:endParaRPr>
          </a:p>
        </p:txBody>
      </p:sp>
      <p:sp>
        <p:nvSpPr>
          <p:cNvPr id="11" name="矩形 10">
            <a:extLst>
              <a:ext uri="{FF2B5EF4-FFF2-40B4-BE49-F238E27FC236}">
                <a16:creationId xmlns:a16="http://schemas.microsoft.com/office/drawing/2014/main" id="{94674516-F99D-4BCD-B45A-478D6C523B28}"/>
              </a:ext>
            </a:extLst>
          </p:cNvPr>
          <p:cNvSpPr>
            <a:spLocks noGrp="1"/>
          </p:cNvSpPr>
          <p:nvPr/>
        </p:nvSpPr>
        <p:spPr>
          <a:xfrm>
            <a:off x="5725747" y="2877116"/>
            <a:ext cx="377341" cy="3438651"/>
          </a:xfrm>
          <a:prstGeom prst="rect">
            <a:avLst/>
          </a:prstGeom>
          <a:noFill/>
          <a:ln w="28575">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endParaRPr/>
          </a:p>
        </p:txBody>
      </p:sp>
      <p:sp>
        <p:nvSpPr>
          <p:cNvPr id="17" name="矩形 16"/>
          <p:cNvSpPr/>
          <p:nvPr/>
        </p:nvSpPr>
        <p:spPr>
          <a:xfrm>
            <a:off x="425794" y="764103"/>
            <a:ext cx="10977245" cy="1499871"/>
          </a:xfrm>
          <a:prstGeom prst="rect">
            <a:avLst/>
          </a:prstGeom>
        </p:spPr>
        <p:txBody>
          <a:bodyPr wrap="square">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lnSpc>
                <a:spcPct val="150000"/>
              </a:lnSpc>
              <a:buClr>
                <a:srgbClr val="5A2781"/>
              </a:buClr>
              <a:buFont typeface="Wingdings" panose="05000000000000000000" charset="0"/>
              <a:buChar char="p"/>
              <a:defRPr/>
            </a:pPr>
            <a:r>
              <a:rPr lang="zh-CN" altLang="en-US" sz="1600" b="1">
                <a:solidFill>
                  <a:schemeClr val="tx1">
                    <a:lumMod val="75000"/>
                    <a:lumOff val="25000"/>
                  </a:schemeClr>
                </a:solidFill>
                <a:latin typeface="汉仪文黑-55W" panose="00020600040101010101" pitchFamily="18" charset="-122"/>
                <a:ea typeface="汉仪文黑-55W" panose="00020600040101010101" pitchFamily="18" charset="-122"/>
                <a:sym typeface="+mn-ea"/>
              </a:rPr>
              <a:t>医药行业最近一个月跑赢沪深</a:t>
            </a:r>
            <a:r>
              <a:rPr lang="en-US" altLang="zh-CN" sz="1600" b="1">
                <a:solidFill>
                  <a:schemeClr val="tx1">
                    <a:lumMod val="75000"/>
                    <a:lumOff val="25000"/>
                  </a:schemeClr>
                </a:solidFill>
                <a:latin typeface="汉仪文黑-55W" panose="00020600040101010101" pitchFamily="18" charset="-122"/>
                <a:ea typeface="汉仪文黑-55W" panose="00020600040101010101" pitchFamily="18" charset="-122"/>
                <a:sym typeface="+mn-ea"/>
              </a:rPr>
              <a:t>300</a:t>
            </a:r>
            <a:r>
              <a:rPr lang="zh-CN" altLang="en-US" sz="1600" b="1">
                <a:solidFill>
                  <a:schemeClr val="tx1">
                    <a:lumMod val="75000"/>
                    <a:lumOff val="25000"/>
                  </a:schemeClr>
                </a:solidFill>
                <a:latin typeface="汉仪文黑-55W" panose="00020600040101010101" pitchFamily="18" charset="-122"/>
                <a:ea typeface="汉仪文黑-55W" panose="00020600040101010101" pitchFamily="18" charset="-122"/>
                <a:sym typeface="+mn-ea"/>
              </a:rPr>
              <a:t>指数</a:t>
            </a:r>
            <a:r>
              <a:rPr lang="en-US" altLang="zh-CN" sz="1600" b="1">
                <a:solidFill>
                  <a:schemeClr val="tx1">
                    <a:lumMod val="75000"/>
                    <a:lumOff val="25000"/>
                  </a:schemeClr>
                </a:solidFill>
                <a:latin typeface="汉仪文黑-55W" panose="00020600040101010101" pitchFamily="18" charset="-122"/>
                <a:ea typeface="汉仪文黑-55W" panose="00020600040101010101" pitchFamily="18" charset="-122"/>
                <a:sym typeface="+mn-ea"/>
              </a:rPr>
              <a:t>4.74</a:t>
            </a:r>
            <a:r>
              <a:rPr lang="zh-CN" altLang="en-US" sz="1600" b="1">
                <a:solidFill>
                  <a:schemeClr val="tx1">
                    <a:lumMod val="75000"/>
                    <a:lumOff val="25000"/>
                  </a:schemeClr>
                </a:solidFill>
                <a:latin typeface="汉仪文黑-55W" panose="00020600040101010101" pitchFamily="18" charset="-122"/>
                <a:ea typeface="汉仪文黑-55W" panose="00020600040101010101" pitchFamily="18" charset="-122"/>
                <a:sym typeface="+mn-ea"/>
              </a:rPr>
              <a:t>个百分点，涨幅排名第</a:t>
            </a:r>
            <a:r>
              <a:rPr lang="en-US" altLang="zh-CN" sz="1600" b="1">
                <a:solidFill>
                  <a:schemeClr val="tx1">
                    <a:lumMod val="75000"/>
                    <a:lumOff val="25000"/>
                  </a:schemeClr>
                </a:solidFill>
                <a:latin typeface="汉仪文黑-55W" panose="00020600040101010101" pitchFamily="18" charset="-122"/>
                <a:ea typeface="汉仪文黑-55W" panose="00020600040101010101" pitchFamily="18" charset="-122"/>
                <a:sym typeface="+mn-ea"/>
              </a:rPr>
              <a:t>15</a:t>
            </a:r>
            <a:r>
              <a:rPr lang="zh-CN" altLang="en-US" sz="1600" b="1">
                <a:solidFill>
                  <a:schemeClr val="tx1">
                    <a:lumMod val="75000"/>
                    <a:lumOff val="25000"/>
                  </a:schemeClr>
                </a:solidFill>
                <a:latin typeface="汉仪文黑-55W" panose="00020600040101010101" pitchFamily="18" charset="-122"/>
                <a:ea typeface="汉仪文黑-55W" panose="00020600040101010101" pitchFamily="18" charset="-122"/>
                <a:sym typeface="+mn-ea"/>
              </a:rPr>
              <a:t>位</a:t>
            </a:r>
            <a:endParaRPr lang="en-US" altLang="zh-CN" sz="1600" b="1">
              <a:solidFill>
                <a:schemeClr val="tx1">
                  <a:lumMod val="75000"/>
                  <a:lumOff val="25000"/>
                </a:schemeClr>
              </a:solidFill>
              <a:latin typeface="汉仪文黑-55W" panose="00020600040101010101" pitchFamily="18" charset="-122"/>
              <a:ea typeface="汉仪文黑-55W" panose="00020600040101010101" pitchFamily="18" charset="-122"/>
              <a:sym typeface="+mn-ea"/>
            </a:endParaRPr>
          </a:p>
          <a:p>
            <a:pPr marL="285750" indent="-285750">
              <a:lnSpc>
                <a:spcPct val="150000"/>
              </a:lnSpc>
              <a:buClr>
                <a:srgbClr val="5A2781"/>
              </a:buClr>
              <a:buFont typeface="Wingdings" panose="05000000000000000000" charset="0"/>
              <a:buChar char="p"/>
              <a:defRPr/>
            </a:pPr>
            <a:r>
              <a:rPr lang="zh-CN" altLang="en-US" sz="1600">
                <a:solidFill>
                  <a:schemeClr val="tx1">
                    <a:lumMod val="75000"/>
                    <a:lumOff val="25000"/>
                  </a:schemeClr>
                </a:solidFill>
                <a:latin typeface="汉仪文黑-55W" panose="00020600040101010101" pitchFamily="18" charset="-122"/>
                <a:ea typeface="汉仪文黑-55W" panose="00020600040101010101" pitchFamily="18" charset="-122"/>
                <a:sym typeface="+mn-ea"/>
              </a:rPr>
              <a:t>医药生物行业指数最近一月（</a:t>
            </a:r>
            <a:r>
              <a:rPr lang="en-US" altLang="zh-CN" sz="1600">
                <a:solidFill>
                  <a:schemeClr val="tx1">
                    <a:lumMod val="75000"/>
                    <a:lumOff val="25000"/>
                  </a:schemeClr>
                </a:solidFill>
                <a:latin typeface="汉仪文黑-55W" panose="00020600040101010101" pitchFamily="18" charset="-122"/>
                <a:ea typeface="汉仪文黑-55W" panose="00020600040101010101" pitchFamily="18" charset="-122"/>
                <a:sym typeface="+mn-ea"/>
              </a:rPr>
              <a:t>2026/08/28-2026/08/28</a:t>
            </a:r>
            <a:r>
              <a:rPr lang="zh-CN" altLang="en-US" sz="1600">
                <a:solidFill>
                  <a:schemeClr val="tx1">
                    <a:lumMod val="75000"/>
                    <a:lumOff val="25000"/>
                  </a:schemeClr>
                </a:solidFill>
                <a:latin typeface="汉仪文黑-55W" panose="00020600040101010101" pitchFamily="18" charset="-122"/>
                <a:ea typeface="汉仪文黑-55W" panose="00020600040101010101" pitchFamily="18" charset="-122"/>
                <a:sym typeface="+mn-ea"/>
              </a:rPr>
              <a:t>）涨幅为</a:t>
            </a:r>
            <a:r>
              <a:rPr lang="en-US" altLang="zh-CN" sz="1600">
                <a:solidFill>
                  <a:schemeClr val="tx1">
                    <a:lumMod val="75000"/>
                    <a:lumOff val="25000"/>
                  </a:schemeClr>
                </a:solidFill>
                <a:latin typeface="汉仪文黑-55W" panose="00020600040101010101" pitchFamily="18" charset="-122"/>
                <a:ea typeface="汉仪文黑-55W" panose="00020600040101010101" pitchFamily="18" charset="-122"/>
                <a:sym typeface="+mn-ea"/>
              </a:rPr>
              <a:t>5.61%</a:t>
            </a:r>
            <a:r>
              <a:rPr lang="zh-CN" altLang="en-US" sz="1600">
                <a:solidFill>
                  <a:schemeClr val="tx1">
                    <a:lumMod val="75000"/>
                    <a:lumOff val="25000"/>
                  </a:schemeClr>
                </a:solidFill>
                <a:latin typeface="汉仪文黑-55W" panose="00020600040101010101" pitchFamily="18" charset="-122"/>
                <a:ea typeface="汉仪文黑-55W" panose="00020600040101010101" pitchFamily="18" charset="-122"/>
                <a:sym typeface="+mn-ea"/>
              </a:rPr>
              <a:t>，跑赢沪深</a:t>
            </a:r>
            <a:r>
              <a:rPr lang="en-US" altLang="zh-CN" sz="1600">
                <a:solidFill>
                  <a:schemeClr val="tx1">
                    <a:lumMod val="75000"/>
                    <a:lumOff val="25000"/>
                  </a:schemeClr>
                </a:solidFill>
                <a:latin typeface="汉仪文黑-55W" panose="00020600040101010101" pitchFamily="18" charset="-122"/>
                <a:ea typeface="汉仪文黑-55W" panose="00020600040101010101" pitchFamily="18" charset="-122"/>
                <a:sym typeface="+mn-ea"/>
              </a:rPr>
              <a:t>300</a:t>
            </a:r>
            <a:r>
              <a:rPr lang="zh-CN" altLang="en-US" sz="1600">
                <a:solidFill>
                  <a:schemeClr val="tx1">
                    <a:lumMod val="75000"/>
                    <a:lumOff val="25000"/>
                  </a:schemeClr>
                </a:solidFill>
                <a:latin typeface="汉仪文黑-55W" panose="00020600040101010101" pitchFamily="18" charset="-122"/>
                <a:ea typeface="汉仪文黑-55W" panose="00020600040101010101" pitchFamily="18" charset="-122"/>
                <a:sym typeface="+mn-ea"/>
              </a:rPr>
              <a:t>指数</a:t>
            </a:r>
            <a:r>
              <a:rPr lang="en-US" altLang="zh-CN" sz="1600">
                <a:solidFill>
                  <a:schemeClr val="tx1">
                    <a:lumMod val="75000"/>
                    <a:lumOff val="25000"/>
                  </a:schemeClr>
                </a:solidFill>
                <a:latin typeface="汉仪文黑-55W" panose="00020600040101010101" pitchFamily="18" charset="-122"/>
                <a:ea typeface="汉仪文黑-55W" panose="00020600040101010101" pitchFamily="18" charset="-122"/>
                <a:sym typeface="+mn-ea"/>
              </a:rPr>
              <a:t>4.74</a:t>
            </a:r>
            <a:r>
              <a:rPr lang="zh-CN" altLang="en-US" sz="1600">
                <a:solidFill>
                  <a:schemeClr val="tx1">
                    <a:lumMod val="75000"/>
                    <a:lumOff val="25000"/>
                  </a:schemeClr>
                </a:solidFill>
                <a:latin typeface="汉仪文黑-55W" panose="00020600040101010101" pitchFamily="18" charset="-122"/>
                <a:ea typeface="汉仪文黑-55W" panose="00020600040101010101" pitchFamily="18" charset="-122"/>
                <a:sym typeface="+mn-ea"/>
              </a:rPr>
              <a:t>个百分点；</a:t>
            </a:r>
            <a:endParaRPr lang="en-US" altLang="zh-CN" sz="1600">
              <a:solidFill>
                <a:schemeClr val="tx1">
                  <a:lumMod val="75000"/>
                  <a:lumOff val="25000"/>
                </a:schemeClr>
              </a:solidFill>
              <a:latin typeface="汉仪文黑-55W" panose="00020600040101010101" pitchFamily="18" charset="-122"/>
              <a:ea typeface="汉仪文黑-55W" panose="00020600040101010101" pitchFamily="18" charset="-122"/>
              <a:sym typeface="+mn-ea"/>
            </a:endParaRPr>
          </a:p>
          <a:p>
            <a:pPr marL="285750" indent="-285750">
              <a:lnSpc>
                <a:spcPct val="150000"/>
              </a:lnSpc>
              <a:buClr>
                <a:srgbClr val="5A2781"/>
              </a:buClr>
              <a:buFont typeface="Wingdings" panose="05000000000000000000" charset="0"/>
              <a:buChar char="p"/>
              <a:defRPr/>
            </a:pPr>
            <a:r>
              <a:rPr lang="zh-CN" altLang="en-US" sz="1600">
                <a:solidFill>
                  <a:schemeClr val="tx1">
                    <a:lumMod val="75000"/>
                    <a:lumOff val="25000"/>
                  </a:schemeClr>
                </a:solidFill>
                <a:latin typeface="汉仪文黑-55W" panose="00020600040101010101" pitchFamily="18" charset="-122"/>
                <a:ea typeface="汉仪文黑-55W" panose="00020600040101010101" pitchFamily="18" charset="-122"/>
                <a:sym typeface="+mn-ea"/>
              </a:rPr>
              <a:t>在申万</a:t>
            </a:r>
            <a:r>
              <a:rPr lang="en-US" altLang="zh-CN" sz="1600">
                <a:solidFill>
                  <a:schemeClr val="tx1">
                    <a:lumMod val="75000"/>
                    <a:lumOff val="25000"/>
                  </a:schemeClr>
                </a:solidFill>
                <a:latin typeface="汉仪文黑-55W" panose="00020600040101010101" pitchFamily="18" charset="-122"/>
                <a:ea typeface="汉仪文黑-55W" panose="00020600040101010101" pitchFamily="18" charset="-122"/>
                <a:sym typeface="+mn-ea"/>
              </a:rPr>
              <a:t>31</a:t>
            </a:r>
            <a:r>
              <a:rPr lang="zh-CN" altLang="en-US" sz="1600">
                <a:solidFill>
                  <a:schemeClr val="tx1">
                    <a:lumMod val="75000"/>
                    <a:lumOff val="25000"/>
                  </a:schemeClr>
                </a:solidFill>
                <a:latin typeface="汉仪文黑-55W" panose="00020600040101010101" pitchFamily="18" charset="-122"/>
                <a:ea typeface="汉仪文黑-55W" panose="00020600040101010101" pitchFamily="18" charset="-122"/>
                <a:sym typeface="+mn-ea"/>
              </a:rPr>
              <a:t>个一级行业指数中，医药生物指数最近一月超额收益排名第</a:t>
            </a:r>
            <a:r>
              <a:rPr lang="en-US" altLang="zh-CN" sz="1600">
                <a:solidFill>
                  <a:schemeClr val="tx1">
                    <a:lumMod val="75000"/>
                    <a:lumOff val="25000"/>
                  </a:schemeClr>
                </a:solidFill>
                <a:latin typeface="汉仪文黑-55W" panose="00020600040101010101" pitchFamily="18" charset="-122"/>
                <a:ea typeface="汉仪文黑-55W" panose="00020600040101010101" pitchFamily="18" charset="-122"/>
                <a:sym typeface="+mn-ea"/>
              </a:rPr>
              <a:t>15</a:t>
            </a:r>
            <a:r>
              <a:rPr lang="zh-CN" altLang="en-US" sz="1600">
                <a:solidFill>
                  <a:schemeClr val="tx1">
                    <a:lumMod val="75000"/>
                    <a:lumOff val="25000"/>
                  </a:schemeClr>
                </a:solidFill>
                <a:latin typeface="汉仪文黑-55W" panose="00020600040101010101" pitchFamily="18" charset="-122"/>
                <a:ea typeface="汉仪文黑-55W" panose="00020600040101010101" pitchFamily="18" charset="-122"/>
                <a:sym typeface="+mn-ea"/>
              </a:rPr>
              <a:t>位。</a:t>
            </a:r>
          </a:p>
        </p:txBody>
      </p:sp>
    </p:spTree>
    <p:extLst>
      <p:ext uri="{BB962C8B-B14F-4D97-AF65-F5344CB8AC3E}">
        <p14:creationId xmlns:p14="http://schemas.microsoft.com/office/powerpoint/2010/main" val="1774331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12"/>
          </p:nvPr>
        </p:nvSpPr>
        <p:spPr/>
        <p:txBody>
          <a:bodyPr/>
          <a:lstStyle/>
          <a:p>
            <a:pPr algn="ctr"/>
            <a:r>
              <a:rPr lang="en-US" altLang="zh-CN" b="1" dirty="0">
                <a:solidFill>
                  <a:schemeClr val="bg1">
                    <a:lumMod val="85000"/>
                  </a:schemeClr>
                </a:solidFill>
                <a:latin typeface="苹方" charset="0"/>
                <a:ea typeface="汉仪文黑-55W" pitchFamily="18" charset="-122"/>
                <a:cs typeface="苹方" charset="0"/>
                <a:sym typeface="+mn-ea"/>
              </a:rPr>
              <a:t>16</a:t>
            </a:r>
            <a:endParaRPr lang="zh-CN" altLang="en-US" b="1" dirty="0">
              <a:latin typeface="苹方" charset="0"/>
              <a:ea typeface="汉仪文黑-55W" pitchFamily="18" charset="-122"/>
              <a:cs typeface="苹方" charset="0"/>
            </a:endParaRPr>
          </a:p>
        </p:txBody>
      </p:sp>
      <p:sp>
        <p:nvSpPr>
          <p:cNvPr id="14" name="文本框 13"/>
          <p:cNvSpPr txBox="1"/>
          <p:nvPr/>
        </p:nvSpPr>
        <p:spPr>
          <a:xfrm>
            <a:off x="514350" y="254000"/>
            <a:ext cx="4467225" cy="460375"/>
          </a:xfrm>
          <a:prstGeom prst="rect">
            <a:avLst/>
          </a:prstGeom>
          <a:noFill/>
        </p:spPr>
        <p:txBody>
          <a:bodyPr wrap="square" lIns="0" rtlCol="0" anchor="t">
            <a:spAutoFit/>
          </a:bodyPr>
          <a:lstStyle/>
          <a:p>
            <a:pPr algn="dist"/>
            <a:r>
              <a:rPr lang="en-US" sz="2400" b="1" dirty="0">
                <a:solidFill>
                  <a:srgbClr val="5A2781"/>
                </a:solidFill>
                <a:latin typeface="苹方" charset="0"/>
                <a:ea typeface="汉仪文黑-55W" pitchFamily="18" charset="-122"/>
                <a:cs typeface="苹方" charset="0"/>
                <a:sym typeface="+mn-ea"/>
              </a:rPr>
              <a:t>1</a:t>
            </a:r>
            <a:r>
              <a:rPr sz="2400" b="1" dirty="0">
                <a:solidFill>
                  <a:srgbClr val="5A2781"/>
                </a:solidFill>
                <a:latin typeface="苹方" charset="0"/>
                <a:ea typeface="汉仪文黑-55W" pitchFamily="18" charset="-122"/>
                <a:cs typeface="苹方" charset="0"/>
                <a:sym typeface="+mn-ea"/>
              </a:rPr>
              <a:t>.行情跟踪-子行业涨跌幅</a:t>
            </a:r>
          </a:p>
        </p:txBody>
      </p:sp>
      <p:sp>
        <p:nvSpPr>
          <p:cNvPr id="15" name="文本框 14"/>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诚信、专业、稳健、高效</a:t>
            </a:r>
          </a:p>
        </p:txBody>
      </p:sp>
      <p:sp>
        <p:nvSpPr>
          <p:cNvPr id="16" name="文本框 15"/>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请阅读最后一页重要免责声明</a:t>
            </a:r>
          </a:p>
        </p:txBody>
      </p:sp>
      <p:sp>
        <p:nvSpPr>
          <p:cNvPr id="3" name="文本框 2"/>
          <p:cNvSpPr txBox="1"/>
          <p:nvPr/>
        </p:nvSpPr>
        <p:spPr>
          <a:xfrm>
            <a:off x="0" y="6317576"/>
            <a:ext cx="10611485" cy="275590"/>
          </a:xfrm>
          <a:prstGeom prst="rect">
            <a:avLst/>
          </a:prstGeom>
          <a:noFill/>
        </p:spPr>
        <p:txBody>
          <a:bodyPr wrap="square" rtlCol="0">
            <a:spAutoFit/>
          </a:bodyPr>
          <a:lstStyle/>
          <a:p>
            <a:pPr algn="l">
              <a:buClrTx/>
              <a:buSzTx/>
              <a:buFontTx/>
            </a:pPr>
            <a:r>
              <a:rPr lang="zh-CN" altLang="en-US" sz="1200" dirty="0">
                <a:solidFill>
                  <a:schemeClr val="tx1">
                    <a:lumMod val="65000"/>
                    <a:lumOff val="35000"/>
                  </a:schemeClr>
                </a:solidFill>
                <a:latin typeface="汉仪文黑-55W" pitchFamily="18" charset="-122"/>
                <a:ea typeface="汉仪文黑-55W" pitchFamily="18" charset="-122"/>
              </a:rPr>
              <a:t>资料来</a:t>
            </a:r>
            <a:r>
              <a:rPr lang="zh-CN" altLang="en-US" sz="1200" dirty="0">
                <a:solidFill>
                  <a:schemeClr val="tx1">
                    <a:lumMod val="65000"/>
                    <a:lumOff val="35000"/>
                  </a:schemeClr>
                </a:solidFill>
                <a:latin typeface="苹方" charset="0"/>
                <a:ea typeface="汉仪文黑-55W" pitchFamily="18" charset="-122"/>
                <a:cs typeface="苹方" charset="0"/>
              </a:rPr>
              <a:t>源：WIND，华鑫证券研究所</a:t>
            </a:r>
          </a:p>
        </p:txBody>
      </p:sp>
      <p:sp>
        <p:nvSpPr>
          <p:cNvPr id="6" name="文本框 5"/>
          <p:cNvSpPr txBox="1"/>
          <p:nvPr/>
        </p:nvSpPr>
        <p:spPr>
          <a:xfrm>
            <a:off x="2160000" y="2824244"/>
            <a:ext cx="2539365" cy="306705"/>
          </a:xfrm>
          <a:prstGeom prst="rect">
            <a:avLst/>
          </a:prstGeom>
          <a:noFill/>
        </p:spPr>
        <p:txBody>
          <a:bodyPr wrap="square" rtlCol="0">
            <a:spAutoFit/>
          </a:bodyPr>
          <a:lstStyle/>
          <a:p>
            <a:pPr algn="l">
              <a:buClrTx/>
              <a:buSzTx/>
              <a:buFontTx/>
            </a:pPr>
            <a:r>
              <a:rPr lang="zh-CN" altLang="en-US" sz="1400" b="1" dirty="0">
                <a:latin typeface="汉仪文黑-55W" pitchFamily="18" charset="-122"/>
                <a:ea typeface="汉仪文黑-55W" pitchFamily="18" charset="-122"/>
              </a:rPr>
              <a:t>图表：子行业周涨跌幅</a:t>
            </a:r>
          </a:p>
        </p:txBody>
      </p:sp>
      <p:sp>
        <p:nvSpPr>
          <p:cNvPr id="7" name="文本框 6"/>
          <p:cNvSpPr txBox="1"/>
          <p:nvPr/>
        </p:nvSpPr>
        <p:spPr>
          <a:xfrm>
            <a:off x="8148601" y="2824243"/>
            <a:ext cx="2539365" cy="306705"/>
          </a:xfrm>
          <a:prstGeom prst="rect">
            <a:avLst/>
          </a:prstGeom>
          <a:noFill/>
        </p:spPr>
        <p:txBody>
          <a:bodyPr wrap="square" rtlCol="0">
            <a:spAutoFit/>
          </a:bodyPr>
          <a:lstStyle/>
          <a:p>
            <a:r>
              <a:rPr lang="zh-CN" altLang="en-US" sz="1400" b="1" dirty="0">
                <a:latin typeface="汉仪文黑-55W" pitchFamily="18" charset="-122"/>
                <a:ea typeface="汉仪文黑-55W" pitchFamily="18" charset="-122"/>
              </a:rPr>
              <a:t>图表：子行业月涨跌幅</a:t>
            </a:r>
            <a:endParaRPr lang="zh-CN" altLang="en-US" sz="1400" dirty="0">
              <a:latin typeface="微软雅黑" charset="-122"/>
              <a:ea typeface="微软雅黑" charset="-122"/>
            </a:endParaRPr>
          </a:p>
        </p:txBody>
      </p:sp>
      <p:pic>
        <p:nvPicPr>
          <p:cNvPr id="4" name="图片 3"/>
          <p:cNvPicPr>
            <a:picLocks noChangeAspect="1"/>
          </p:cNvPicPr>
          <p:nvPr/>
        </p:nvPicPr>
        <p:blipFill>
          <a:blip r:embed="rId3"/>
          <a:stretch>
            <a:fillRect/>
          </a:stretch>
        </p:blipFill>
        <p:spPr>
          <a:xfrm>
            <a:off x="-189275" y="3293061"/>
            <a:ext cx="6668167" cy="3388446"/>
          </a:xfrm>
          <a:prstGeom prst="rect">
            <a:avLst/>
          </a:prstGeom>
        </p:spPr>
      </p:pic>
      <p:pic>
        <p:nvPicPr>
          <p:cNvPr id="8" name="图片 7"/>
          <p:cNvPicPr>
            <a:picLocks noChangeAspect="1"/>
          </p:cNvPicPr>
          <p:nvPr/>
        </p:nvPicPr>
        <p:blipFill>
          <a:blip r:embed="rId4"/>
          <a:stretch>
            <a:fillRect/>
          </a:stretch>
        </p:blipFill>
        <p:spPr>
          <a:xfrm>
            <a:off x="6325571" y="3212661"/>
            <a:ext cx="5689219" cy="3460085"/>
          </a:xfrm>
          <a:prstGeom prst="rect">
            <a:avLst/>
          </a:prstGeom>
        </p:spPr>
      </p:pic>
      <p:sp>
        <p:nvSpPr>
          <p:cNvPr id="17" name="文本框 9"/>
          <p:cNvSpPr txBox="1"/>
          <p:nvPr/>
        </p:nvSpPr>
        <p:spPr>
          <a:xfrm>
            <a:off x="405840" y="799611"/>
            <a:ext cx="11242917" cy="2412394"/>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lgn="just">
              <a:lnSpc>
                <a:spcPct val="150000"/>
              </a:lnSpc>
              <a:buClr>
                <a:srgbClr val="5A2781"/>
              </a:buClr>
              <a:buFont typeface="Wingdings" panose="05000000000000000000" pitchFamily="2" charset="2"/>
              <a:buChar char="p"/>
              <a:defRPr/>
            </a:pPr>
            <a:r>
              <a:rPr lang="zh-CN" altLang="en-US" sz="1600" b="1"/>
              <a:t>子行业医药生物制品中药</a:t>
            </a:r>
            <a:r>
              <a:rPr lang="en-US" altLang="zh-CN" sz="1600" b="1"/>
              <a:t>II</a:t>
            </a:r>
            <a:r>
              <a:rPr lang="zh-CN" altLang="en-US" sz="1600" b="1"/>
              <a:t>周涨幅最大，医疗服务月涨幅最大</a:t>
            </a:r>
          </a:p>
          <a:p>
            <a:pPr marL="285750" indent="-285750" algn="just">
              <a:lnSpc>
                <a:spcPct val="150000"/>
              </a:lnSpc>
              <a:buClr>
                <a:srgbClr val="5A2781"/>
              </a:buClr>
              <a:buFont typeface="Wingdings" panose="05000000000000000000" pitchFamily="2" charset="2"/>
              <a:buChar char="p"/>
              <a:defRPr/>
            </a:pPr>
            <a:r>
              <a:rPr lang="zh-CN" altLang="en-US" sz="1600"/>
              <a:t>最近一周涨幅最大的子板块为中药</a:t>
            </a:r>
            <a:r>
              <a:rPr lang="en-US" altLang="zh-CN" sz="1600"/>
              <a:t>II</a:t>
            </a:r>
            <a:r>
              <a:rPr lang="zh-CN" altLang="en-US" sz="1600"/>
              <a:t>，涨幅</a:t>
            </a:r>
            <a:r>
              <a:rPr lang="en-US" altLang="zh-CN" sz="1600"/>
              <a:t>2.02%</a:t>
            </a:r>
            <a:r>
              <a:rPr lang="zh-CN" altLang="en-US" sz="1600"/>
              <a:t>（相对沪深</a:t>
            </a:r>
            <a:r>
              <a:rPr lang="en-US" altLang="zh-CN" sz="1600"/>
              <a:t>300</a:t>
            </a:r>
            <a:r>
              <a:rPr lang="zh-CN" altLang="en-US" sz="1600"/>
              <a:t>：</a:t>
            </a:r>
            <a:r>
              <a:rPr lang="en-US" altLang="zh-CN" sz="1600"/>
              <a:t>2.23%</a:t>
            </a:r>
            <a:r>
              <a:rPr lang="zh-CN" altLang="en-US" sz="1600"/>
              <a:t>）；跌幅最大的为医疗服务，跌幅</a:t>
            </a:r>
            <a:r>
              <a:rPr lang="en-US" altLang="zh-CN" sz="1600"/>
              <a:t>4.12%</a:t>
            </a:r>
            <a:r>
              <a:rPr lang="zh-CN" altLang="en-US" sz="1600"/>
              <a:t>（相对沪深</a:t>
            </a:r>
            <a:r>
              <a:rPr lang="en-US" altLang="zh-CN" sz="1600"/>
              <a:t>300</a:t>
            </a:r>
            <a:r>
              <a:rPr lang="zh-CN" altLang="en-US" sz="1600"/>
              <a:t>：</a:t>
            </a:r>
            <a:r>
              <a:rPr lang="en-US" altLang="zh-CN" sz="1600"/>
              <a:t>-3.91%</a:t>
            </a:r>
            <a:r>
              <a:rPr lang="zh-CN" altLang="en-US" sz="1600"/>
              <a:t>）。</a:t>
            </a:r>
          </a:p>
          <a:p>
            <a:pPr marL="285750" lvl="0" indent="-285750" algn="just">
              <a:lnSpc>
                <a:spcPct val="150000"/>
              </a:lnSpc>
              <a:buClr>
                <a:srgbClr val="5A2781"/>
              </a:buClr>
              <a:buFont typeface="Wingdings" panose="05000000000000000000" pitchFamily="2" charset="2"/>
              <a:buChar char="p"/>
              <a:defRPr/>
            </a:pPr>
            <a:r>
              <a:rPr lang="zh-CN" altLang="zh-CN" sz="1600"/>
              <a:t>最近一月涨幅最大的子板块为医疗服务</a:t>
            </a:r>
            <a:r>
              <a:rPr lang="en-US" altLang="zh-CN" sz="1600"/>
              <a:t> </a:t>
            </a:r>
            <a:r>
              <a:rPr lang="zh-CN" altLang="zh-CN" sz="1600"/>
              <a:t>，涨幅</a:t>
            </a:r>
            <a:r>
              <a:rPr lang="en-US" altLang="zh-CN" sz="1600"/>
              <a:t>16.83%</a:t>
            </a:r>
            <a:r>
              <a:rPr lang="zh-CN" altLang="zh-CN" sz="1600"/>
              <a:t>（相对沪深</a:t>
            </a:r>
            <a:r>
              <a:rPr lang="en-US" altLang="zh-CN" sz="1600"/>
              <a:t>300</a:t>
            </a:r>
            <a:r>
              <a:rPr lang="zh-CN" altLang="zh-CN" sz="1600"/>
              <a:t>：</a:t>
            </a:r>
            <a:r>
              <a:rPr lang="en-US" altLang="zh-CN" sz="1600"/>
              <a:t>15.96%</a:t>
            </a:r>
            <a:r>
              <a:rPr lang="zh-CN" altLang="zh-CN" sz="1600"/>
              <a:t>）；</a:t>
            </a:r>
            <a:r>
              <a:rPr lang="zh-CN" altLang="en-US" sz="1600"/>
              <a:t>涨幅</a:t>
            </a:r>
            <a:r>
              <a:rPr lang="zh-CN" altLang="zh-CN" sz="1600"/>
              <a:t>最</a:t>
            </a:r>
            <a:r>
              <a:rPr lang="zh-CN" altLang="en-US" sz="1600"/>
              <a:t>小</a:t>
            </a:r>
            <a:r>
              <a:rPr lang="zh-CN" altLang="zh-CN" sz="1600"/>
              <a:t>的为中药</a:t>
            </a:r>
            <a:r>
              <a:rPr lang="en-US" altLang="zh-CN" sz="1600"/>
              <a:t>II</a:t>
            </a:r>
            <a:r>
              <a:rPr lang="zh-CN" altLang="zh-CN" sz="1600"/>
              <a:t>，</a:t>
            </a:r>
            <a:r>
              <a:rPr lang="zh-CN" altLang="en-US" sz="1600"/>
              <a:t>涨</a:t>
            </a:r>
            <a:r>
              <a:rPr lang="zh-CN" altLang="zh-CN" sz="1600"/>
              <a:t>幅</a:t>
            </a:r>
            <a:r>
              <a:rPr lang="en-US" altLang="zh-CN" sz="1600"/>
              <a:t>0.15%</a:t>
            </a:r>
            <a:r>
              <a:rPr lang="zh-CN" altLang="zh-CN" sz="1600"/>
              <a:t>（相对沪深</a:t>
            </a:r>
            <a:r>
              <a:rPr lang="en-US" altLang="zh-CN" sz="1600"/>
              <a:t>300</a:t>
            </a:r>
            <a:r>
              <a:rPr lang="zh-CN" altLang="zh-CN" sz="1600"/>
              <a:t>：</a:t>
            </a:r>
            <a:r>
              <a:rPr lang="en-US" altLang="zh-CN" sz="1600"/>
              <a:t>-0.72%</a:t>
            </a:r>
            <a:r>
              <a:rPr lang="zh-CN" altLang="zh-CN" sz="160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12"/>
          </p:nvPr>
        </p:nvSpPr>
        <p:spPr/>
        <p:txBody>
          <a:bodyPr/>
          <a:lstStyle/>
          <a:p>
            <a:pPr algn="ctr"/>
            <a:r>
              <a:rPr lang="en-US" altLang="zh-CN" b="1" dirty="0">
                <a:solidFill>
                  <a:schemeClr val="bg1">
                    <a:lumMod val="85000"/>
                  </a:schemeClr>
                </a:solidFill>
                <a:latin typeface="苹方" charset="0"/>
                <a:ea typeface="汉仪文黑-55W" pitchFamily="18" charset="-122"/>
                <a:cs typeface="苹方" charset="0"/>
                <a:sym typeface="+mn-ea"/>
              </a:rPr>
              <a:t>17</a:t>
            </a:r>
            <a:endParaRPr lang="zh-CN" altLang="en-US" b="1" dirty="0">
              <a:latin typeface="苹方" charset="0"/>
              <a:ea typeface="汉仪文黑-55W" pitchFamily="18" charset="-122"/>
              <a:cs typeface="苹方" charset="0"/>
            </a:endParaRPr>
          </a:p>
        </p:txBody>
      </p:sp>
      <p:sp>
        <p:nvSpPr>
          <p:cNvPr id="14" name="文本框 13"/>
          <p:cNvSpPr txBox="1"/>
          <p:nvPr/>
        </p:nvSpPr>
        <p:spPr>
          <a:xfrm>
            <a:off x="514350" y="254000"/>
            <a:ext cx="5377815" cy="460375"/>
          </a:xfrm>
          <a:prstGeom prst="rect">
            <a:avLst/>
          </a:prstGeom>
          <a:noFill/>
        </p:spPr>
        <p:txBody>
          <a:bodyPr wrap="square" lIns="0" rtlCol="0" anchor="t">
            <a:spAutoFit/>
          </a:bodyPr>
          <a:lstStyle/>
          <a:p>
            <a:pPr algn="dist"/>
            <a:r>
              <a:rPr lang="en-US" sz="2400" b="1" dirty="0">
                <a:solidFill>
                  <a:srgbClr val="5A2781"/>
                </a:solidFill>
                <a:latin typeface="苹方" charset="0"/>
                <a:ea typeface="汉仪文黑-55W" pitchFamily="18" charset="-122"/>
                <a:cs typeface="苹方" charset="0"/>
                <a:sym typeface="+mn-ea"/>
              </a:rPr>
              <a:t>1</a:t>
            </a:r>
            <a:r>
              <a:rPr sz="2400" b="1" dirty="0">
                <a:solidFill>
                  <a:srgbClr val="5A2781"/>
                </a:solidFill>
                <a:latin typeface="苹方" charset="0"/>
                <a:ea typeface="汉仪文黑-55W" pitchFamily="18" charset="-122"/>
                <a:cs typeface="苹方" charset="0"/>
                <a:sym typeface="+mn-ea"/>
              </a:rPr>
              <a:t>.行情跟踪-医药板块个股周涨跌幅</a:t>
            </a:r>
          </a:p>
        </p:txBody>
      </p:sp>
      <p:sp>
        <p:nvSpPr>
          <p:cNvPr id="15" name="文本框 14"/>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诚信、专业、稳健、高效</a:t>
            </a:r>
          </a:p>
        </p:txBody>
      </p:sp>
      <p:sp>
        <p:nvSpPr>
          <p:cNvPr id="16" name="文本框 15"/>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请阅读最后一页重要免责声明</a:t>
            </a:r>
          </a:p>
        </p:txBody>
      </p:sp>
      <p:sp>
        <p:nvSpPr>
          <p:cNvPr id="3" name="文本框 2"/>
          <p:cNvSpPr txBox="1"/>
          <p:nvPr/>
        </p:nvSpPr>
        <p:spPr>
          <a:xfrm>
            <a:off x="118709" y="6294120"/>
            <a:ext cx="10611485" cy="275590"/>
          </a:xfrm>
          <a:prstGeom prst="rect">
            <a:avLst/>
          </a:prstGeom>
          <a:noFill/>
        </p:spPr>
        <p:txBody>
          <a:bodyPr wrap="square" rtlCol="0">
            <a:spAutoFit/>
          </a:bodyPr>
          <a:lstStyle/>
          <a:p>
            <a:pPr algn="l">
              <a:buClrTx/>
              <a:buSzTx/>
              <a:buFontTx/>
            </a:pPr>
            <a:r>
              <a:rPr lang="zh-CN" altLang="en-US" sz="1200" dirty="0">
                <a:solidFill>
                  <a:schemeClr val="tx1">
                    <a:lumMod val="65000"/>
                    <a:lumOff val="35000"/>
                  </a:schemeClr>
                </a:solidFill>
                <a:latin typeface="汉仪文黑-55W" pitchFamily="18" charset="-122"/>
                <a:ea typeface="汉仪文黑-55W" pitchFamily="18" charset="-122"/>
              </a:rPr>
              <a:t>资料来源</a:t>
            </a:r>
            <a:r>
              <a:rPr lang="zh-CN" altLang="en-US" sz="1200" dirty="0">
                <a:solidFill>
                  <a:schemeClr val="tx1">
                    <a:lumMod val="65000"/>
                    <a:lumOff val="35000"/>
                  </a:schemeClr>
                </a:solidFill>
                <a:latin typeface="苹方" charset="0"/>
                <a:ea typeface="汉仪文黑-55W" pitchFamily="18" charset="-122"/>
                <a:cs typeface="苹方" charset="0"/>
              </a:rPr>
              <a:t>：WIND，华鑫证券研究所</a:t>
            </a:r>
            <a:endParaRPr lang="en-US" altLang="zh-CN" sz="1200" dirty="0">
              <a:solidFill>
                <a:schemeClr val="tx1">
                  <a:lumMod val="65000"/>
                  <a:lumOff val="35000"/>
                </a:schemeClr>
              </a:solidFill>
              <a:latin typeface="苹方" charset="0"/>
              <a:ea typeface="汉仪文黑-55W" pitchFamily="18" charset="-122"/>
              <a:cs typeface="苹方" charset="0"/>
            </a:endParaRPr>
          </a:p>
        </p:txBody>
      </p:sp>
      <p:pic>
        <p:nvPicPr>
          <p:cNvPr id="4" name="图片 3"/>
          <p:cNvPicPr>
            <a:picLocks noChangeAspect="1"/>
          </p:cNvPicPr>
          <p:nvPr/>
        </p:nvPicPr>
        <p:blipFill>
          <a:blip r:embed="rId3"/>
          <a:stretch>
            <a:fillRect/>
          </a:stretch>
        </p:blipFill>
        <p:spPr>
          <a:xfrm>
            <a:off x="603062" y="2278839"/>
            <a:ext cx="10578205" cy="3974937"/>
          </a:xfrm>
          <a:prstGeom prst="rect">
            <a:avLst/>
          </a:prstGeom>
        </p:spPr>
      </p:pic>
      <p:sp>
        <p:nvSpPr>
          <p:cNvPr id="10" name="文本框 9"/>
          <p:cNvSpPr txBox="1"/>
          <p:nvPr/>
        </p:nvSpPr>
        <p:spPr>
          <a:xfrm>
            <a:off x="385899" y="915523"/>
            <a:ext cx="11012530" cy="1205349"/>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lnSpc>
                <a:spcPct val="150000"/>
              </a:lnSpc>
              <a:buClr>
                <a:srgbClr val="5A2781"/>
              </a:buClr>
              <a:buFont typeface="Wingdings" panose="05000000000000000000" pitchFamily="2" charset="2"/>
              <a:buChar char="p"/>
              <a:defRPr/>
            </a:pPr>
            <a:r>
              <a:rPr lang="zh-CN" altLang="en-US" sz="1600" b="1">
                <a:latin typeface="汉仪文黑-55W" panose="00020600040101010101" pitchFamily="18" charset="-122"/>
                <a:ea typeface="汉仪文黑-55W" panose="00020600040101010101" pitchFamily="18" charset="-122"/>
                <a:sym typeface="+mn-ea"/>
              </a:rPr>
              <a:t>近一周（</a:t>
            </a:r>
            <a:r>
              <a:rPr lang="en-US" altLang="zh-CN" sz="1600" b="1">
                <a:latin typeface="汉仪文黑-55W" panose="00020600040101010101" pitchFamily="18" charset="-122"/>
                <a:ea typeface="汉仪文黑-55W" panose="00020600040101010101" pitchFamily="18" charset="-122"/>
                <a:sym typeface="+mn-ea"/>
              </a:rPr>
              <a:t>2026/08/22-2026/08/28</a:t>
            </a:r>
            <a:r>
              <a:rPr lang="zh-CN" altLang="en-US" sz="1600" b="1">
                <a:latin typeface="汉仪文黑-55W" panose="00020600040101010101" pitchFamily="18" charset="-122"/>
                <a:ea typeface="汉仪文黑-55W" panose="00020600040101010101" pitchFamily="18" charset="-122"/>
                <a:sym typeface="+mn-ea"/>
              </a:rPr>
              <a:t>），涨幅最大的是</a:t>
            </a:r>
            <a:r>
              <a:rPr lang="en-US" altLang="zh-CN" sz="1600" b="1">
                <a:latin typeface="汉仪文黑-55W" panose="00020600040101010101" pitchFamily="18" charset="-122"/>
                <a:ea typeface="汉仪文黑-55W" panose="00020600040101010101" pitchFamily="18" charset="-122"/>
                <a:sym typeface="+mn-ea"/>
              </a:rPr>
              <a:t>ST</a:t>
            </a:r>
            <a:r>
              <a:rPr lang="zh-CN" altLang="en-US" sz="1600" b="1">
                <a:latin typeface="汉仪文黑-55W" panose="00020600040101010101" pitchFamily="18" charset="-122"/>
                <a:ea typeface="汉仪文黑-55W" panose="00020600040101010101" pitchFamily="18" charset="-122"/>
                <a:sym typeface="+mn-ea"/>
              </a:rPr>
              <a:t>三圣、神奇制药、透景生命；跌幅最大的拢神戎发、丽珠医药、三元基因。</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12"/>
          </p:nvPr>
        </p:nvSpPr>
        <p:spPr/>
        <p:txBody>
          <a:bodyPr/>
          <a:lstStyle/>
          <a:p>
            <a:pPr algn="ctr"/>
            <a:r>
              <a:rPr lang="en-US" altLang="zh-CN" b="1" dirty="0">
                <a:solidFill>
                  <a:schemeClr val="bg1">
                    <a:lumMod val="85000"/>
                  </a:schemeClr>
                </a:solidFill>
                <a:latin typeface="苹方" charset="0"/>
                <a:ea typeface="汉仪文黑-55W" pitchFamily="18" charset="-122"/>
                <a:cs typeface="苹方" charset="0"/>
                <a:sym typeface="+mn-ea"/>
              </a:rPr>
              <a:t>18</a:t>
            </a:r>
            <a:endParaRPr lang="zh-CN" altLang="en-US" b="1" dirty="0">
              <a:latin typeface="苹方" charset="0"/>
              <a:ea typeface="汉仪文黑-55W" pitchFamily="18" charset="-122"/>
              <a:cs typeface="苹方" charset="0"/>
            </a:endParaRPr>
          </a:p>
        </p:txBody>
      </p:sp>
      <p:sp>
        <p:nvSpPr>
          <p:cNvPr id="14" name="文本框 13"/>
          <p:cNvSpPr txBox="1"/>
          <p:nvPr/>
        </p:nvSpPr>
        <p:spPr>
          <a:xfrm>
            <a:off x="514350" y="254000"/>
            <a:ext cx="7406005" cy="476885"/>
          </a:xfrm>
          <a:prstGeom prst="rect">
            <a:avLst/>
          </a:prstGeom>
          <a:noFill/>
        </p:spPr>
        <p:txBody>
          <a:bodyPr wrap="square" lIns="0" rtlCol="0" anchor="t">
            <a:noAutofit/>
          </a:bodyPr>
          <a:lstStyle/>
          <a:p>
            <a:pPr algn="l"/>
            <a:r>
              <a:rPr lang="en-US" sz="2400" b="1" dirty="0">
                <a:solidFill>
                  <a:srgbClr val="5A2781"/>
                </a:solidFill>
                <a:latin typeface="苹方" charset="0"/>
                <a:ea typeface="汉仪文黑-55W" pitchFamily="18" charset="-122"/>
                <a:cs typeface="苹方" charset="0"/>
                <a:sym typeface="+mn-ea"/>
              </a:rPr>
              <a:t>1</a:t>
            </a:r>
            <a:r>
              <a:rPr sz="2400" b="1" dirty="0">
                <a:solidFill>
                  <a:srgbClr val="5A2781"/>
                </a:solidFill>
                <a:latin typeface="苹方" charset="0"/>
                <a:ea typeface="汉仪文黑-55W" pitchFamily="18" charset="-122"/>
                <a:cs typeface="苹方" charset="0"/>
                <a:sym typeface="+mn-ea"/>
              </a:rPr>
              <a:t>.行情跟踪-子行业相对估值</a:t>
            </a:r>
            <a:endParaRPr lang="zh-CN" altLang="en-US" sz="2400" b="1" dirty="0">
              <a:solidFill>
                <a:srgbClr val="5A2781"/>
              </a:solidFill>
              <a:latin typeface="苹方" charset="0"/>
              <a:ea typeface="汉仪文黑-55W" pitchFamily="18" charset="-122"/>
              <a:cs typeface="苹方" charset="0"/>
              <a:sym typeface="+mn-ea"/>
            </a:endParaRPr>
          </a:p>
        </p:txBody>
      </p:sp>
      <p:sp>
        <p:nvSpPr>
          <p:cNvPr id="15" name="文本框 14"/>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诚信、专业、稳健、高效</a:t>
            </a:r>
          </a:p>
        </p:txBody>
      </p:sp>
      <p:sp>
        <p:nvSpPr>
          <p:cNvPr id="16" name="文本框 15"/>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请阅读最后一页重要免责声明</a:t>
            </a:r>
          </a:p>
        </p:txBody>
      </p:sp>
      <p:sp>
        <p:nvSpPr>
          <p:cNvPr id="3" name="文本框 2"/>
          <p:cNvSpPr txBox="1"/>
          <p:nvPr/>
        </p:nvSpPr>
        <p:spPr>
          <a:xfrm>
            <a:off x="260350" y="6342414"/>
            <a:ext cx="10611485" cy="275590"/>
          </a:xfrm>
          <a:prstGeom prst="rect">
            <a:avLst/>
          </a:prstGeom>
          <a:noFill/>
        </p:spPr>
        <p:txBody>
          <a:bodyPr wrap="square" rtlCol="0">
            <a:spAutoFit/>
          </a:bodyPr>
          <a:lstStyle/>
          <a:p>
            <a:pPr algn="l">
              <a:buClrTx/>
              <a:buSzTx/>
              <a:buFontTx/>
            </a:pPr>
            <a:r>
              <a:rPr lang="zh-CN" altLang="en-US" sz="1200" dirty="0">
                <a:solidFill>
                  <a:schemeClr val="tx1">
                    <a:lumMod val="65000"/>
                    <a:lumOff val="35000"/>
                  </a:schemeClr>
                </a:solidFill>
                <a:latin typeface="苹方" charset="0"/>
                <a:ea typeface="汉仪文黑-55W" pitchFamily="18" charset="-122"/>
                <a:cs typeface="苹方" charset="0"/>
              </a:rPr>
              <a:t>资料来源：WIND，华鑫证券研究所</a:t>
            </a:r>
          </a:p>
        </p:txBody>
      </p:sp>
      <p:sp>
        <p:nvSpPr>
          <p:cNvPr id="4" name="文本框 3"/>
          <p:cNvSpPr txBox="1"/>
          <p:nvPr/>
        </p:nvSpPr>
        <p:spPr>
          <a:xfrm>
            <a:off x="1816082" y="2716663"/>
            <a:ext cx="2539365" cy="306705"/>
          </a:xfrm>
          <a:prstGeom prst="rect">
            <a:avLst/>
          </a:prstGeom>
          <a:noFill/>
        </p:spPr>
        <p:txBody>
          <a:bodyPr wrap="square" rtlCol="0">
            <a:spAutoFit/>
          </a:bodyPr>
          <a:lstStyle/>
          <a:p>
            <a:pPr algn="l">
              <a:buClrTx/>
              <a:buSzTx/>
              <a:buFontTx/>
            </a:pPr>
            <a:r>
              <a:rPr lang="zh-CN" altLang="en-US" sz="1400" b="1" dirty="0">
                <a:solidFill>
                  <a:schemeClr val="tx1">
                    <a:lumMod val="75000"/>
                    <a:lumOff val="25000"/>
                  </a:schemeClr>
                </a:solidFill>
                <a:latin typeface="汉仪文黑-55W" pitchFamily="18" charset="-122"/>
                <a:ea typeface="汉仪文黑-55W" pitchFamily="18" charset="-122"/>
              </a:rPr>
              <a:t>图表：细分子行业一年涨跌幅</a:t>
            </a:r>
          </a:p>
        </p:txBody>
      </p:sp>
      <p:sp>
        <p:nvSpPr>
          <p:cNvPr id="10" name="文本框 9"/>
          <p:cNvSpPr txBox="1"/>
          <p:nvPr/>
        </p:nvSpPr>
        <p:spPr>
          <a:xfrm>
            <a:off x="7828425" y="2716662"/>
            <a:ext cx="2539365" cy="306705"/>
          </a:xfrm>
          <a:prstGeom prst="rect">
            <a:avLst/>
          </a:prstGeom>
          <a:noFill/>
        </p:spPr>
        <p:txBody>
          <a:bodyPr wrap="square" rtlCol="0">
            <a:spAutoFit/>
          </a:bodyPr>
          <a:lstStyle/>
          <a:p>
            <a:pPr algn="l">
              <a:buClrTx/>
              <a:buSzTx/>
              <a:buFontTx/>
            </a:pPr>
            <a:r>
              <a:rPr lang="zh-CN" altLang="en-US" sz="1400" b="1" dirty="0">
                <a:solidFill>
                  <a:schemeClr val="tx1">
                    <a:lumMod val="75000"/>
                    <a:lumOff val="25000"/>
                  </a:schemeClr>
                </a:solidFill>
                <a:latin typeface="汉仪文黑-55W" pitchFamily="18" charset="-122"/>
                <a:ea typeface="汉仪文黑-55W" pitchFamily="18" charset="-122"/>
              </a:rPr>
              <a:t>图表：细分子行业PE（TTM）</a:t>
            </a:r>
          </a:p>
        </p:txBody>
      </p:sp>
      <p:pic>
        <p:nvPicPr>
          <p:cNvPr id="5" name="图片 4"/>
          <p:cNvPicPr>
            <a:picLocks noChangeAspect="1"/>
          </p:cNvPicPr>
          <p:nvPr/>
        </p:nvPicPr>
        <p:blipFill>
          <a:blip r:embed="rId3"/>
          <a:stretch>
            <a:fillRect/>
          </a:stretch>
        </p:blipFill>
        <p:spPr>
          <a:xfrm>
            <a:off x="128894" y="3268954"/>
            <a:ext cx="5527627" cy="2943780"/>
          </a:xfrm>
          <a:prstGeom prst="rect">
            <a:avLst/>
          </a:prstGeom>
        </p:spPr>
      </p:pic>
      <p:pic>
        <p:nvPicPr>
          <p:cNvPr id="6" name="图片 5"/>
          <p:cNvPicPr>
            <a:picLocks noChangeAspect="1"/>
          </p:cNvPicPr>
          <p:nvPr/>
        </p:nvPicPr>
        <p:blipFill>
          <a:blip r:embed="rId4"/>
          <a:stretch>
            <a:fillRect/>
          </a:stretch>
        </p:blipFill>
        <p:spPr>
          <a:xfrm>
            <a:off x="6189968" y="3268952"/>
            <a:ext cx="5578323" cy="3034403"/>
          </a:xfrm>
          <a:prstGeom prst="rect">
            <a:avLst/>
          </a:prstGeom>
        </p:spPr>
      </p:pic>
      <p:sp>
        <p:nvSpPr>
          <p:cNvPr id="17" name="矩形 16"/>
          <p:cNvSpPr/>
          <p:nvPr/>
        </p:nvSpPr>
        <p:spPr>
          <a:xfrm>
            <a:off x="418196" y="730885"/>
            <a:ext cx="11543544" cy="2026182"/>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lnSpc>
                <a:spcPct val="150000"/>
              </a:lnSpc>
              <a:buClr>
                <a:srgbClr val="5A2781"/>
              </a:buClr>
              <a:buFont typeface="Wingdings" panose="05000000000000000000" pitchFamily="2" charset="2"/>
              <a:buChar char="p"/>
              <a:defRPr/>
            </a:pPr>
            <a:r>
              <a:rPr lang="zh-CN" altLang="en-US" sz="1600" b="1" kern="0">
                <a:solidFill>
                  <a:sysClr val="windowText" lastClr="000000"/>
                </a:solidFill>
                <a:latin typeface="汉仪文黑-55W" panose="00020600040101010101" pitchFamily="18" charset="-122"/>
                <a:ea typeface="汉仪文黑-55W" panose="00020600040101010101" pitchFamily="18" charset="-122"/>
                <a:sym typeface="+mn-ea"/>
              </a:rPr>
              <a:t>分细分子行业来看，最近一年</a:t>
            </a:r>
            <a:r>
              <a:rPr lang="en-US" altLang="zh-CN" sz="1600" b="1" kern="0">
                <a:solidFill>
                  <a:sysClr val="windowText" lastClr="000000"/>
                </a:solidFill>
                <a:latin typeface="汉仪文黑-55W" panose="00020600040101010101" pitchFamily="18" charset="-122"/>
                <a:ea typeface="汉仪文黑-55W" panose="00020600040101010101" pitchFamily="18" charset="-122"/>
                <a:sym typeface="+mn-ea"/>
              </a:rPr>
              <a:t>(2025/8/28-2026/8/28</a:t>
            </a:r>
            <a:r>
              <a:rPr lang="zh-CN" altLang="en-US" sz="1600" b="1" kern="0">
                <a:solidFill>
                  <a:sysClr val="windowText" lastClr="000000"/>
                </a:solidFill>
                <a:latin typeface="汉仪文黑-55W" panose="00020600040101010101" pitchFamily="18" charset="-122"/>
                <a:ea typeface="汉仪文黑-55W" panose="00020600040101010101" pitchFamily="18" charset="-122"/>
                <a:sym typeface="+mn-ea"/>
              </a:rPr>
              <a:t>），医疗服务涨幅最大</a:t>
            </a:r>
            <a:endParaRPr lang="en-US" altLang="zh-CN" sz="1600" b="1" kern="0">
              <a:solidFill>
                <a:sysClr val="windowText" lastClr="000000"/>
              </a:solidFill>
              <a:latin typeface="汉仪文黑-55W" panose="00020600040101010101" pitchFamily="18" charset="-122"/>
              <a:ea typeface="汉仪文黑-55W" panose="00020600040101010101" pitchFamily="18" charset="-122"/>
              <a:sym typeface="+mn-ea"/>
            </a:endParaRPr>
          </a:p>
          <a:p>
            <a:pPr marL="285750" indent="-285750">
              <a:lnSpc>
                <a:spcPct val="150000"/>
              </a:lnSpc>
              <a:buClr>
                <a:srgbClr val="5A2781"/>
              </a:buClr>
              <a:buFont typeface="Wingdings" panose="05000000000000000000" pitchFamily="2" charset="2"/>
              <a:buChar char="p"/>
              <a:defRPr/>
            </a:pP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医疗服务涨幅最大，</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1</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年期涨幅</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22.04</a:t>
            </a:r>
            <a:r>
              <a:rPr lang="en-US" altLang="zh-CN" sz="1600" kern="0">
                <a:solidFill>
                  <a:sysClr val="windowText" lastClr="000000"/>
                </a:solidFill>
                <a:latin typeface="汉仪文黑-55W" panose="00020600040101010101" pitchFamily="18" charset="-122"/>
                <a:ea typeface="汉仪文黑-55W" panose="00020600040101010101" pitchFamily="18" charset="-122"/>
              </a:rPr>
              <a:t>%</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 </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PE</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TTM</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）目前为</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33.28</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倍。</a:t>
            </a:r>
            <a:endParaRPr lang="en-US" altLang="zh-CN" sz="1600" kern="0">
              <a:solidFill>
                <a:sysClr val="windowText" lastClr="000000"/>
              </a:solidFill>
              <a:latin typeface="汉仪文黑-55W" panose="00020600040101010101" pitchFamily="18" charset="-122"/>
              <a:ea typeface="汉仪文黑-55W" panose="00020600040101010101" pitchFamily="18" charset="-122"/>
              <a:sym typeface="+mn-ea"/>
            </a:endParaRPr>
          </a:p>
          <a:p>
            <a:pPr marL="285750" indent="-285750">
              <a:lnSpc>
                <a:spcPct val="150000"/>
              </a:lnSpc>
              <a:buClr>
                <a:srgbClr val="5A2781"/>
              </a:buClr>
              <a:buFont typeface="Wingdings" panose="05000000000000000000" pitchFamily="2" charset="2"/>
              <a:buChar char="p"/>
              <a:defRPr/>
            </a:pP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生物制品跌幅最大，</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1</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年期跌幅</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20.34%</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 </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PE</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TTM</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）目前为</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44.20</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倍。</a:t>
            </a:r>
            <a:endParaRPr lang="en-US" altLang="zh-CN" sz="1600" kern="0">
              <a:solidFill>
                <a:sysClr val="windowText" lastClr="000000"/>
              </a:solidFill>
              <a:latin typeface="汉仪文黑-55W" panose="00020600040101010101" pitchFamily="18" charset="-122"/>
              <a:ea typeface="汉仪文黑-55W" panose="00020600040101010101" pitchFamily="18" charset="-122"/>
              <a:sym typeface="+mn-ea"/>
            </a:endParaRPr>
          </a:p>
          <a:p>
            <a:pPr marL="285750" indent="-285750">
              <a:lnSpc>
                <a:spcPct val="150000"/>
              </a:lnSpc>
              <a:buClr>
                <a:srgbClr val="5A2781"/>
              </a:buClr>
              <a:buFont typeface="Wingdings" panose="05000000000000000000" pitchFamily="2" charset="2"/>
              <a:buChar char="p"/>
              <a:defRPr/>
            </a:pP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化学制药，医疗器械，医药商业、中药</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1</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年期变动分别为</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-18.33%</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-17.16%</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-11.28%</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a:t>
            </a:r>
            <a:r>
              <a:rPr lang="en-US" altLang="zh-CN" sz="1600" kern="0">
                <a:solidFill>
                  <a:sysClr val="windowText" lastClr="000000"/>
                </a:solidFill>
                <a:latin typeface="汉仪文黑-55W" panose="00020600040101010101" pitchFamily="18" charset="-122"/>
                <a:ea typeface="汉仪文黑-55W" panose="00020600040101010101" pitchFamily="18" charset="-122"/>
                <a:sym typeface="+mn-ea"/>
              </a:rPr>
              <a:t>-16.67% </a:t>
            </a:r>
            <a:r>
              <a:rPr lang="zh-CN" altLang="en-US" sz="1600" kern="0">
                <a:solidFill>
                  <a:sysClr val="windowText" lastClr="000000"/>
                </a:solidFill>
                <a:latin typeface="汉仪文黑-55W" panose="00020600040101010101" pitchFamily="18" charset="-122"/>
                <a:ea typeface="汉仪文黑-55W" panose="00020600040101010101" pitchFamily="18" charset="-122"/>
                <a:sym typeface="+mn-ea"/>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078696" y="2306955"/>
            <a:ext cx="8488108" cy="922020"/>
            <a:chOff x="3486" y="5575"/>
            <a:chExt cx="11305" cy="1452"/>
          </a:xfrm>
        </p:grpSpPr>
        <p:sp>
          <p:nvSpPr>
            <p:cNvPr id="3" name="文本框 31"/>
            <p:cNvSpPr txBox="1"/>
            <p:nvPr/>
          </p:nvSpPr>
          <p:spPr>
            <a:xfrm>
              <a:off x="3486" y="5575"/>
              <a:ext cx="1471" cy="1452"/>
            </a:xfrm>
            <a:prstGeom prst="rect">
              <a:avLst/>
            </a:prstGeom>
            <a:noFill/>
          </p:spPr>
          <p:txBody>
            <a:bodyPr wrap="square" rtlCol="0">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a:r>
                <a:rPr lang="en-US" altLang="zh-CN" sz="5400" b="1" dirty="0">
                  <a:solidFill>
                    <a:schemeClr val="bg1"/>
                  </a:solidFill>
                  <a:latin typeface="汉仪文黑-55W" pitchFamily="18" charset="-122"/>
                  <a:ea typeface="汉仪文黑-55W" pitchFamily="18" charset="-122"/>
                  <a:cs typeface="+mn-ea"/>
                </a:rPr>
                <a:t>02</a:t>
              </a:r>
            </a:p>
          </p:txBody>
        </p:sp>
        <p:sp>
          <p:nvSpPr>
            <p:cNvPr id="4" name="文本框 31"/>
            <p:cNvSpPr txBox="1"/>
            <p:nvPr/>
          </p:nvSpPr>
          <p:spPr>
            <a:xfrm>
              <a:off x="5099" y="5575"/>
              <a:ext cx="9692" cy="1452"/>
            </a:xfrm>
            <a:prstGeom prst="rect">
              <a:avLst/>
            </a:prstGeom>
            <a:noFill/>
          </p:spPr>
          <p:txBody>
            <a:bodyPr wrap="square" rtlCol="0">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a:r>
                <a:rPr lang="zh-CN" altLang="en-US" sz="5400" dirty="0">
                  <a:solidFill>
                    <a:schemeClr val="bg1"/>
                  </a:solidFill>
                  <a:latin typeface="汉仪文黑-55W" pitchFamily="18" charset="-122"/>
                  <a:ea typeface="汉仪文黑-55W" pitchFamily="18" charset="-122"/>
                  <a:cs typeface="+mn-ea"/>
                </a:rPr>
                <a:t>医药板块走势与估值</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12"/>
          </p:nvPr>
        </p:nvSpPr>
        <p:spPr/>
        <p:txBody>
          <a:bodyPr/>
          <a:lstStyle/>
          <a:p>
            <a:pPr algn="ctr"/>
            <a:r>
              <a:rPr lang="en-US" altLang="zh-CN" b="1" dirty="0">
                <a:solidFill>
                  <a:schemeClr val="bg1">
                    <a:lumMod val="85000"/>
                  </a:schemeClr>
                </a:solidFill>
                <a:latin typeface="苹方" charset="0"/>
                <a:ea typeface="汉仪文黑-55W" pitchFamily="18" charset="-122"/>
                <a:cs typeface="苹方" charset="0"/>
              </a:rPr>
              <a:t>20</a:t>
            </a:r>
          </a:p>
        </p:txBody>
      </p:sp>
      <p:sp>
        <p:nvSpPr>
          <p:cNvPr id="14" name="文本框 13"/>
          <p:cNvSpPr txBox="1"/>
          <p:nvPr/>
        </p:nvSpPr>
        <p:spPr>
          <a:xfrm>
            <a:off x="514350" y="254000"/>
            <a:ext cx="3282315" cy="460375"/>
          </a:xfrm>
          <a:prstGeom prst="rect">
            <a:avLst/>
          </a:prstGeom>
          <a:noFill/>
        </p:spPr>
        <p:txBody>
          <a:bodyPr wrap="square" lIns="0" rtlCol="0" anchor="t">
            <a:spAutoFit/>
          </a:bodyPr>
          <a:lstStyle/>
          <a:p>
            <a:pPr algn="dist"/>
            <a:r>
              <a:rPr lang="en-US" altLang="zh-CN" sz="2400" b="1" dirty="0">
                <a:solidFill>
                  <a:srgbClr val="5A2781"/>
                </a:solidFill>
                <a:latin typeface="苹方" charset="0"/>
                <a:ea typeface="汉仪文黑-55W" pitchFamily="18" charset="-122"/>
                <a:cs typeface="苹方" charset="0"/>
                <a:sym typeface="+mn-ea"/>
              </a:rPr>
              <a:t>2.</a:t>
            </a:r>
            <a:r>
              <a:rPr lang="zh-CN" altLang="en-US" sz="2400" b="1" dirty="0">
                <a:solidFill>
                  <a:srgbClr val="5A2781"/>
                </a:solidFill>
                <a:latin typeface="苹方" charset="0"/>
                <a:ea typeface="汉仪文黑-55W" pitchFamily="18" charset="-122"/>
                <a:cs typeface="苹方" charset="0"/>
                <a:sym typeface="+mn-ea"/>
              </a:rPr>
              <a:t>医药板块走势与估值</a:t>
            </a:r>
          </a:p>
        </p:txBody>
      </p:sp>
      <p:sp>
        <p:nvSpPr>
          <p:cNvPr id="15" name="文本框 14"/>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诚信、专业、稳健、高效</a:t>
            </a:r>
          </a:p>
        </p:txBody>
      </p:sp>
      <p:sp>
        <p:nvSpPr>
          <p:cNvPr id="16" name="文本框 15"/>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请阅读最后一页重要免责声明</a:t>
            </a:r>
          </a:p>
        </p:txBody>
      </p:sp>
      <p:sp>
        <p:nvSpPr>
          <p:cNvPr id="3" name="文本框 2"/>
          <p:cNvSpPr txBox="1"/>
          <p:nvPr/>
        </p:nvSpPr>
        <p:spPr>
          <a:xfrm>
            <a:off x="71526" y="6337771"/>
            <a:ext cx="3809999" cy="275590"/>
          </a:xfrm>
          <a:prstGeom prst="rect">
            <a:avLst/>
          </a:prstGeom>
          <a:noFill/>
        </p:spPr>
        <p:txBody>
          <a:bodyPr wrap="square" rtlCol="0">
            <a:spAutoFit/>
          </a:bodyPr>
          <a:lstStyle/>
          <a:p>
            <a:pPr algn="l">
              <a:buClrTx/>
              <a:buSzTx/>
              <a:buFontTx/>
            </a:pPr>
            <a:r>
              <a:rPr lang="zh-CN" altLang="en-US" sz="1200" dirty="0">
                <a:solidFill>
                  <a:schemeClr val="tx1">
                    <a:lumMod val="65000"/>
                    <a:lumOff val="35000"/>
                  </a:schemeClr>
                </a:solidFill>
                <a:latin typeface="汉仪文黑-55W" pitchFamily="18" charset="-122"/>
                <a:ea typeface="汉仪文黑-55W" pitchFamily="18" charset="-122"/>
              </a:rPr>
              <a:t>资料来</a:t>
            </a:r>
            <a:r>
              <a:rPr lang="zh-CN" altLang="en-US" sz="1200" dirty="0">
                <a:solidFill>
                  <a:schemeClr val="tx1">
                    <a:lumMod val="65000"/>
                    <a:lumOff val="35000"/>
                  </a:schemeClr>
                </a:solidFill>
                <a:latin typeface="苹方" charset="0"/>
                <a:ea typeface="汉仪文黑-55W" pitchFamily="18" charset="-122"/>
                <a:cs typeface="苹方" charset="0"/>
              </a:rPr>
              <a:t>源：WIND，华鑫证券研究所</a:t>
            </a:r>
          </a:p>
        </p:txBody>
      </p:sp>
      <p:sp>
        <p:nvSpPr>
          <p:cNvPr id="7" name="文本框 6"/>
          <p:cNvSpPr txBox="1"/>
          <p:nvPr/>
        </p:nvSpPr>
        <p:spPr>
          <a:xfrm>
            <a:off x="2155507" y="2727769"/>
            <a:ext cx="2539365" cy="306705"/>
          </a:xfrm>
          <a:prstGeom prst="rect">
            <a:avLst/>
          </a:prstGeom>
          <a:noFill/>
        </p:spPr>
        <p:txBody>
          <a:bodyPr wrap="square" rtlCol="0">
            <a:spAutoFit/>
          </a:bodyPr>
          <a:lstStyle/>
          <a:p>
            <a:pPr algn="l">
              <a:buClrTx/>
              <a:buSzTx/>
              <a:buFontTx/>
            </a:pPr>
            <a:r>
              <a:rPr lang="zh-CN" altLang="en-US" sz="1400" b="1" dirty="0">
                <a:solidFill>
                  <a:schemeClr val="tx1">
                    <a:lumMod val="75000"/>
                    <a:lumOff val="25000"/>
                  </a:schemeClr>
                </a:solidFill>
                <a:latin typeface="汉仪文黑-55W" pitchFamily="18" charset="-122"/>
                <a:ea typeface="汉仪文黑-55W" pitchFamily="18" charset="-122"/>
              </a:rPr>
              <a:t>图表：医药生物指数走势</a:t>
            </a:r>
          </a:p>
        </p:txBody>
      </p:sp>
      <p:sp>
        <p:nvSpPr>
          <p:cNvPr id="8" name="文本框 7"/>
          <p:cNvSpPr txBox="1"/>
          <p:nvPr/>
        </p:nvSpPr>
        <p:spPr>
          <a:xfrm>
            <a:off x="8694396" y="2727768"/>
            <a:ext cx="2539365" cy="306705"/>
          </a:xfrm>
          <a:prstGeom prst="rect">
            <a:avLst/>
          </a:prstGeom>
          <a:noFill/>
        </p:spPr>
        <p:txBody>
          <a:bodyPr wrap="square" rtlCol="0">
            <a:spAutoFit/>
          </a:bodyPr>
          <a:lstStyle/>
          <a:p>
            <a:pPr algn="l">
              <a:buClrTx/>
              <a:buSzTx/>
              <a:buFontTx/>
            </a:pPr>
            <a:r>
              <a:rPr lang="zh-CN" altLang="en-US" sz="1400" b="1" dirty="0">
                <a:solidFill>
                  <a:schemeClr val="tx1">
                    <a:lumMod val="75000"/>
                    <a:lumOff val="25000"/>
                  </a:schemeClr>
                </a:solidFill>
                <a:latin typeface="汉仪文黑-55W" pitchFamily="18" charset="-122"/>
                <a:ea typeface="汉仪文黑-55W" pitchFamily="18" charset="-122"/>
              </a:rPr>
              <a:t>图表：指数涨跌幅</a:t>
            </a:r>
          </a:p>
        </p:txBody>
      </p:sp>
      <p:pic>
        <p:nvPicPr>
          <p:cNvPr id="2" name="图片 1"/>
          <p:cNvPicPr>
            <a:picLocks noChangeAspect="1"/>
          </p:cNvPicPr>
          <p:nvPr/>
        </p:nvPicPr>
        <p:blipFill>
          <a:blip r:embed="rId3"/>
          <a:stretch>
            <a:fillRect/>
          </a:stretch>
        </p:blipFill>
        <p:spPr>
          <a:xfrm>
            <a:off x="0" y="3164764"/>
            <a:ext cx="5869172" cy="3267934"/>
          </a:xfrm>
          <a:prstGeom prst="rect">
            <a:avLst/>
          </a:prstGeom>
        </p:spPr>
      </p:pic>
      <p:pic>
        <p:nvPicPr>
          <p:cNvPr id="4" name="图片 3"/>
          <p:cNvPicPr>
            <a:picLocks noChangeAspect="1"/>
          </p:cNvPicPr>
          <p:nvPr/>
        </p:nvPicPr>
        <p:blipFill>
          <a:blip r:embed="rId4"/>
          <a:stretch>
            <a:fillRect/>
          </a:stretch>
        </p:blipFill>
        <p:spPr>
          <a:xfrm>
            <a:off x="6735103" y="3223014"/>
            <a:ext cx="4913654" cy="3114757"/>
          </a:xfrm>
          <a:prstGeom prst="rect">
            <a:avLst/>
          </a:prstGeom>
        </p:spPr>
      </p:pic>
      <p:sp>
        <p:nvSpPr>
          <p:cNvPr id="17" name="矩形 16"/>
          <p:cNvSpPr/>
          <p:nvPr/>
        </p:nvSpPr>
        <p:spPr>
          <a:xfrm>
            <a:off x="514350" y="652743"/>
            <a:ext cx="11040110" cy="2434370"/>
          </a:xfrm>
          <a:prstGeom prst="rect">
            <a:avLst/>
          </a:prstGeom>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fontAlgn="ctr">
              <a:lnSpc>
                <a:spcPct val="150000"/>
              </a:lnSpc>
              <a:spcBef>
                <a:spcPts val="1200"/>
              </a:spcBef>
              <a:buClr>
                <a:srgbClr val="5A2781"/>
              </a:buClr>
              <a:buFont typeface="Wingdings" panose="05000000000000000000" charset="0"/>
              <a:buChar char="p"/>
              <a:defRPr/>
            </a:pPr>
            <a:r>
              <a:rPr lang="zh-CN" altLang="en-US" sz="1500" b="1"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医药生物行业最近</a:t>
            </a:r>
            <a:r>
              <a:rPr lang="en-US" altLang="zh-CN" sz="1500" b="1"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1</a:t>
            </a:r>
            <a:r>
              <a:rPr lang="zh-CN" altLang="en-US" sz="1500" b="1"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月涨幅为</a:t>
            </a:r>
            <a:r>
              <a:rPr lang="en-US" altLang="zh-CN" sz="1500" b="1"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5.61% </a:t>
            </a:r>
            <a:r>
              <a:rPr lang="zh-CN" altLang="en-US" sz="1500" b="1"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，跑赢沪深</a:t>
            </a:r>
            <a:r>
              <a:rPr lang="en-US" altLang="zh-CN" sz="1500" b="1"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300</a:t>
            </a:r>
            <a:r>
              <a:rPr lang="zh-CN" altLang="en-US" sz="1500" b="1"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指数</a:t>
            </a:r>
            <a:r>
              <a:rPr lang="en-US" altLang="zh-CN" sz="1500" b="1" u="sng"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4.74</a:t>
            </a:r>
            <a:r>
              <a:rPr lang="zh-CN" altLang="en-US" sz="1500" b="1"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个百分点</a:t>
            </a:r>
          </a:p>
          <a:p>
            <a:pPr marL="285750" indent="-285750" fontAlgn="ctr">
              <a:lnSpc>
                <a:spcPct val="150000"/>
              </a:lnSpc>
              <a:spcBef>
                <a:spcPts val="1200"/>
              </a:spcBef>
              <a:buClr>
                <a:srgbClr val="5A2781"/>
              </a:buClr>
              <a:buFont typeface="Wingdings" panose="05000000000000000000" charset="0"/>
              <a:buChar char="p"/>
              <a:defRPr/>
            </a:pP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医药生物行业指数最近一月（</a:t>
            </a:r>
            <a:r>
              <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2026/7/28-2026/8/28</a:t>
            </a: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）涨幅为</a:t>
            </a:r>
            <a:r>
              <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5.61% </a:t>
            </a: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，跑赢沪深</a:t>
            </a:r>
            <a:r>
              <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300</a:t>
            </a: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指数</a:t>
            </a:r>
            <a:r>
              <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4.74</a:t>
            </a: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个百分点；</a:t>
            </a:r>
          </a:p>
          <a:p>
            <a:pPr marL="285750" indent="-285750" fontAlgn="ctr">
              <a:lnSpc>
                <a:spcPct val="150000"/>
              </a:lnSpc>
              <a:spcBef>
                <a:spcPts val="1200"/>
              </a:spcBef>
              <a:buClr>
                <a:srgbClr val="5A2781"/>
              </a:buClr>
              <a:buFont typeface="Wingdings" panose="05000000000000000000" charset="0"/>
              <a:buChar char="p"/>
              <a:defRPr/>
            </a:pP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最近</a:t>
            </a:r>
            <a:r>
              <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3</a:t>
            </a: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个月（</a:t>
            </a:r>
            <a:r>
              <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2026/5/28-2026/8/28</a:t>
            </a: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）跌幅为</a:t>
            </a:r>
            <a:r>
              <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1.38%</a:t>
            </a: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，跑赢沪深</a:t>
            </a:r>
            <a:r>
              <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300</a:t>
            </a: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指数</a:t>
            </a:r>
            <a:r>
              <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10.75</a:t>
            </a: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个百分点；</a:t>
            </a:r>
          </a:p>
          <a:p>
            <a:pPr marL="285750" indent="-285750" fontAlgn="ctr">
              <a:lnSpc>
                <a:spcPct val="150000"/>
              </a:lnSpc>
              <a:spcBef>
                <a:spcPts val="1200"/>
              </a:spcBef>
              <a:buClr>
                <a:srgbClr val="5A2781"/>
              </a:buClr>
              <a:buFont typeface="Wingdings" panose="05000000000000000000" charset="0"/>
              <a:buChar char="p"/>
              <a:defRPr/>
            </a:pP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最近</a:t>
            </a:r>
            <a:r>
              <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6</a:t>
            </a: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个月（</a:t>
            </a:r>
            <a:r>
              <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2025/2/28-2026/8/28</a:t>
            </a: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）跌幅为</a:t>
            </a:r>
            <a:r>
              <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10.53%</a:t>
            </a: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，跑输沪深</a:t>
            </a:r>
            <a:r>
              <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300</a:t>
            </a: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指数</a:t>
            </a:r>
            <a:r>
              <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2.90</a:t>
            </a:r>
            <a:r>
              <a:rPr lang="zh-CN" altLang="en-US"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rPr>
              <a:t>个百分点。</a:t>
            </a:r>
            <a:endParaRPr lang="en-US" altLang="zh-CN" sz="1500" dirty="0">
              <a:solidFill>
                <a:schemeClr val="tx1">
                  <a:lumMod val="75000"/>
                  <a:lumOff val="25000"/>
                </a:schemeClr>
              </a:solidFill>
              <a:latin typeface="汉仪文黑-55W" panose="00020600040101010101" pitchFamily="18" charset="-122"/>
              <a:ea typeface="汉仪文黑-55W" panose="00020600040101010101" pitchFamily="18" charset="-122"/>
              <a:sym typeface="+mn-ea"/>
            </a:endParaRPr>
          </a:p>
        </p:txBody>
      </p:sp>
    </p:spTree>
    <p:extLst>
      <p:ext uri="{BB962C8B-B14F-4D97-AF65-F5344CB8AC3E}">
        <p14:creationId xmlns:p14="http://schemas.microsoft.com/office/powerpoint/2010/main" val="3518806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7903731" y="2945219"/>
            <a:ext cx="4120694" cy="3350254"/>
          </a:xfrm>
          <a:prstGeom prst="rect">
            <a:avLst/>
          </a:prstGeom>
        </p:spPr>
      </p:pic>
      <p:sp>
        <p:nvSpPr>
          <p:cNvPr id="9" name="灯片编号占位符 8"/>
          <p:cNvSpPr>
            <a:spLocks noGrp="1"/>
          </p:cNvSpPr>
          <p:nvPr>
            <p:ph type="sldNum" sz="quarter" idx="12"/>
          </p:nvPr>
        </p:nvSpPr>
        <p:spPr/>
        <p:txBody>
          <a:bodyPr/>
          <a:lstStyle/>
          <a:p>
            <a:pPr algn="ctr"/>
            <a:r>
              <a:rPr lang="en-US" altLang="zh-CN" b="1" dirty="0">
                <a:solidFill>
                  <a:schemeClr val="bg1">
                    <a:lumMod val="85000"/>
                  </a:schemeClr>
                </a:solidFill>
                <a:latin typeface="苹方" charset="0"/>
                <a:ea typeface="汉仪文黑-55W" pitchFamily="18" charset="-122"/>
                <a:cs typeface="苹方" charset="0"/>
              </a:rPr>
              <a:t>20</a:t>
            </a:r>
          </a:p>
        </p:txBody>
      </p:sp>
      <p:sp>
        <p:nvSpPr>
          <p:cNvPr id="14" name="文本框 13"/>
          <p:cNvSpPr txBox="1"/>
          <p:nvPr/>
        </p:nvSpPr>
        <p:spPr>
          <a:xfrm>
            <a:off x="514350" y="254000"/>
            <a:ext cx="3282315" cy="460375"/>
          </a:xfrm>
          <a:prstGeom prst="rect">
            <a:avLst/>
          </a:prstGeom>
          <a:noFill/>
        </p:spPr>
        <p:txBody>
          <a:bodyPr wrap="square" lIns="0" rtlCol="0" anchor="t">
            <a:spAutoFit/>
          </a:bodyPr>
          <a:lstStyle/>
          <a:p>
            <a:pPr algn="dist"/>
            <a:r>
              <a:rPr lang="en-US" altLang="zh-CN" sz="2400" b="1" dirty="0">
                <a:solidFill>
                  <a:srgbClr val="5A2781"/>
                </a:solidFill>
                <a:latin typeface="苹方" charset="0"/>
                <a:ea typeface="汉仪文黑-55W" pitchFamily="18" charset="-122"/>
                <a:cs typeface="苹方" charset="0"/>
                <a:sym typeface="+mn-ea"/>
              </a:rPr>
              <a:t>2.</a:t>
            </a:r>
            <a:r>
              <a:rPr lang="zh-CN" altLang="en-US" sz="2400" b="1" dirty="0">
                <a:solidFill>
                  <a:srgbClr val="5A2781"/>
                </a:solidFill>
                <a:latin typeface="苹方" charset="0"/>
                <a:ea typeface="汉仪文黑-55W" pitchFamily="18" charset="-122"/>
                <a:cs typeface="苹方" charset="0"/>
                <a:sym typeface="+mn-ea"/>
              </a:rPr>
              <a:t>医药板块走势与估值</a:t>
            </a:r>
          </a:p>
        </p:txBody>
      </p:sp>
      <p:sp>
        <p:nvSpPr>
          <p:cNvPr id="15" name="文本框 14"/>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诚信、专业、稳健、高效</a:t>
            </a:r>
          </a:p>
        </p:txBody>
      </p:sp>
      <p:sp>
        <p:nvSpPr>
          <p:cNvPr id="16" name="文本框 15"/>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请阅读最后一页重要免责声明</a:t>
            </a:r>
          </a:p>
        </p:txBody>
      </p:sp>
      <p:sp>
        <p:nvSpPr>
          <p:cNvPr id="3" name="文本框 2"/>
          <p:cNvSpPr txBox="1"/>
          <p:nvPr/>
        </p:nvSpPr>
        <p:spPr>
          <a:xfrm>
            <a:off x="71526" y="6337771"/>
            <a:ext cx="3809999" cy="275590"/>
          </a:xfrm>
          <a:prstGeom prst="rect">
            <a:avLst/>
          </a:prstGeom>
          <a:noFill/>
        </p:spPr>
        <p:txBody>
          <a:bodyPr wrap="square" rtlCol="0">
            <a:spAutoFit/>
          </a:bodyPr>
          <a:lstStyle/>
          <a:p>
            <a:pPr algn="l">
              <a:buClrTx/>
              <a:buSzTx/>
              <a:buFontTx/>
            </a:pPr>
            <a:r>
              <a:rPr lang="zh-CN" altLang="en-US" sz="1200" dirty="0">
                <a:solidFill>
                  <a:schemeClr val="tx1">
                    <a:lumMod val="65000"/>
                    <a:lumOff val="35000"/>
                  </a:schemeClr>
                </a:solidFill>
                <a:latin typeface="汉仪文黑-55W" pitchFamily="18" charset="-122"/>
                <a:ea typeface="汉仪文黑-55W" pitchFamily="18" charset="-122"/>
              </a:rPr>
              <a:t>资料来</a:t>
            </a:r>
            <a:r>
              <a:rPr lang="zh-CN" altLang="en-US" sz="1200" dirty="0">
                <a:solidFill>
                  <a:schemeClr val="tx1">
                    <a:lumMod val="65000"/>
                    <a:lumOff val="35000"/>
                  </a:schemeClr>
                </a:solidFill>
                <a:latin typeface="苹方" charset="0"/>
                <a:ea typeface="汉仪文黑-55W" pitchFamily="18" charset="-122"/>
                <a:cs typeface="苹方" charset="0"/>
              </a:rPr>
              <a:t>源：WIND，华鑫证券研究所</a:t>
            </a:r>
          </a:p>
        </p:txBody>
      </p:sp>
      <p:sp>
        <p:nvSpPr>
          <p:cNvPr id="7" name="文本框 6"/>
          <p:cNvSpPr txBox="1"/>
          <p:nvPr/>
        </p:nvSpPr>
        <p:spPr>
          <a:xfrm>
            <a:off x="2155507" y="2727769"/>
            <a:ext cx="2539365" cy="306705"/>
          </a:xfrm>
          <a:prstGeom prst="rect">
            <a:avLst/>
          </a:prstGeom>
          <a:noFill/>
        </p:spPr>
        <p:txBody>
          <a:bodyPr wrap="square" rtlCol="0">
            <a:spAutoFit/>
          </a:bodyPr>
          <a:lstStyle/>
          <a:p>
            <a:pPr algn="l">
              <a:buClrTx/>
              <a:buSzTx/>
              <a:buFontTx/>
            </a:pPr>
            <a:r>
              <a:rPr lang="zh-CN" altLang="en-US" sz="1400" b="1" dirty="0">
                <a:solidFill>
                  <a:schemeClr val="tx1">
                    <a:lumMod val="75000"/>
                    <a:lumOff val="25000"/>
                  </a:schemeClr>
                </a:solidFill>
                <a:latin typeface="汉仪文黑-55W" pitchFamily="18" charset="-122"/>
                <a:ea typeface="汉仪文黑-55W" pitchFamily="18" charset="-122"/>
              </a:rPr>
              <a:t>图表：医药生物指数走势</a:t>
            </a:r>
          </a:p>
        </p:txBody>
      </p:sp>
      <p:sp>
        <p:nvSpPr>
          <p:cNvPr id="8" name="文本框 7"/>
          <p:cNvSpPr txBox="1"/>
          <p:nvPr/>
        </p:nvSpPr>
        <p:spPr>
          <a:xfrm>
            <a:off x="8694396" y="2727768"/>
            <a:ext cx="2539365" cy="306705"/>
          </a:xfrm>
          <a:prstGeom prst="rect">
            <a:avLst/>
          </a:prstGeom>
          <a:noFill/>
        </p:spPr>
        <p:txBody>
          <a:bodyPr wrap="square" rtlCol="0">
            <a:spAutoFit/>
          </a:bodyPr>
          <a:lstStyle/>
          <a:p>
            <a:pPr algn="l">
              <a:buClrTx/>
              <a:buSzTx/>
              <a:buFontTx/>
            </a:pPr>
            <a:r>
              <a:rPr lang="zh-CN" altLang="en-US" sz="1400" b="1" dirty="0">
                <a:solidFill>
                  <a:schemeClr val="tx1">
                    <a:lumMod val="75000"/>
                    <a:lumOff val="25000"/>
                  </a:schemeClr>
                </a:solidFill>
                <a:latin typeface="汉仪文黑-55W" pitchFamily="18" charset="-122"/>
                <a:ea typeface="汉仪文黑-55W" pitchFamily="18" charset="-122"/>
              </a:rPr>
              <a:t>图表：指数涨跌幅</a:t>
            </a:r>
          </a:p>
        </p:txBody>
      </p:sp>
      <p:pic>
        <p:nvPicPr>
          <p:cNvPr id="2" name="图片 1"/>
          <p:cNvPicPr>
            <a:picLocks noChangeAspect="1"/>
          </p:cNvPicPr>
          <p:nvPr/>
        </p:nvPicPr>
        <p:blipFill>
          <a:blip r:embed="rId4"/>
          <a:stretch>
            <a:fillRect/>
          </a:stretch>
        </p:blipFill>
        <p:spPr>
          <a:xfrm>
            <a:off x="257298" y="3284702"/>
            <a:ext cx="6583921" cy="3010771"/>
          </a:xfrm>
          <a:prstGeom prst="rect">
            <a:avLst/>
          </a:prstGeom>
        </p:spPr>
      </p:pic>
      <p:sp>
        <p:nvSpPr>
          <p:cNvPr id="6" name="文本框 5"/>
          <p:cNvSpPr txBox="1"/>
          <p:nvPr/>
        </p:nvSpPr>
        <p:spPr>
          <a:xfrm>
            <a:off x="10208014" y="3453319"/>
            <a:ext cx="753899" cy="2988418"/>
          </a:xfrm>
          <a:prstGeom prst="rect">
            <a:avLst/>
          </a:prstGeom>
          <a:noFill/>
          <a:ln w="25400">
            <a:solidFill>
              <a:srgbClr val="C00000"/>
            </a:solidFill>
          </a:ln>
        </p:spPr>
        <p:txBody>
          <a:bodyPr wrap="square" rtlCol="0">
            <a:spAutoFit/>
          </a:bodyPr>
          <a:lstStyle/>
          <a:p>
            <a:endParaRPr lang="zh-CN" altLang="en-US" dirty="0"/>
          </a:p>
        </p:txBody>
      </p:sp>
      <p:sp>
        <p:nvSpPr>
          <p:cNvPr id="17" name="文本框 1"/>
          <p:cNvSpPr txBox="1"/>
          <p:nvPr/>
        </p:nvSpPr>
        <p:spPr>
          <a:xfrm>
            <a:off x="724167" y="860638"/>
            <a:ext cx="10743666" cy="1093141"/>
          </a:xfrm>
          <a:prstGeom prst="rect">
            <a:avLst/>
          </a:prstGeom>
          <a:noFill/>
        </p:spPr>
        <p:txBody>
          <a:bodyPr wrap="square" rtlCol="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285750" indent="-285750">
              <a:lnSpc>
                <a:spcPct val="150000"/>
              </a:lnSpc>
              <a:buClr>
                <a:srgbClr val="5A2781"/>
              </a:buClr>
              <a:buFont typeface="Wingdings" panose="05000000000000000000" pitchFamily="2" charset="2"/>
              <a:buChar char="p"/>
              <a:defRPr/>
            </a:pPr>
            <a:r>
              <a:rPr lang="zh-CN" altLang="en-US" sz="1600" b="1">
                <a:solidFill>
                  <a:schemeClr val="tx1"/>
                </a:solidFill>
                <a:latin typeface="汉仪文黑-55W" panose="00020600040101010101" pitchFamily="18" charset="-122"/>
                <a:ea typeface="汉仪文黑-55W" panose="00020600040101010101" pitchFamily="18" charset="-122"/>
                <a:sym typeface="+mn-ea"/>
              </a:rPr>
              <a:t>医药生物行业估值高于历史五年平均</a:t>
            </a:r>
            <a:endParaRPr lang="en-US" altLang="zh-CN" sz="1600" b="1">
              <a:solidFill>
                <a:schemeClr val="tx1"/>
              </a:solidFill>
              <a:latin typeface="汉仪文黑-55W" panose="00020600040101010101" pitchFamily="18" charset="-122"/>
              <a:ea typeface="汉仪文黑-55W" panose="00020600040101010101" pitchFamily="18" charset="-122"/>
              <a:sym typeface="+mn-ea"/>
            </a:endParaRPr>
          </a:p>
          <a:p>
            <a:pPr marL="285750" indent="-285750">
              <a:lnSpc>
                <a:spcPct val="150000"/>
              </a:lnSpc>
              <a:buClr>
                <a:srgbClr val="5A2781"/>
              </a:buClr>
              <a:buFont typeface="Wingdings" panose="05000000000000000000" pitchFamily="2" charset="2"/>
              <a:buChar char="p"/>
              <a:defRPr/>
            </a:pPr>
            <a:r>
              <a:rPr lang="zh-CN" altLang="en-US" sz="1600">
                <a:solidFill>
                  <a:schemeClr val="tx1"/>
                </a:solidFill>
                <a:latin typeface="汉仪文黑-55W" panose="00020600040101010101" pitchFamily="18" charset="-122"/>
                <a:ea typeface="汉仪文黑-55W" panose="00020600040101010101" pitchFamily="18" charset="-122"/>
                <a:sym typeface="+mn-ea"/>
              </a:rPr>
              <a:t>医药生物行业指数当期</a:t>
            </a:r>
            <a:r>
              <a:rPr lang="en-US" altLang="zh-CN" sz="1600">
                <a:solidFill>
                  <a:schemeClr val="tx1"/>
                </a:solidFill>
                <a:latin typeface="汉仪文黑-55W" panose="00020600040101010101" pitchFamily="18" charset="-122"/>
                <a:ea typeface="汉仪文黑-55W" panose="00020600040101010101" pitchFamily="18" charset="-122"/>
                <a:sym typeface="+mn-ea"/>
              </a:rPr>
              <a:t>PE</a:t>
            </a:r>
            <a:r>
              <a:rPr lang="zh-CN" altLang="en-US" sz="1600">
                <a:solidFill>
                  <a:schemeClr val="tx1"/>
                </a:solidFill>
                <a:latin typeface="汉仪文黑-55W" panose="00020600040101010101" pitchFamily="18" charset="-122"/>
                <a:ea typeface="汉仪文黑-55W" panose="00020600040101010101" pitchFamily="18" charset="-122"/>
                <a:sym typeface="+mn-ea"/>
              </a:rPr>
              <a:t>（</a:t>
            </a:r>
            <a:r>
              <a:rPr lang="en-US" altLang="zh-CN" sz="1600">
                <a:solidFill>
                  <a:schemeClr val="tx1"/>
                </a:solidFill>
                <a:latin typeface="汉仪文黑-55W" panose="00020600040101010101" pitchFamily="18" charset="-122"/>
                <a:ea typeface="汉仪文黑-55W" panose="00020600040101010101" pitchFamily="18" charset="-122"/>
                <a:sym typeface="+mn-ea"/>
              </a:rPr>
              <a:t>TTM</a:t>
            </a:r>
            <a:r>
              <a:rPr lang="zh-CN" altLang="en-US" sz="1600">
                <a:solidFill>
                  <a:schemeClr val="tx1"/>
                </a:solidFill>
                <a:latin typeface="汉仪文黑-55W" panose="00020600040101010101" pitchFamily="18" charset="-122"/>
                <a:ea typeface="汉仪文黑-55W" panose="00020600040101010101" pitchFamily="18" charset="-122"/>
                <a:sym typeface="+mn-ea"/>
              </a:rPr>
              <a:t>）</a:t>
            </a:r>
            <a:r>
              <a:rPr lang="en-US" altLang="zh-CN" sz="1600">
                <a:solidFill>
                  <a:schemeClr val="tx1"/>
                </a:solidFill>
                <a:latin typeface="汉仪文黑-55W" panose="00020600040101010101" pitchFamily="18" charset="-122"/>
                <a:ea typeface="汉仪文黑-55W" panose="00020600040101010101" pitchFamily="18" charset="-122"/>
                <a:sym typeface="+mn-ea"/>
              </a:rPr>
              <a:t>33.76</a:t>
            </a:r>
            <a:r>
              <a:rPr lang="zh-CN" altLang="en-US" sz="1600">
                <a:solidFill>
                  <a:schemeClr val="tx1"/>
                </a:solidFill>
                <a:latin typeface="汉仪文黑-55W" panose="00020600040101010101" pitchFamily="18" charset="-122"/>
                <a:ea typeface="汉仪文黑-55W" panose="00020600040101010101" pitchFamily="18" charset="-122"/>
                <a:sym typeface="+mn-ea"/>
              </a:rPr>
              <a:t>倍；高于</a:t>
            </a:r>
            <a:r>
              <a:rPr lang="en-US" altLang="zh-CN" sz="1600">
                <a:solidFill>
                  <a:schemeClr val="tx1"/>
                </a:solidFill>
                <a:latin typeface="汉仪文黑-55W" panose="00020600040101010101" pitchFamily="18" charset="-122"/>
                <a:ea typeface="汉仪文黑-55W" panose="00020600040101010101" pitchFamily="18" charset="-122"/>
                <a:sym typeface="+mn-ea"/>
              </a:rPr>
              <a:t>5</a:t>
            </a:r>
            <a:r>
              <a:rPr lang="zh-CN" altLang="en-US" sz="1600">
                <a:solidFill>
                  <a:schemeClr val="tx1"/>
                </a:solidFill>
                <a:latin typeface="汉仪文黑-55W" panose="00020600040101010101" pitchFamily="18" charset="-122"/>
                <a:ea typeface="汉仪文黑-55W" panose="00020600040101010101" pitchFamily="18" charset="-122"/>
                <a:sym typeface="+mn-ea"/>
              </a:rPr>
              <a:t>年历史平均估值</a:t>
            </a:r>
            <a:r>
              <a:rPr lang="en-US" altLang="zh-CN" sz="1600">
                <a:solidFill>
                  <a:schemeClr val="tx1"/>
                </a:solidFill>
                <a:latin typeface="汉仪文黑-55W" panose="00020600040101010101" pitchFamily="18" charset="-122"/>
                <a:ea typeface="汉仪文黑-55W" panose="00020600040101010101" pitchFamily="18" charset="-122"/>
                <a:sym typeface="+mn-ea"/>
              </a:rPr>
              <a:t>30.26</a:t>
            </a:r>
            <a:r>
              <a:rPr lang="zh-CN" altLang="en-US" sz="1600">
                <a:solidFill>
                  <a:schemeClr val="tx1"/>
                </a:solidFill>
                <a:latin typeface="汉仪文黑-55W" panose="00020600040101010101" pitchFamily="18" charset="-122"/>
                <a:ea typeface="汉仪文黑-55W" panose="00020600040101010101" pitchFamily="18" charset="-122"/>
                <a:sym typeface="+mn-ea"/>
              </a:rPr>
              <a:t>倍。</a:t>
            </a:r>
          </a:p>
          <a:p>
            <a:pPr lvl="1" algn="just">
              <a:lnSpc>
                <a:spcPct val="150000"/>
              </a:lnSpc>
              <a:buNone/>
              <a:defRPr/>
            </a:pPr>
            <a:endParaRPr lang="zh-CN" altLang="en-US" sz="1600">
              <a:solidFill>
                <a:schemeClr val="tx1"/>
              </a:solidFill>
              <a:latin typeface="汉仪文黑-55W" panose="00020600040101010101" pitchFamily="18" charset="-122"/>
              <a:ea typeface="汉仪文黑-55W" panose="00020600040101010101" pitchFamily="18"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100470" y="2306955"/>
            <a:ext cx="8003073" cy="922020"/>
            <a:chOff x="3515" y="5575"/>
            <a:chExt cx="10659" cy="1452"/>
          </a:xfrm>
        </p:grpSpPr>
        <p:sp>
          <p:nvSpPr>
            <p:cNvPr id="3" name="文本框 31"/>
            <p:cNvSpPr txBox="1"/>
            <p:nvPr/>
          </p:nvSpPr>
          <p:spPr>
            <a:xfrm>
              <a:off x="3515" y="5575"/>
              <a:ext cx="1471" cy="1452"/>
            </a:xfrm>
            <a:prstGeom prst="rect">
              <a:avLst/>
            </a:prstGeom>
            <a:noFill/>
          </p:spPr>
          <p:txBody>
            <a:bodyPr wrap="square" rtlCol="0">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a:r>
                <a:rPr lang="en-US" altLang="zh-CN" sz="5400" b="1" dirty="0">
                  <a:solidFill>
                    <a:schemeClr val="bg1"/>
                  </a:solidFill>
                  <a:latin typeface="汉仪文黑-55W" pitchFamily="18" charset="-122"/>
                  <a:ea typeface="汉仪文黑-55W" pitchFamily="18" charset="-122"/>
                  <a:cs typeface="+mn-ea"/>
                </a:rPr>
                <a:t>03</a:t>
              </a:r>
            </a:p>
          </p:txBody>
        </p:sp>
        <p:sp>
          <p:nvSpPr>
            <p:cNvPr id="4" name="文本框 31"/>
            <p:cNvSpPr txBox="1"/>
            <p:nvPr/>
          </p:nvSpPr>
          <p:spPr>
            <a:xfrm>
              <a:off x="5202" y="5575"/>
              <a:ext cx="8972" cy="1452"/>
            </a:xfrm>
            <a:prstGeom prst="rect">
              <a:avLst/>
            </a:prstGeom>
            <a:noFill/>
          </p:spPr>
          <p:txBody>
            <a:bodyPr wrap="square" rtlCol="0">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dist"/>
              <a:r>
                <a:rPr lang="zh-CN" altLang="en-US" sz="5400" dirty="0">
                  <a:solidFill>
                    <a:schemeClr val="bg1"/>
                  </a:solidFill>
                  <a:latin typeface="汉仪文黑-55W" pitchFamily="18" charset="-122"/>
                  <a:ea typeface="汉仪文黑-55W" pitchFamily="18" charset="-122"/>
                  <a:cs typeface="+mn-ea"/>
                </a:rPr>
                <a:t>团队近期研究成果</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gn="ctr"/>
            <a:r>
              <a:rPr lang="en-US" altLang="zh-CN" b="1" dirty="0">
                <a:solidFill>
                  <a:schemeClr val="bg1">
                    <a:lumMod val="85000"/>
                  </a:schemeClr>
                </a:solidFill>
                <a:latin typeface="汉仪文黑-55W" pitchFamily="18" charset="-122"/>
                <a:ea typeface="汉仪文黑-55W" pitchFamily="18" charset="-122"/>
                <a:sym typeface="+mn-ea"/>
              </a:rPr>
              <a:t>23</a:t>
            </a:r>
            <a:endParaRPr lang="zh-CN" altLang="en-US" b="1" dirty="0">
              <a:latin typeface="汉仪文黑-55W" pitchFamily="18" charset="-122"/>
              <a:ea typeface="汉仪文黑-55W" pitchFamily="18" charset="-122"/>
            </a:endParaRPr>
          </a:p>
        </p:txBody>
      </p:sp>
      <p:sp>
        <p:nvSpPr>
          <p:cNvPr id="6" name="文本框 5"/>
          <p:cNvSpPr txBox="1"/>
          <p:nvPr/>
        </p:nvSpPr>
        <p:spPr>
          <a:xfrm>
            <a:off x="125730" y="6312410"/>
            <a:ext cx="11174095" cy="275590"/>
          </a:xfrm>
          <a:prstGeom prst="rect">
            <a:avLst/>
          </a:prstGeom>
          <a:noFill/>
        </p:spPr>
        <p:txBody>
          <a:bodyPr wrap="square" lIns="0" rtlCol="0">
            <a:spAutoFit/>
          </a:bodyPr>
          <a:lstStyle/>
          <a:p>
            <a:r>
              <a:rPr lang="zh-CN" altLang="en-US" sz="1200" dirty="0">
                <a:solidFill>
                  <a:schemeClr val="tx1">
                    <a:lumMod val="65000"/>
                    <a:lumOff val="35000"/>
                  </a:schemeClr>
                </a:solidFill>
                <a:latin typeface="汉仪文黑-55W" pitchFamily="18" charset="-122"/>
                <a:ea typeface="汉仪文黑-55W" pitchFamily="18" charset="-122"/>
              </a:rPr>
              <a:t>资料来源：华鑫证券研究所</a:t>
            </a:r>
          </a:p>
        </p:txBody>
      </p:sp>
      <p:sp>
        <p:nvSpPr>
          <p:cNvPr id="8" name="文本框 7"/>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诚信、专业、稳健、高效</a:t>
            </a:r>
          </a:p>
        </p:txBody>
      </p:sp>
      <p:sp>
        <p:nvSpPr>
          <p:cNvPr id="9" name="文本框 8"/>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请阅读最后一页重要免责声明</a:t>
            </a:r>
          </a:p>
        </p:txBody>
      </p:sp>
      <p:sp>
        <p:nvSpPr>
          <p:cNvPr id="14" name="文本框 13"/>
          <p:cNvSpPr txBox="1"/>
          <p:nvPr/>
        </p:nvSpPr>
        <p:spPr>
          <a:xfrm>
            <a:off x="514350" y="254000"/>
            <a:ext cx="4443730" cy="460375"/>
          </a:xfrm>
          <a:prstGeom prst="rect">
            <a:avLst/>
          </a:prstGeom>
          <a:noFill/>
        </p:spPr>
        <p:txBody>
          <a:bodyPr wrap="square" lIns="0" rtlCol="0" anchor="t">
            <a:spAutoFit/>
          </a:bodyPr>
          <a:lstStyle/>
          <a:p>
            <a:pPr algn="dist"/>
            <a:r>
              <a:rPr lang="en-US" altLang="zh-CN" sz="2400" b="1" dirty="0">
                <a:solidFill>
                  <a:srgbClr val="5A2781"/>
                </a:solidFill>
                <a:latin typeface="汉仪文黑-55W" pitchFamily="18" charset="-122"/>
                <a:sym typeface="+mn-ea"/>
              </a:rPr>
              <a:t>3.</a:t>
            </a:r>
            <a:r>
              <a:rPr lang="zh-CN" altLang="en-US" sz="2400" b="1" dirty="0">
                <a:solidFill>
                  <a:srgbClr val="5A2781"/>
                </a:solidFill>
                <a:latin typeface="汉仪文黑-55W" pitchFamily="18" charset="-122"/>
                <a:sym typeface="+mn-ea"/>
              </a:rPr>
              <a:t>华鑫医药团队近期研究成果</a:t>
            </a:r>
          </a:p>
        </p:txBody>
      </p:sp>
      <p:graphicFrame>
        <p:nvGraphicFramePr>
          <p:cNvPr id="2" name="表格 1"/>
          <p:cNvGraphicFramePr/>
          <p:nvPr>
            <p:extLst>
              <p:ext uri="{D42A27DB-BD31-4B8C-83A1-F6EECF244321}">
                <p14:modId xmlns:p14="http://schemas.microsoft.com/office/powerpoint/2010/main" val="3255200011"/>
              </p:ext>
            </p:extLst>
          </p:nvPr>
        </p:nvGraphicFramePr>
        <p:xfrm>
          <a:off x="1352550" y="836295"/>
          <a:ext cx="9132570" cy="5490173"/>
        </p:xfrm>
        <a:graphic>
          <a:graphicData uri="http://schemas.openxmlformats.org/drawingml/2006/table">
            <a:tbl>
              <a:tblPr firstRow="1" bandRow="1">
                <a:tableStyleId>{5C22544A-7EE6-4342-B048-85BDC9FD1C3A}</a:tableStyleId>
              </a:tblPr>
              <a:tblGrid>
                <a:gridCol w="1577340">
                  <a:extLst>
                    <a:ext uri="{9D8B030D-6E8A-4147-A177-3AD203B41FA5}">
                      <a16:colId xmlns:a16="http://schemas.microsoft.com/office/drawing/2014/main" val="20000"/>
                    </a:ext>
                  </a:extLst>
                </a:gridCol>
                <a:gridCol w="4837430">
                  <a:extLst>
                    <a:ext uri="{9D8B030D-6E8A-4147-A177-3AD203B41FA5}">
                      <a16:colId xmlns:a16="http://schemas.microsoft.com/office/drawing/2014/main" val="20001"/>
                    </a:ext>
                  </a:extLst>
                </a:gridCol>
                <a:gridCol w="2717800">
                  <a:extLst>
                    <a:ext uri="{9D8B030D-6E8A-4147-A177-3AD203B41FA5}">
                      <a16:colId xmlns:a16="http://schemas.microsoft.com/office/drawing/2014/main" val="20002"/>
                    </a:ext>
                  </a:extLst>
                </a:gridCol>
              </a:tblGrid>
              <a:tr h="241299">
                <a:tc>
                  <a:txBody>
                    <a:bodyPr/>
                    <a:lstStyle/>
                    <a:p>
                      <a:pPr algn="l"/>
                      <a:r>
                        <a:rPr lang="zh-CN" altLang="en-US" sz="900"/>
                        <a:t>项目</a:t>
                      </a:r>
                    </a:p>
                  </a:txBody>
                  <a:tcPr marL="61277" marR="61277" marT="61277" marB="61277" anchor="ctr">
                    <a:solidFill>
                      <a:srgbClr val="5A2781"/>
                    </a:solidFill>
                  </a:tcPr>
                </a:tc>
                <a:tc>
                  <a:txBody>
                    <a:bodyPr/>
                    <a:lstStyle/>
                    <a:p>
                      <a:pPr algn="l"/>
                      <a:r>
                        <a:rPr lang="zh-CN" altLang="en-US" sz="900"/>
                        <a:t>内容</a:t>
                      </a:r>
                    </a:p>
                  </a:txBody>
                  <a:tcPr marL="61277" marR="61277" marT="61277" marB="61277" anchor="ctr">
                    <a:solidFill>
                      <a:srgbClr val="5A2781"/>
                    </a:solidFill>
                  </a:tcPr>
                </a:tc>
                <a:tc>
                  <a:txBody>
                    <a:bodyPr/>
                    <a:lstStyle/>
                    <a:p>
                      <a:pPr algn="l"/>
                      <a:r>
                        <a:rPr lang="zh-CN" altLang="en-US" sz="900"/>
                        <a:t>发表时间</a:t>
                      </a:r>
                    </a:p>
                  </a:txBody>
                  <a:tcPr marL="61277" marR="61277" marT="61277" marB="61277" anchor="ctr">
                    <a:solidFill>
                      <a:srgbClr val="5A2781"/>
                    </a:solidFill>
                  </a:tcPr>
                </a:tc>
                <a:extLst>
                  <a:ext uri="{0D108BD9-81ED-4DB2-BD59-A6C34878D82A}">
                    <a16:rowId xmlns:a16="http://schemas.microsoft.com/office/drawing/2014/main" val="10000"/>
                  </a:ext>
                </a:extLst>
              </a:tr>
              <a:tr h="245973">
                <a:tc rowSpan="7">
                  <a:txBody>
                    <a:bodyPr/>
                    <a:lstStyle/>
                    <a:p>
                      <a:pPr algn="l"/>
                      <a:r>
                        <a:rPr lang="zh-CN" altLang="en-US" sz="1200" dirty="0"/>
                        <a:t>深度报告</a:t>
                      </a:r>
                    </a:p>
                    <a:p>
                      <a:pPr algn="l"/>
                      <a:endParaRPr lang="zh-CN" altLang="en-US" sz="1200" dirty="0"/>
                    </a:p>
                  </a:txBody>
                  <a:tcPr marL="61277" marR="61277" marT="61277" marB="61277" anchor="ctr">
                    <a:solidFill>
                      <a:srgbClr val="F2F2F2"/>
                    </a:solidFill>
                  </a:tcPr>
                </a:tc>
                <a:tc>
                  <a:txBody>
                    <a:bodyPr/>
                    <a:lstStyle/>
                    <a:p>
                      <a:pPr algn="l"/>
                      <a:r>
                        <a:rPr lang="zh-CN" altLang="en-US" sz="900"/>
                        <a:t>专题报告：生物制剂和口服药物百花齐放，银屑病治疗未来可期</a:t>
                      </a:r>
                    </a:p>
                  </a:txBody>
                  <a:tcPr marL="61277" marR="61277" marT="61277" marB="61277" anchor="ctr">
                    <a:solidFill>
                      <a:srgbClr val="F2F2F2"/>
                    </a:solidFill>
                  </a:tcPr>
                </a:tc>
                <a:tc>
                  <a:txBody>
                    <a:bodyPr/>
                    <a:lstStyle/>
                    <a:p>
                      <a:pPr algn="l"/>
                      <a:r>
                        <a:rPr lang="en-US" altLang="zh-CN" sz="900"/>
                        <a:t>2025-09-09</a:t>
                      </a:r>
                    </a:p>
                  </a:txBody>
                  <a:tcPr marL="61277" marR="61277" marT="61277" marB="61277" anchor="ctr">
                    <a:solidFill>
                      <a:srgbClr val="F2F2F2"/>
                    </a:solidFill>
                  </a:tcPr>
                </a:tc>
                <a:extLst>
                  <a:ext uri="{0D108BD9-81ED-4DB2-BD59-A6C34878D82A}">
                    <a16:rowId xmlns:a16="http://schemas.microsoft.com/office/drawing/2014/main" val="10001"/>
                  </a:ext>
                </a:extLst>
              </a:tr>
              <a:tr h="244220">
                <a:tc vMerge="1">
                  <a:txBody>
                    <a:bodyPr/>
                    <a:lstStyle/>
                    <a:p>
                      <a:endParaRPr lang="zh-CN"/>
                    </a:p>
                  </a:txBody>
                  <a:tcPr marL="61277" marR="61277" marT="61277" marB="61277" anchor="ctr"/>
                </a:tc>
                <a:tc>
                  <a:txBody>
                    <a:bodyPr/>
                    <a:lstStyle/>
                    <a:p>
                      <a:pPr algn="l"/>
                      <a:r>
                        <a:rPr lang="zh-CN" altLang="en-US" sz="900"/>
                        <a:t>医药行业深度报告：供给端和需求端持续向好，血制品行业稳健增长趋势突显</a:t>
                      </a:r>
                    </a:p>
                  </a:txBody>
                  <a:tcPr marL="61277" marR="61277" marT="61277" marB="61277" anchor="ctr">
                    <a:solidFill>
                      <a:schemeClr val="bg1"/>
                    </a:solidFill>
                  </a:tcPr>
                </a:tc>
                <a:tc>
                  <a:txBody>
                    <a:bodyPr/>
                    <a:lstStyle/>
                    <a:p>
                      <a:pPr algn="l"/>
                      <a:r>
                        <a:rPr lang="en-US" altLang="zh-CN" sz="900"/>
                        <a:t>2024-06-07</a:t>
                      </a:r>
                    </a:p>
                  </a:txBody>
                  <a:tcPr marL="61277" marR="61277" marT="61277" marB="61277" anchor="ctr">
                    <a:solidFill>
                      <a:schemeClr val="bg1"/>
                    </a:solidFill>
                  </a:tcPr>
                </a:tc>
                <a:extLst>
                  <a:ext uri="{0D108BD9-81ED-4DB2-BD59-A6C34878D82A}">
                    <a16:rowId xmlns:a16="http://schemas.microsoft.com/office/drawing/2014/main" val="10002"/>
                  </a:ext>
                </a:extLst>
              </a:tr>
              <a:tr h="246557">
                <a:tc vMerge="1">
                  <a:txBody>
                    <a:bodyPr/>
                    <a:lstStyle/>
                    <a:p>
                      <a:endParaRPr lang="zh-CN"/>
                    </a:p>
                  </a:txBody>
                  <a:tcPr marL="61277" marR="61277" marT="61277" marB="61277" anchor="ctr"/>
                </a:tc>
                <a:tc>
                  <a:txBody>
                    <a:bodyPr/>
                    <a:lstStyle/>
                    <a:p>
                      <a:pPr algn="l"/>
                      <a:r>
                        <a:rPr lang="zh-CN" altLang="en-US" sz="900"/>
                        <a:t>医药行业深度报告：政策扶持吸入制剂行业，替代进口进程加速</a:t>
                      </a:r>
                    </a:p>
                  </a:txBody>
                  <a:tcPr marL="61277" marR="61277" marT="61277" marB="61277" anchor="ctr">
                    <a:solidFill>
                      <a:srgbClr val="F2F2F2"/>
                    </a:solidFill>
                  </a:tcPr>
                </a:tc>
                <a:tc>
                  <a:txBody>
                    <a:bodyPr/>
                    <a:lstStyle/>
                    <a:p>
                      <a:pPr algn="l"/>
                      <a:r>
                        <a:rPr lang="en-US" altLang="zh-CN" sz="900"/>
                        <a:t>2024-01-18</a:t>
                      </a:r>
                    </a:p>
                  </a:txBody>
                  <a:tcPr marL="61277" marR="61277" marT="61277" marB="61277" anchor="ctr">
                    <a:solidFill>
                      <a:srgbClr val="F2F2F2"/>
                    </a:solidFill>
                  </a:tcPr>
                </a:tc>
                <a:extLst>
                  <a:ext uri="{0D108BD9-81ED-4DB2-BD59-A6C34878D82A}">
                    <a16:rowId xmlns:a16="http://schemas.microsoft.com/office/drawing/2014/main" val="10003"/>
                  </a:ext>
                </a:extLst>
              </a:tr>
              <a:tr h="246557">
                <a:tc vMerge="1">
                  <a:txBody>
                    <a:bodyPr/>
                    <a:lstStyle/>
                    <a:p>
                      <a:endParaRPr lang="zh-CN"/>
                    </a:p>
                  </a:txBody>
                  <a:tcPr marL="61277" marR="61277" marT="61277" marB="61277" anchor="ctr"/>
                </a:tc>
                <a:tc>
                  <a:txBody>
                    <a:bodyPr/>
                    <a:lstStyle/>
                    <a:p>
                      <a:pPr algn="l"/>
                      <a:r>
                        <a:rPr lang="zh-CN" altLang="en-US" sz="900"/>
                        <a:t>英诺特 </a:t>
                      </a:r>
                      <a:r>
                        <a:rPr lang="en-US" altLang="zh-CN" sz="900"/>
                        <a:t>(688253): </a:t>
                      </a:r>
                      <a:r>
                        <a:rPr lang="zh-CN" altLang="en-US" sz="900"/>
                        <a:t>独家多联检测优势、深耕呼吸道检测市场</a:t>
                      </a:r>
                    </a:p>
                  </a:txBody>
                  <a:tcPr marL="61277" marR="61277" marT="61277" marB="61277" anchor="ctr">
                    <a:solidFill>
                      <a:schemeClr val="bg1"/>
                    </a:solidFill>
                  </a:tcPr>
                </a:tc>
                <a:tc>
                  <a:txBody>
                    <a:bodyPr/>
                    <a:lstStyle/>
                    <a:p>
                      <a:pPr algn="l"/>
                      <a:r>
                        <a:rPr lang="en-US" altLang="zh-CN" sz="900"/>
                        <a:t>2024-01-14</a:t>
                      </a:r>
                    </a:p>
                  </a:txBody>
                  <a:tcPr marL="61277" marR="61277" marT="61277" marB="61277" anchor="ctr">
                    <a:solidFill>
                      <a:schemeClr val="bg1"/>
                    </a:solidFill>
                  </a:tcPr>
                </a:tc>
                <a:extLst>
                  <a:ext uri="{0D108BD9-81ED-4DB2-BD59-A6C34878D82A}">
                    <a16:rowId xmlns:a16="http://schemas.microsoft.com/office/drawing/2014/main" val="10004"/>
                  </a:ext>
                </a:extLst>
              </a:tr>
              <a:tr h="245388">
                <a:tc vMerge="1">
                  <a:txBody>
                    <a:bodyPr/>
                    <a:lstStyle/>
                    <a:p>
                      <a:endParaRPr lang="zh-CN"/>
                    </a:p>
                  </a:txBody>
                  <a:tcPr marL="61277" marR="61277" marT="61277" marB="61277" anchor="ctr"/>
                </a:tc>
                <a:tc>
                  <a:txBody>
                    <a:bodyPr/>
                    <a:lstStyle/>
                    <a:p>
                      <a:pPr algn="l"/>
                      <a:r>
                        <a:rPr lang="zh-CN" altLang="en-US" sz="900"/>
                        <a:t>医药行业深度报告：呼吸道疾病检测市场：呼吸道疾病高发，快检应用拓宽</a:t>
                      </a:r>
                    </a:p>
                  </a:txBody>
                  <a:tcPr marL="61277" marR="61277" marT="61277" marB="61277" anchor="ctr">
                    <a:solidFill>
                      <a:srgbClr val="F2F2F2"/>
                    </a:solidFill>
                  </a:tcPr>
                </a:tc>
                <a:tc>
                  <a:txBody>
                    <a:bodyPr/>
                    <a:lstStyle/>
                    <a:p>
                      <a:pPr algn="l"/>
                      <a:r>
                        <a:rPr lang="en-US" altLang="zh-CN" sz="900"/>
                        <a:t>2023-12-12</a:t>
                      </a:r>
                    </a:p>
                  </a:txBody>
                  <a:tcPr marL="61277" marR="61277" marT="61277" marB="61277" anchor="ctr">
                    <a:solidFill>
                      <a:srgbClr val="F2F2F2"/>
                    </a:solidFill>
                  </a:tcPr>
                </a:tc>
                <a:extLst>
                  <a:ext uri="{0D108BD9-81ED-4DB2-BD59-A6C34878D82A}">
                    <a16:rowId xmlns:a16="http://schemas.microsoft.com/office/drawing/2014/main" val="10005"/>
                  </a:ext>
                </a:extLst>
              </a:tr>
              <a:tr h="245973">
                <a:tc vMerge="1">
                  <a:txBody>
                    <a:bodyPr/>
                    <a:lstStyle/>
                    <a:p>
                      <a:endParaRPr lang="zh-CN"/>
                    </a:p>
                  </a:txBody>
                  <a:tcPr marL="61277" marR="61277" marT="61277" marB="61277" anchor="ctr"/>
                </a:tc>
                <a:tc>
                  <a:txBody>
                    <a:bodyPr/>
                    <a:lstStyle/>
                    <a:p>
                      <a:pPr algn="l"/>
                      <a:r>
                        <a:rPr lang="zh-CN" altLang="en-US" sz="900" dirty="0"/>
                        <a:t>医药行业深度报告：</a:t>
                      </a:r>
                      <a:r>
                        <a:rPr lang="en-US" altLang="zh-CN" sz="900" dirty="0"/>
                        <a:t>GLP-1 </a:t>
                      </a:r>
                      <a:r>
                        <a:rPr lang="zh-CN" altLang="en-US" sz="900" dirty="0"/>
                        <a:t>药物供不应求，带动原料药 </a:t>
                      </a:r>
                      <a:r>
                        <a:rPr lang="en-US" altLang="zh-CN" sz="900" dirty="0"/>
                        <a:t>CDMO </a:t>
                      </a:r>
                      <a:r>
                        <a:rPr lang="zh-CN" altLang="en-US" sz="900" dirty="0"/>
                        <a:t>及上游需求增长</a:t>
                      </a:r>
                    </a:p>
                  </a:txBody>
                  <a:tcPr marL="61277" marR="61277" marT="61277" marB="61277" anchor="ctr">
                    <a:solidFill>
                      <a:schemeClr val="bg1"/>
                    </a:solidFill>
                  </a:tcPr>
                </a:tc>
                <a:tc>
                  <a:txBody>
                    <a:bodyPr/>
                    <a:lstStyle/>
                    <a:p>
                      <a:pPr algn="l"/>
                      <a:r>
                        <a:rPr lang="en-US" altLang="zh-CN" sz="900"/>
                        <a:t>2023-11-18</a:t>
                      </a:r>
                    </a:p>
                  </a:txBody>
                  <a:tcPr marL="61277" marR="61277" marT="61277" marB="61277" anchor="ctr">
                    <a:solidFill>
                      <a:schemeClr val="bg1"/>
                    </a:solidFill>
                  </a:tcPr>
                </a:tc>
                <a:extLst>
                  <a:ext uri="{0D108BD9-81ED-4DB2-BD59-A6C34878D82A}">
                    <a16:rowId xmlns:a16="http://schemas.microsoft.com/office/drawing/2014/main" val="10006"/>
                  </a:ext>
                </a:extLst>
              </a:tr>
              <a:tr h="244804">
                <a:tc vMerge="1">
                  <a:txBody>
                    <a:bodyPr/>
                    <a:lstStyle/>
                    <a:p>
                      <a:endParaRPr lang="zh-CN"/>
                    </a:p>
                  </a:txBody>
                  <a:tcPr marL="61277" marR="61277" marT="61277" marB="61277" anchor="ctr"/>
                </a:tc>
                <a:tc>
                  <a:txBody>
                    <a:bodyPr/>
                    <a:lstStyle/>
                    <a:p>
                      <a:pPr algn="l"/>
                      <a:r>
                        <a:rPr lang="zh-CN" altLang="en-US" sz="900"/>
                        <a:t>医药行业深度报告：划时代大品种 </a:t>
                      </a:r>
                      <a:r>
                        <a:rPr lang="en-US" altLang="zh-CN" sz="900"/>
                        <a:t>GLP-1RA</a:t>
                      </a:r>
                      <a:r>
                        <a:rPr lang="zh-CN" altLang="en-US" sz="900"/>
                        <a:t>，在慢性疾病领域不断拓展，市场前景广阔</a:t>
                      </a:r>
                    </a:p>
                  </a:txBody>
                  <a:tcPr marL="61277" marR="61277" marT="61277" marB="61277" anchor="ctr">
                    <a:solidFill>
                      <a:srgbClr val="F2F2F2"/>
                    </a:solidFill>
                  </a:tcPr>
                </a:tc>
                <a:tc>
                  <a:txBody>
                    <a:bodyPr/>
                    <a:lstStyle/>
                    <a:p>
                      <a:pPr algn="l"/>
                      <a:r>
                        <a:rPr lang="en-US" altLang="zh-CN" sz="900"/>
                        <a:t>2023-11-15</a:t>
                      </a:r>
                    </a:p>
                  </a:txBody>
                  <a:tcPr marL="61277" marR="61277" marT="61277" marB="61277" anchor="ctr">
                    <a:solidFill>
                      <a:srgbClr val="F2F2F2"/>
                    </a:solidFill>
                  </a:tcPr>
                </a:tc>
                <a:extLst>
                  <a:ext uri="{0D108BD9-81ED-4DB2-BD59-A6C34878D82A}">
                    <a16:rowId xmlns:a16="http://schemas.microsoft.com/office/drawing/2014/main" val="10007"/>
                  </a:ext>
                </a:extLst>
              </a:tr>
              <a:tr h="246557">
                <a:tc>
                  <a:txBody>
                    <a:bodyPr/>
                    <a:lstStyle/>
                    <a:p>
                      <a:pPr algn="l"/>
                      <a:endParaRPr lang="zh-CN" altLang="en-US" sz="900" dirty="0">
                        <a:solidFill>
                          <a:schemeClr val="dk1"/>
                        </a:solidFill>
                        <a:latin typeface="+mn-lt"/>
                        <a:ea typeface="+mn-ea"/>
                        <a:cs typeface="+mn-cs"/>
                      </a:endParaRPr>
                    </a:p>
                  </a:txBody>
                  <a:tcPr marL="61277" marR="61277" marT="61277" marB="61277" anchor="ctr">
                    <a:solidFill>
                      <a:schemeClr val="bg1"/>
                    </a:solidFill>
                  </a:tcPr>
                </a:tc>
                <a:tc>
                  <a:txBody>
                    <a:bodyPr/>
                    <a:lstStyle/>
                    <a:p>
                      <a:r>
                        <a:rPr lang="zh-CN" altLang="en-US" sz="900" dirty="0">
                          <a:solidFill>
                            <a:schemeClr val="dk1"/>
                          </a:solidFill>
                          <a:latin typeface="+mn-lt"/>
                          <a:ea typeface="+mn-ea"/>
                          <a:cs typeface="+mn-cs"/>
                        </a:rPr>
                        <a:t>九洲药业（</a:t>
                      </a:r>
                      <a:r>
                        <a:rPr lang="en-US" altLang="zh-CN" sz="900" dirty="0">
                          <a:solidFill>
                            <a:schemeClr val="dk1"/>
                          </a:solidFill>
                          <a:latin typeface="+mn-lt"/>
                          <a:ea typeface="+mn-ea"/>
                          <a:cs typeface="+mn-cs"/>
                        </a:rPr>
                        <a:t>603456.SH</a:t>
                      </a:r>
                      <a:r>
                        <a:rPr lang="zh-CN" altLang="en-US" sz="900" dirty="0">
                          <a:solidFill>
                            <a:schemeClr val="dk1"/>
                          </a:solidFill>
                          <a:latin typeface="+mn-lt"/>
                          <a:ea typeface="+mn-ea"/>
                          <a:cs typeface="+mn-cs"/>
                        </a:rPr>
                        <a:t>）：</a:t>
                      </a:r>
                      <a:r>
                        <a:rPr lang="en-US" altLang="zh-CN" sz="900" dirty="0">
                          <a:solidFill>
                            <a:schemeClr val="dk1"/>
                          </a:solidFill>
                          <a:latin typeface="+mn-lt"/>
                          <a:ea typeface="+mn-ea"/>
                          <a:cs typeface="+mn-cs"/>
                        </a:rPr>
                        <a:t>Q2</a:t>
                      </a:r>
                      <a:r>
                        <a:rPr lang="zh-CN" altLang="en-US" sz="900" dirty="0">
                          <a:solidFill>
                            <a:schemeClr val="dk1"/>
                          </a:solidFill>
                          <a:latin typeface="+mn-lt"/>
                          <a:ea typeface="+mn-ea"/>
                          <a:cs typeface="+mn-cs"/>
                        </a:rPr>
                        <a:t>业绩环比提升，</a:t>
                      </a:r>
                      <a:r>
                        <a:rPr lang="en-US" altLang="zh-CN" sz="900" dirty="0">
                          <a:solidFill>
                            <a:schemeClr val="dk1"/>
                          </a:solidFill>
                          <a:latin typeface="+mn-lt"/>
                          <a:ea typeface="+mn-ea"/>
                          <a:cs typeface="+mn-cs"/>
                        </a:rPr>
                        <a:t>TIDES</a:t>
                      </a:r>
                      <a:r>
                        <a:rPr lang="zh-CN" altLang="en-US" sz="900" dirty="0">
                          <a:solidFill>
                            <a:schemeClr val="dk1"/>
                          </a:solidFill>
                          <a:latin typeface="+mn-lt"/>
                          <a:ea typeface="+mn-ea"/>
                          <a:cs typeface="+mn-cs"/>
                        </a:rPr>
                        <a:t>订单增长</a:t>
                      </a:r>
                      <a:r>
                        <a:rPr lang="en-US" altLang="zh-CN" sz="900" dirty="0">
                          <a:solidFill>
                            <a:schemeClr val="dk1"/>
                          </a:solidFill>
                          <a:latin typeface="+mn-lt"/>
                          <a:ea typeface="+mn-ea"/>
                          <a:cs typeface="+mn-cs"/>
                        </a:rPr>
                        <a:t>32%</a:t>
                      </a:r>
                      <a:endParaRPr lang="zh-CN" altLang="en-US" sz="900" dirty="0">
                        <a:solidFill>
                          <a:schemeClr val="dk1"/>
                        </a:solidFill>
                        <a:latin typeface="+mn-lt"/>
                        <a:ea typeface="+mn-ea"/>
                        <a:cs typeface="+mn-cs"/>
                      </a:endParaRPr>
                    </a:p>
                  </a:txBody>
                  <a:tcPr marL="61277" marR="61277" marT="61277" marB="61277" anchor="ctr">
                    <a:solidFill>
                      <a:schemeClr val="bg1"/>
                    </a:solidFill>
                  </a:tcPr>
                </a:tc>
                <a:tc>
                  <a:txBody>
                    <a:bodyPr/>
                    <a:lstStyle/>
                    <a:p>
                      <a:pPr algn="l"/>
                      <a:r>
                        <a:rPr lang="en-US" altLang="zh-CN" sz="900" dirty="0"/>
                        <a:t>2025-08-10</a:t>
                      </a:r>
                    </a:p>
                  </a:txBody>
                  <a:tcPr marL="61277" marR="61277" marT="61277" marB="61277" anchor="ctr">
                    <a:solidFill>
                      <a:schemeClr val="bg1"/>
                    </a:solidFill>
                  </a:tcPr>
                </a:tc>
                <a:extLst>
                  <a:ext uri="{0D108BD9-81ED-4DB2-BD59-A6C34878D82A}">
                    <a16:rowId xmlns:a16="http://schemas.microsoft.com/office/drawing/2014/main" val="4008747293"/>
                  </a:ext>
                </a:extLst>
              </a:tr>
              <a:tr h="246557">
                <a:tc rowSpan="12">
                  <a:txBody>
                    <a:bodyPr/>
                    <a:lstStyle/>
                    <a:p>
                      <a:pPr marL="0" algn="l">
                        <a:buNone/>
                      </a:pPr>
                      <a:r>
                        <a:rPr lang="zh-CN" altLang="en-US" sz="1200" dirty="0">
                          <a:solidFill>
                            <a:schemeClr val="dk1"/>
                          </a:solidFill>
                          <a:latin typeface="+mn-lt"/>
                          <a:ea typeface="+mn-ea"/>
                          <a:cs typeface="+mn-cs"/>
                        </a:rPr>
                        <a:t>点评报告</a:t>
                      </a:r>
                    </a:p>
                    <a:p>
                      <a:pPr algn="l"/>
                      <a:endParaRPr lang="zh-CN" altLang="en-US" sz="900" dirty="0">
                        <a:solidFill>
                          <a:schemeClr val="dk1"/>
                        </a:solidFill>
                        <a:latin typeface="+mn-lt"/>
                        <a:ea typeface="+mn-ea"/>
                        <a:cs typeface="+mn-cs"/>
                      </a:endParaRPr>
                    </a:p>
                  </a:txBody>
                  <a:tcPr marL="61277" marR="61277" marT="61277" marB="61277" anchor="ctr">
                    <a:solidFill>
                      <a:schemeClr val="bg1"/>
                    </a:solidFill>
                  </a:tcPr>
                </a:tc>
                <a:tc>
                  <a:txBody>
                    <a:bodyPr/>
                    <a:lstStyle/>
                    <a:p>
                      <a:r>
                        <a:rPr lang="zh-CN" altLang="en-US" sz="900" dirty="0">
                          <a:solidFill>
                            <a:schemeClr val="dk1"/>
                          </a:solidFill>
                          <a:latin typeface="+mn-lt"/>
                          <a:ea typeface="+mn-ea"/>
                          <a:cs typeface="+mn-cs"/>
                        </a:rPr>
                        <a:t>药明康德 （</a:t>
                      </a:r>
                      <a:r>
                        <a:rPr lang="en-US" altLang="zh-CN" sz="900" dirty="0">
                          <a:solidFill>
                            <a:schemeClr val="dk1"/>
                          </a:solidFill>
                          <a:latin typeface="+mn-lt"/>
                          <a:ea typeface="+mn-ea"/>
                          <a:cs typeface="+mn-cs"/>
                        </a:rPr>
                        <a:t>603259.SH</a:t>
                      </a:r>
                      <a:r>
                        <a:rPr lang="zh-CN" altLang="en-US" sz="900" dirty="0">
                          <a:solidFill>
                            <a:schemeClr val="dk1"/>
                          </a:solidFill>
                          <a:latin typeface="+mn-lt"/>
                          <a:ea typeface="+mn-ea"/>
                          <a:cs typeface="+mn-cs"/>
                        </a:rPr>
                        <a:t>）：小分子</a:t>
                      </a:r>
                      <a:r>
                        <a:rPr lang="en-US" altLang="zh-CN" sz="900" dirty="0">
                          <a:solidFill>
                            <a:schemeClr val="dk1"/>
                          </a:solidFill>
                          <a:latin typeface="+mn-lt"/>
                          <a:ea typeface="+mn-ea"/>
                          <a:cs typeface="+mn-cs"/>
                        </a:rPr>
                        <a:t>D&amp;M</a:t>
                      </a:r>
                      <a:r>
                        <a:rPr lang="zh-CN" altLang="en-US" sz="900" dirty="0">
                          <a:solidFill>
                            <a:schemeClr val="dk1"/>
                          </a:solidFill>
                          <a:latin typeface="+mn-lt"/>
                          <a:ea typeface="+mn-ea"/>
                          <a:cs typeface="+mn-cs"/>
                        </a:rPr>
                        <a:t>保持高速增长，上调全年业绩指</a:t>
                      </a:r>
                    </a:p>
                  </a:txBody>
                  <a:tcPr marL="61277" marR="61277" marT="61277" marB="61277" anchor="ctr">
                    <a:solidFill>
                      <a:srgbClr val="F2F2F2"/>
                    </a:solidFill>
                  </a:tcPr>
                </a:tc>
                <a:tc>
                  <a:txBody>
                    <a:bodyPr/>
                    <a:lstStyle/>
                    <a:p>
                      <a:pPr algn="l"/>
                      <a:r>
                        <a:rPr lang="en-US" altLang="zh-CN" sz="900" dirty="0"/>
                        <a:t>2026-08-05</a:t>
                      </a:r>
                    </a:p>
                  </a:txBody>
                  <a:tcPr marL="61277" marR="61277" marT="61277" marB="61277" anchor="ctr">
                    <a:solidFill>
                      <a:srgbClr val="F2F2F2"/>
                    </a:solidFill>
                  </a:tcPr>
                </a:tc>
                <a:extLst>
                  <a:ext uri="{0D108BD9-81ED-4DB2-BD59-A6C34878D82A}">
                    <a16:rowId xmlns:a16="http://schemas.microsoft.com/office/drawing/2014/main" val="3461120783"/>
                  </a:ext>
                </a:extLst>
              </a:tr>
              <a:tr h="245388">
                <a:tc vMerge="1">
                  <a:txBody>
                    <a:bodyPr/>
                    <a:lstStyle/>
                    <a:p>
                      <a:endParaRPr lang="zh-CN"/>
                    </a:p>
                  </a:txBody>
                  <a:tcPr marL="61277" marR="61277" marT="61277" marB="61277" anchor="ctr"/>
                </a:tc>
                <a:tc>
                  <a:txBody>
                    <a:bodyPr/>
                    <a:lstStyle/>
                    <a:p>
                      <a:pPr algn="l"/>
                      <a:r>
                        <a:rPr lang="zh-CN" altLang="en-US" sz="900" dirty="0"/>
                        <a:t>华康洁净 </a:t>
                      </a:r>
                      <a:r>
                        <a:rPr lang="en-US" altLang="zh-CN" sz="900" dirty="0"/>
                        <a:t>(301235.SZ)</a:t>
                      </a:r>
                      <a:r>
                        <a:rPr lang="zh-CN" altLang="en-US" sz="900" dirty="0"/>
                        <a:t>：电子洁净室项目持续中标，第二增长曲线逐步成型</a:t>
                      </a:r>
                    </a:p>
                  </a:txBody>
                  <a:tcPr marL="61277" marR="61277" marT="61277" marB="61277" anchor="ctr">
                    <a:solidFill>
                      <a:srgbClr val="FFFFFF"/>
                    </a:solidFill>
                  </a:tcPr>
                </a:tc>
                <a:tc>
                  <a:txBody>
                    <a:bodyPr/>
                    <a:lstStyle/>
                    <a:p>
                      <a:pPr algn="l"/>
                      <a:r>
                        <a:rPr lang="en-US" altLang="zh-CN" sz="900" dirty="0"/>
                        <a:t>2026-07-01</a:t>
                      </a:r>
                    </a:p>
                  </a:txBody>
                  <a:tcPr marL="61277" marR="61277" marT="61277" marB="61277" anchor="ctr">
                    <a:solidFill>
                      <a:srgbClr val="FFFFFF"/>
                    </a:solidFill>
                  </a:tcPr>
                </a:tc>
                <a:extLst>
                  <a:ext uri="{0D108BD9-81ED-4DB2-BD59-A6C34878D82A}">
                    <a16:rowId xmlns:a16="http://schemas.microsoft.com/office/drawing/2014/main" val="10009"/>
                  </a:ext>
                </a:extLst>
              </a:tr>
              <a:tr h="245388">
                <a:tc vMerge="1">
                  <a:txBody>
                    <a:bodyPr/>
                    <a:lstStyle/>
                    <a:p>
                      <a:endParaRPr lang="zh-CN" altLang="en-US"/>
                    </a:p>
                  </a:txBody>
                  <a:tcPr/>
                </a:tc>
                <a:tc>
                  <a:txBody>
                    <a:bodyPr/>
                    <a:lstStyle/>
                    <a:p>
                      <a:pPr algn="l"/>
                      <a:r>
                        <a:rPr lang="zh-CN" altLang="en-US" sz="900" dirty="0"/>
                        <a:t>药明康德 </a:t>
                      </a:r>
                      <a:r>
                        <a:rPr lang="en-US" altLang="zh-CN" sz="900" dirty="0"/>
                        <a:t>(603259.</a:t>
                      </a:r>
                      <a:r>
                        <a:rPr lang="en-GB" altLang="zh-CN" sz="900" dirty="0"/>
                        <a:t>SH)</a:t>
                      </a:r>
                      <a:r>
                        <a:rPr lang="zh-CN" altLang="en-GB" sz="900" dirty="0"/>
                        <a:t>：</a:t>
                      </a:r>
                      <a:r>
                        <a:rPr lang="en-GB" altLang="zh-CN" sz="900" dirty="0"/>
                        <a:t>A+H </a:t>
                      </a:r>
                      <a:r>
                        <a:rPr lang="zh-CN" altLang="en-US" sz="900" dirty="0"/>
                        <a:t>回购彰显长期信心，</a:t>
                      </a:r>
                      <a:r>
                        <a:rPr lang="en-GB" altLang="zh-CN" sz="900" dirty="0"/>
                        <a:t>CDMO </a:t>
                      </a:r>
                      <a:r>
                        <a:rPr lang="zh-CN" altLang="en-US" sz="900" dirty="0"/>
                        <a:t>深度绑定 </a:t>
                      </a:r>
                      <a:r>
                        <a:rPr lang="en-GB" altLang="zh-CN" sz="900" dirty="0"/>
                        <a:t>GLP-1 </a:t>
                      </a:r>
                      <a:r>
                        <a:rPr lang="zh-CN" altLang="en-US" sz="900" dirty="0"/>
                        <a:t>全产业链</a:t>
                      </a:r>
                    </a:p>
                  </a:txBody>
                  <a:tcPr marL="61277" marR="61277" marT="61277" marB="61277" anchor="ctr">
                    <a:solidFill>
                      <a:srgbClr val="F2F2F2"/>
                    </a:solidFill>
                  </a:tcPr>
                </a:tc>
                <a:tc>
                  <a:txBody>
                    <a:bodyPr/>
                    <a:lstStyle/>
                    <a:p>
                      <a:pPr algn="l"/>
                      <a:r>
                        <a:rPr lang="en-US" altLang="zh-CN" sz="900" dirty="0"/>
                        <a:t>2026-06-30</a:t>
                      </a:r>
                    </a:p>
                  </a:txBody>
                  <a:tcPr marL="61277" marR="61277" marT="61277" marB="61277" anchor="ctr">
                    <a:solidFill>
                      <a:srgbClr val="F2F2F2"/>
                    </a:solidFill>
                  </a:tcPr>
                </a:tc>
                <a:extLst>
                  <a:ext uri="{0D108BD9-81ED-4DB2-BD59-A6C34878D82A}">
                    <a16:rowId xmlns:a16="http://schemas.microsoft.com/office/drawing/2014/main" val="2084486790"/>
                  </a:ext>
                </a:extLst>
              </a:tr>
              <a:tr h="246557">
                <a:tc vMerge="1">
                  <a:txBody>
                    <a:bodyPr/>
                    <a:lstStyle/>
                    <a:p>
                      <a:endParaRPr lang="zh-CN"/>
                    </a:p>
                  </a:txBody>
                  <a:tcPr marL="61277" marR="61277" marT="61277" marB="61277" anchor="ctr"/>
                </a:tc>
                <a:tc>
                  <a:txBody>
                    <a:bodyPr/>
                    <a:lstStyle/>
                    <a:p>
                      <a:pPr algn="l"/>
                      <a:r>
                        <a:rPr lang="zh-CN" altLang="en-US" sz="900" dirty="0"/>
                        <a:t>益方生物 </a:t>
                      </a:r>
                      <a:r>
                        <a:rPr lang="en-US" altLang="zh-CN" sz="900" dirty="0"/>
                        <a:t>- U (688382.SH): </a:t>
                      </a:r>
                      <a:r>
                        <a:rPr lang="zh-CN" altLang="en-US" sz="900" dirty="0"/>
                        <a:t>创新药管线顺利推进，</a:t>
                      </a:r>
                      <a:r>
                        <a:rPr lang="en-US" altLang="zh-CN" sz="900" dirty="0"/>
                        <a:t>TYK2 </a:t>
                      </a:r>
                      <a:r>
                        <a:rPr lang="zh-CN" altLang="en-US" sz="900" dirty="0"/>
                        <a:t>抑制剂具备 </a:t>
                      </a:r>
                      <a:r>
                        <a:rPr lang="en-US" altLang="zh-CN" sz="900" dirty="0"/>
                        <a:t>BIC </a:t>
                      </a:r>
                      <a:r>
                        <a:rPr lang="zh-CN" altLang="en-US" sz="900" dirty="0"/>
                        <a:t>潜力</a:t>
                      </a:r>
                    </a:p>
                  </a:txBody>
                  <a:tcPr marL="61277" marR="61277" marT="61277" marB="61277" anchor="ctr">
                    <a:solidFill>
                      <a:schemeClr val="bg1"/>
                    </a:solidFill>
                  </a:tcPr>
                </a:tc>
                <a:tc>
                  <a:txBody>
                    <a:bodyPr/>
                    <a:lstStyle/>
                    <a:p>
                      <a:pPr algn="l"/>
                      <a:r>
                        <a:rPr lang="en-US" altLang="zh-CN" sz="900"/>
                        <a:t>2026-05-06</a:t>
                      </a:r>
                    </a:p>
                  </a:txBody>
                  <a:tcPr marL="61277" marR="61277" marT="61277" marB="61277" anchor="ctr">
                    <a:solidFill>
                      <a:schemeClr val="bg1"/>
                    </a:solidFill>
                  </a:tcPr>
                </a:tc>
                <a:extLst>
                  <a:ext uri="{0D108BD9-81ED-4DB2-BD59-A6C34878D82A}">
                    <a16:rowId xmlns:a16="http://schemas.microsoft.com/office/drawing/2014/main" val="10010"/>
                  </a:ext>
                </a:extLst>
              </a:tr>
              <a:tr h="245388">
                <a:tc vMerge="1">
                  <a:txBody>
                    <a:bodyPr/>
                    <a:lstStyle/>
                    <a:p>
                      <a:endParaRPr lang="zh-CN"/>
                    </a:p>
                  </a:txBody>
                  <a:tcPr marL="61277" marR="61277" marT="61277" marB="61277" anchor="ctr"/>
                </a:tc>
                <a:tc>
                  <a:txBody>
                    <a:bodyPr/>
                    <a:lstStyle/>
                    <a:p>
                      <a:pPr algn="l"/>
                      <a:r>
                        <a:rPr lang="zh-CN" altLang="en-US" sz="900" dirty="0"/>
                        <a:t>艾迪药业（</a:t>
                      </a:r>
                      <a:r>
                        <a:rPr lang="en-US" altLang="zh-CN" sz="900" dirty="0"/>
                        <a:t>688488.SH</a:t>
                      </a:r>
                      <a:r>
                        <a:rPr lang="zh-CN" altLang="en-US" sz="900" dirty="0"/>
                        <a:t>）：抗 </a:t>
                      </a:r>
                      <a:r>
                        <a:rPr lang="en-US" altLang="zh-CN" sz="900" dirty="0"/>
                        <a:t>HIV </a:t>
                      </a:r>
                      <a:r>
                        <a:rPr lang="zh-CN" altLang="en-US" sz="900" dirty="0"/>
                        <a:t>药物高速增长，创新药研发和国际化布局加快</a:t>
                      </a:r>
                    </a:p>
                  </a:txBody>
                  <a:tcPr marL="61277" marR="61277" marT="61277" marB="61277" anchor="ctr">
                    <a:solidFill>
                      <a:srgbClr val="F2F2F2"/>
                    </a:solidFill>
                  </a:tcPr>
                </a:tc>
                <a:tc>
                  <a:txBody>
                    <a:bodyPr/>
                    <a:lstStyle/>
                    <a:p>
                      <a:pPr algn="l"/>
                      <a:r>
                        <a:rPr lang="en-US" altLang="zh-CN" sz="900"/>
                        <a:t>2026-05-01</a:t>
                      </a:r>
                    </a:p>
                  </a:txBody>
                  <a:tcPr marL="61277" marR="61277" marT="61277" marB="61277" anchor="ctr">
                    <a:solidFill>
                      <a:srgbClr val="F2F2F2"/>
                    </a:solidFill>
                  </a:tcPr>
                </a:tc>
                <a:extLst>
                  <a:ext uri="{0D108BD9-81ED-4DB2-BD59-A6C34878D82A}">
                    <a16:rowId xmlns:a16="http://schemas.microsoft.com/office/drawing/2014/main" val="10011"/>
                  </a:ext>
                </a:extLst>
              </a:tr>
              <a:tr h="245388">
                <a:tc vMerge="1">
                  <a:txBody>
                    <a:bodyPr/>
                    <a:lstStyle/>
                    <a:p>
                      <a:endParaRPr lang="zh-CN"/>
                    </a:p>
                  </a:txBody>
                  <a:tcPr marL="61277" marR="61277" marT="61277" marB="61277" anchor="ctr"/>
                </a:tc>
                <a:tc>
                  <a:txBody>
                    <a:bodyPr/>
                    <a:lstStyle/>
                    <a:p>
                      <a:pPr algn="l"/>
                      <a:r>
                        <a:rPr lang="zh-CN" altLang="en-US" sz="900"/>
                        <a:t>东诚药业（</a:t>
                      </a:r>
                      <a:r>
                        <a:rPr lang="en-US" altLang="zh-CN" sz="900"/>
                        <a:t>002675.SZ</a:t>
                      </a:r>
                      <a:r>
                        <a:rPr lang="zh-CN" altLang="en-US" sz="900"/>
                        <a:t>）：核药业务快速增长，创新药管线进展顺利</a:t>
                      </a:r>
                    </a:p>
                  </a:txBody>
                  <a:tcPr marL="61277" marR="61277" marT="61277" marB="61277" anchor="ctr">
                    <a:solidFill>
                      <a:schemeClr val="bg1"/>
                    </a:solidFill>
                  </a:tcPr>
                </a:tc>
                <a:tc>
                  <a:txBody>
                    <a:bodyPr/>
                    <a:lstStyle/>
                    <a:p>
                      <a:pPr algn="l"/>
                      <a:r>
                        <a:rPr lang="en-US" altLang="zh-CN" sz="900"/>
                        <a:t>2026-04-13</a:t>
                      </a:r>
                    </a:p>
                  </a:txBody>
                  <a:tcPr marL="61277" marR="61277" marT="61277" marB="61277" anchor="ctr">
                    <a:solidFill>
                      <a:schemeClr val="bg1"/>
                    </a:solidFill>
                  </a:tcPr>
                </a:tc>
                <a:extLst>
                  <a:ext uri="{0D108BD9-81ED-4DB2-BD59-A6C34878D82A}">
                    <a16:rowId xmlns:a16="http://schemas.microsoft.com/office/drawing/2014/main" val="10012"/>
                  </a:ext>
                </a:extLst>
              </a:tr>
              <a:tr h="245973">
                <a:tc vMerge="1">
                  <a:txBody>
                    <a:bodyPr/>
                    <a:lstStyle/>
                    <a:p>
                      <a:endParaRPr lang="zh-CN"/>
                    </a:p>
                  </a:txBody>
                  <a:tcPr marL="61277" marR="61277" marT="61277" marB="61277" anchor="ctr"/>
                </a:tc>
                <a:tc>
                  <a:txBody>
                    <a:bodyPr/>
                    <a:lstStyle/>
                    <a:p>
                      <a:pPr algn="l"/>
                      <a:r>
                        <a:rPr lang="zh-CN" altLang="en-US" sz="900"/>
                        <a:t>西藏药业（</a:t>
                      </a:r>
                      <a:r>
                        <a:rPr lang="en-US" altLang="zh-CN" sz="900"/>
                        <a:t>600211.SH</a:t>
                      </a:r>
                      <a:r>
                        <a:rPr lang="zh-CN" altLang="en-US" sz="900"/>
                        <a:t>）：存量业务快速增长，布局创新药打造第二增长曲线</a:t>
                      </a:r>
                    </a:p>
                  </a:txBody>
                  <a:tcPr marL="61277" marR="61277" marT="61277" marB="61277" anchor="ctr">
                    <a:solidFill>
                      <a:srgbClr val="F2F2F2"/>
                    </a:solidFill>
                  </a:tcPr>
                </a:tc>
                <a:tc>
                  <a:txBody>
                    <a:bodyPr/>
                    <a:lstStyle/>
                    <a:p>
                      <a:pPr algn="l"/>
                      <a:r>
                        <a:rPr lang="en-US" altLang="zh-CN" sz="900" dirty="0"/>
                        <a:t>2026-04-13</a:t>
                      </a:r>
                    </a:p>
                  </a:txBody>
                  <a:tcPr marL="61277" marR="61277" marT="61277" marB="61277" anchor="ctr">
                    <a:solidFill>
                      <a:srgbClr val="F2F2F2"/>
                    </a:solidFill>
                  </a:tcPr>
                </a:tc>
                <a:extLst>
                  <a:ext uri="{0D108BD9-81ED-4DB2-BD59-A6C34878D82A}">
                    <a16:rowId xmlns:a16="http://schemas.microsoft.com/office/drawing/2014/main" val="10013"/>
                  </a:ext>
                </a:extLst>
              </a:tr>
              <a:tr h="245973">
                <a:tc vMerge="1">
                  <a:txBody>
                    <a:bodyPr/>
                    <a:lstStyle/>
                    <a:p>
                      <a:endParaRPr lang="zh-CN"/>
                    </a:p>
                  </a:txBody>
                  <a:tcPr marL="61277" marR="61277" marT="61277" marB="61277" anchor="ctr"/>
                </a:tc>
                <a:tc>
                  <a:txBody>
                    <a:bodyPr/>
                    <a:lstStyle/>
                    <a:p>
                      <a:pPr algn="l"/>
                      <a:r>
                        <a:rPr lang="zh-CN" altLang="en-US" sz="900"/>
                        <a:t>川宁生物（</a:t>
                      </a:r>
                      <a:r>
                        <a:rPr lang="en-US" altLang="zh-CN" sz="900"/>
                        <a:t>301301.SZ</a:t>
                      </a:r>
                      <a:r>
                        <a:rPr lang="zh-CN" altLang="en-US" sz="900"/>
                        <a:t>）：青霉素价格波动，合成生物学稳步推进</a:t>
                      </a:r>
                    </a:p>
                  </a:txBody>
                  <a:tcPr marL="61277" marR="61277" marT="61277" marB="61277" anchor="ctr">
                    <a:solidFill>
                      <a:schemeClr val="bg1"/>
                    </a:solidFill>
                  </a:tcPr>
                </a:tc>
                <a:tc>
                  <a:txBody>
                    <a:bodyPr/>
                    <a:lstStyle/>
                    <a:p>
                      <a:pPr algn="l"/>
                      <a:r>
                        <a:rPr lang="en-US" altLang="zh-CN" sz="900"/>
                        <a:t>2026-04-06</a:t>
                      </a:r>
                    </a:p>
                  </a:txBody>
                  <a:tcPr marL="61277" marR="61277" marT="61277" marB="61277" anchor="ctr">
                    <a:solidFill>
                      <a:schemeClr val="bg1"/>
                    </a:solidFill>
                  </a:tcPr>
                </a:tc>
                <a:extLst>
                  <a:ext uri="{0D108BD9-81ED-4DB2-BD59-A6C34878D82A}">
                    <a16:rowId xmlns:a16="http://schemas.microsoft.com/office/drawing/2014/main" val="10014"/>
                  </a:ext>
                </a:extLst>
              </a:tr>
              <a:tr h="268759">
                <a:tc vMerge="1">
                  <a:txBody>
                    <a:bodyPr/>
                    <a:lstStyle/>
                    <a:p>
                      <a:endParaRPr lang="zh-CN"/>
                    </a:p>
                  </a:txBody>
                  <a:tcPr marL="61277" marR="61277" marT="61277" marB="61277" anchor="ctr"/>
                </a:tc>
                <a:tc>
                  <a:txBody>
                    <a:bodyPr/>
                    <a:lstStyle/>
                    <a:p>
                      <a:pPr algn="l"/>
                      <a:r>
                        <a:rPr lang="zh-CN" altLang="en-US" sz="900"/>
                        <a:t>富祥药业（</a:t>
                      </a:r>
                      <a:r>
                        <a:rPr lang="en-US" altLang="zh-CN" sz="900"/>
                        <a:t>300497.SZ</a:t>
                      </a:r>
                      <a:r>
                        <a:rPr lang="zh-CN" altLang="en-US" sz="900"/>
                        <a:t>）：新业务迎来收获阶段，业绩大幅扭亏</a:t>
                      </a:r>
                    </a:p>
                  </a:txBody>
                  <a:tcPr marL="61277" marR="61277" marT="61277" marB="61277" anchor="ctr">
                    <a:solidFill>
                      <a:srgbClr val="F2F2F2"/>
                    </a:solidFill>
                  </a:tcPr>
                </a:tc>
                <a:tc>
                  <a:txBody>
                    <a:bodyPr/>
                    <a:lstStyle/>
                    <a:p>
                      <a:pPr algn="l"/>
                      <a:r>
                        <a:rPr lang="en-US" altLang="zh-CN" sz="900"/>
                        <a:t>2026-04-06</a:t>
                      </a:r>
                    </a:p>
                  </a:txBody>
                  <a:tcPr marL="61277" marR="61277" marT="61277" marB="61277" anchor="ctr">
                    <a:solidFill>
                      <a:srgbClr val="F2F2F2"/>
                    </a:solidFill>
                  </a:tcPr>
                </a:tc>
                <a:extLst>
                  <a:ext uri="{0D108BD9-81ED-4DB2-BD59-A6C34878D82A}">
                    <a16:rowId xmlns:a16="http://schemas.microsoft.com/office/drawing/2014/main" val="10015"/>
                  </a:ext>
                </a:extLst>
              </a:tr>
              <a:tr h="268759">
                <a:tc vMerge="1">
                  <a:txBody>
                    <a:bodyPr/>
                    <a:lstStyle/>
                    <a:p>
                      <a:endParaRPr lang="zh-CN"/>
                    </a:p>
                  </a:txBody>
                  <a:tcPr marL="61277" marR="61277" marT="61277" marB="61277" anchor="ctr"/>
                </a:tc>
                <a:tc>
                  <a:txBody>
                    <a:bodyPr/>
                    <a:lstStyle/>
                    <a:p>
                      <a:pPr algn="l"/>
                      <a:r>
                        <a:rPr lang="zh-CN" altLang="en-US" sz="900"/>
                        <a:t>亚虹医药 </a:t>
                      </a:r>
                      <a:r>
                        <a:rPr lang="en-US" altLang="zh-CN" sz="900"/>
                        <a:t>- U (688176.SH)</a:t>
                      </a:r>
                      <a:r>
                        <a:rPr lang="zh-CN" altLang="en-US" sz="900"/>
                        <a:t>：核心品种 </a:t>
                      </a:r>
                      <a:r>
                        <a:rPr lang="en-US" altLang="zh-CN" sz="900"/>
                        <a:t>APL-1702 </a:t>
                      </a:r>
                      <a:r>
                        <a:rPr lang="zh-CN" altLang="en-US" sz="900"/>
                        <a:t>获批上市，公司发展迈入新阶段</a:t>
                      </a:r>
                    </a:p>
                  </a:txBody>
                  <a:tcPr marL="61277" marR="61277" marT="61277" marB="61277" anchor="ctr">
                    <a:solidFill>
                      <a:srgbClr val="FFFFFF"/>
                    </a:solidFill>
                  </a:tcPr>
                </a:tc>
                <a:tc>
                  <a:txBody>
                    <a:bodyPr/>
                    <a:lstStyle/>
                    <a:p>
                      <a:pPr algn="l"/>
                      <a:r>
                        <a:rPr lang="en-US" altLang="zh-CN" sz="900"/>
                        <a:t>2026-03-11</a:t>
                      </a:r>
                    </a:p>
                  </a:txBody>
                  <a:tcPr marL="61277" marR="61277" marT="61277" marB="61277" anchor="ctr">
                    <a:solidFill>
                      <a:srgbClr val="FFFFFF"/>
                    </a:solidFill>
                  </a:tcPr>
                </a:tc>
                <a:extLst>
                  <a:ext uri="{0D108BD9-81ED-4DB2-BD59-A6C34878D82A}">
                    <a16:rowId xmlns:a16="http://schemas.microsoft.com/office/drawing/2014/main" val="10016"/>
                  </a:ext>
                </a:extLst>
              </a:tr>
              <a:tr h="268174">
                <a:tc vMerge="1">
                  <a:txBody>
                    <a:bodyPr/>
                    <a:lstStyle/>
                    <a:p>
                      <a:endParaRPr lang="zh-CN"/>
                    </a:p>
                  </a:txBody>
                  <a:tcPr marL="61277" marR="61277" marT="61277" marB="61277" anchor="ctr"/>
                </a:tc>
                <a:tc>
                  <a:txBody>
                    <a:bodyPr/>
                    <a:lstStyle/>
                    <a:p>
                      <a:pPr algn="l"/>
                      <a:r>
                        <a:rPr lang="zh-CN" altLang="en-US" sz="900"/>
                        <a:t>爱迪特（</a:t>
                      </a:r>
                      <a:r>
                        <a:rPr lang="en-US" altLang="zh-CN" sz="900"/>
                        <a:t>301580.SZ</a:t>
                      </a:r>
                      <a:r>
                        <a:rPr lang="zh-CN" altLang="en-US" sz="900"/>
                        <a:t>）：投资央山医疗，加速产业协同</a:t>
                      </a:r>
                    </a:p>
                  </a:txBody>
                  <a:tcPr marL="61277" marR="61277" marT="61277" marB="61277" anchor="ctr">
                    <a:solidFill>
                      <a:srgbClr val="F2F2F2"/>
                    </a:solidFill>
                  </a:tcPr>
                </a:tc>
                <a:tc>
                  <a:txBody>
                    <a:bodyPr/>
                    <a:lstStyle/>
                    <a:p>
                      <a:pPr algn="l"/>
                      <a:r>
                        <a:rPr lang="en-US" altLang="zh-CN" sz="900"/>
                        <a:t>2026-03-02</a:t>
                      </a:r>
                    </a:p>
                  </a:txBody>
                  <a:tcPr marL="61277" marR="61277" marT="61277" marB="61277" anchor="ctr">
                    <a:solidFill>
                      <a:srgbClr val="F2F2F2"/>
                    </a:solidFill>
                  </a:tcPr>
                </a:tc>
                <a:extLst>
                  <a:ext uri="{0D108BD9-81ED-4DB2-BD59-A6C34878D82A}">
                    <a16:rowId xmlns:a16="http://schemas.microsoft.com/office/drawing/2014/main" val="10017"/>
                  </a:ext>
                </a:extLst>
              </a:tr>
              <a:tr h="269343">
                <a:tc vMerge="1">
                  <a:txBody>
                    <a:bodyPr/>
                    <a:lstStyle/>
                    <a:p>
                      <a:endParaRPr lang="zh-CN"/>
                    </a:p>
                  </a:txBody>
                  <a:tcPr marL="61277" marR="61277" marT="61277" marB="61277" anchor="ctr"/>
                </a:tc>
                <a:tc>
                  <a:txBody>
                    <a:bodyPr/>
                    <a:lstStyle/>
                    <a:p>
                      <a:pPr algn="l"/>
                      <a:r>
                        <a:rPr lang="zh-CN" altLang="en-US" sz="900" dirty="0"/>
                        <a:t>亿帆医药（</a:t>
                      </a:r>
                      <a:r>
                        <a:rPr lang="en-US" altLang="zh-CN" sz="900" dirty="0"/>
                        <a:t>002019.SZ</a:t>
                      </a:r>
                      <a:r>
                        <a:rPr lang="zh-CN" altLang="en-US" sz="900" dirty="0"/>
                        <a:t>）：</a:t>
                      </a:r>
                      <a:r>
                        <a:rPr lang="en-US" altLang="zh-CN" sz="900" dirty="0"/>
                        <a:t>F-652 </a:t>
                      </a:r>
                      <a:r>
                        <a:rPr lang="zh-CN" altLang="en-US" sz="900" dirty="0"/>
                        <a:t>新增适应症临床获批，国内国外快速推进</a:t>
                      </a:r>
                    </a:p>
                  </a:txBody>
                  <a:tcPr marL="61277" marR="61277" marT="61277" marB="61277" anchor="ctr">
                    <a:solidFill>
                      <a:srgbClr val="FFFFFF"/>
                    </a:solidFill>
                  </a:tcPr>
                </a:tc>
                <a:tc>
                  <a:txBody>
                    <a:bodyPr/>
                    <a:lstStyle/>
                    <a:p>
                      <a:pPr algn="l"/>
                      <a:r>
                        <a:rPr lang="en-US" altLang="zh-CN" sz="900" dirty="0"/>
                        <a:t>2026-03-02</a:t>
                      </a:r>
                    </a:p>
                  </a:txBody>
                  <a:tcPr marL="61277" marR="61277" marT="61277" marB="61277" anchor="ctr">
                    <a:solidFill>
                      <a:srgbClr val="FFFFFF"/>
                    </a:solidFill>
                  </a:tcPr>
                </a:tc>
                <a:extLst>
                  <a:ext uri="{0D108BD9-81ED-4DB2-BD59-A6C34878D82A}">
                    <a16:rowId xmlns:a16="http://schemas.microsoft.com/office/drawing/2014/main" val="10018"/>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31">
            <a:extLst>
              <a:ext uri="{FF2B5EF4-FFF2-40B4-BE49-F238E27FC236}">
                <a16:creationId xmlns:a16="http://schemas.microsoft.com/office/drawing/2014/main" id="{1C286568-4793-474B-A118-3D555DC0DB7E}"/>
              </a:ext>
            </a:extLst>
          </p:cNvPr>
          <p:cNvSpPr>
            <a:spLocks noGrp="1"/>
          </p:cNvSpPr>
          <p:nvPr/>
        </p:nvSpPr>
        <p:spPr>
          <a:xfrm>
            <a:off x="1509943" y="2053996"/>
            <a:ext cx="1104467" cy="922020"/>
          </a:xfrm>
          <a:prstGeom prst="rect">
            <a:avLst/>
          </a:prstGeom>
          <a:noFill/>
        </p:spPr>
        <p:txBody>
          <a:bodyPr wrap="square">
            <a:spAutoFit/>
          </a:bodyPr>
          <a:lst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a:lstStyle>
          <a:p>
            <a:pPr>
              <a:buNone/>
            </a:pPr>
            <a:r>
              <a:rPr sz="5400" b="1">
                <a:solidFill>
                  <a:schemeClr val="bg1"/>
                </a:solidFill>
                <a:latin typeface="汉仪文黑-55W"/>
                <a:ea typeface="汉仪文黑-55W"/>
                <a:cs typeface="汉仪文黑-55W"/>
              </a:rPr>
              <a:t>04</a:t>
            </a:r>
          </a:p>
        </p:txBody>
      </p:sp>
      <p:sp>
        <p:nvSpPr>
          <p:cNvPr id="4" name="文本框 31">
            <a:extLst>
              <a:ext uri="{FF2B5EF4-FFF2-40B4-BE49-F238E27FC236}">
                <a16:creationId xmlns:a16="http://schemas.microsoft.com/office/drawing/2014/main" id="{05B42FCE-B414-40A8-9239-F2E060383A90}"/>
              </a:ext>
            </a:extLst>
          </p:cNvPr>
          <p:cNvSpPr>
            <a:spLocks noGrp="1"/>
          </p:cNvSpPr>
          <p:nvPr/>
        </p:nvSpPr>
        <p:spPr>
          <a:xfrm>
            <a:off x="2906483" y="2053996"/>
            <a:ext cx="7775573" cy="923290"/>
          </a:xfrm>
          <a:prstGeom prst="rect">
            <a:avLst/>
          </a:prstGeom>
          <a:noFill/>
        </p:spPr>
        <p:txBody>
          <a:bodyPr wrap="square">
            <a:spAutoFit/>
          </a:bodyPr>
          <a:lstStyle>
            <a:lvl1pPr marL="0" algn="l" defTabSz="685800">
              <a:buNone/>
              <a:defRPr sz="1350" kern="1200">
                <a:solidFill>
                  <a:schemeClr val="tx1"/>
                </a:solidFill>
                <a:latin typeface="+mn-lt"/>
                <a:ea typeface="+mn-lt"/>
                <a:cs typeface="+mn-lt"/>
              </a:defRPr>
            </a:lvl1pPr>
            <a:lvl2pPr marL="342900" algn="l" defTabSz="685800">
              <a:buNone/>
              <a:defRPr sz="1350" kern="1200">
                <a:solidFill>
                  <a:schemeClr val="tx1"/>
                </a:solidFill>
                <a:latin typeface="+mn-lt"/>
                <a:ea typeface="+mn-lt"/>
                <a:cs typeface="+mn-lt"/>
              </a:defRPr>
            </a:lvl2pPr>
            <a:lvl3pPr marL="685800" algn="l" defTabSz="685800">
              <a:buNone/>
              <a:defRPr sz="1350" kern="1200">
                <a:solidFill>
                  <a:schemeClr val="tx1"/>
                </a:solidFill>
                <a:latin typeface="+mn-lt"/>
                <a:ea typeface="+mn-lt"/>
                <a:cs typeface="+mn-lt"/>
              </a:defRPr>
            </a:lvl3pPr>
            <a:lvl4pPr marL="1028700" algn="l" defTabSz="685800">
              <a:buNone/>
              <a:defRPr sz="1350" kern="1200">
                <a:solidFill>
                  <a:schemeClr val="tx1"/>
                </a:solidFill>
                <a:latin typeface="+mn-lt"/>
                <a:ea typeface="+mn-lt"/>
                <a:cs typeface="+mn-lt"/>
              </a:defRPr>
            </a:lvl4pPr>
            <a:lvl5pPr marL="1371600" algn="l" defTabSz="685800">
              <a:buNone/>
              <a:defRPr sz="1350" kern="1200">
                <a:solidFill>
                  <a:schemeClr val="tx1"/>
                </a:solidFill>
                <a:latin typeface="+mn-lt"/>
                <a:ea typeface="+mn-lt"/>
                <a:cs typeface="+mn-lt"/>
              </a:defRPr>
            </a:lvl5pPr>
            <a:lvl6pPr marL="1714500" algn="l" defTabSz="685800">
              <a:buNone/>
              <a:defRPr sz="1350" kern="1200">
                <a:solidFill>
                  <a:schemeClr val="tx1"/>
                </a:solidFill>
                <a:latin typeface="+mn-lt"/>
                <a:ea typeface="+mn-lt"/>
                <a:cs typeface="+mn-lt"/>
              </a:defRPr>
            </a:lvl6pPr>
            <a:lvl7pPr marL="2057400" algn="l" defTabSz="685800">
              <a:buNone/>
              <a:defRPr sz="1350" kern="1200">
                <a:solidFill>
                  <a:schemeClr val="tx1"/>
                </a:solidFill>
                <a:latin typeface="+mn-lt"/>
                <a:ea typeface="+mn-lt"/>
                <a:cs typeface="+mn-lt"/>
              </a:defRPr>
            </a:lvl7pPr>
            <a:lvl8pPr marL="2400300" algn="l" defTabSz="685800">
              <a:buNone/>
              <a:defRPr sz="1350" kern="1200">
                <a:solidFill>
                  <a:schemeClr val="tx1"/>
                </a:solidFill>
                <a:latin typeface="+mn-lt"/>
                <a:ea typeface="+mn-lt"/>
                <a:cs typeface="+mn-lt"/>
              </a:defRPr>
            </a:lvl8pPr>
            <a:lvl9pPr marL="2743200" algn="l" defTabSz="685800">
              <a:buNone/>
              <a:defRPr sz="1350" kern="1200">
                <a:solidFill>
                  <a:schemeClr val="tx1"/>
                </a:solidFill>
                <a:latin typeface="+mn-lt"/>
                <a:ea typeface="+mn-lt"/>
                <a:cs typeface="+mn-lt"/>
              </a:defRPr>
            </a:lvl9pPr>
          </a:lstStyle>
          <a:p>
            <a:pPr>
              <a:buNone/>
            </a:pPr>
            <a:r>
              <a:rPr sz="5400">
                <a:solidFill>
                  <a:schemeClr val="bg1"/>
                </a:solidFill>
                <a:latin typeface="汉仪文黑-55W"/>
                <a:ea typeface="汉仪文黑-55W"/>
                <a:cs typeface="汉仪文黑-55W"/>
              </a:rPr>
              <a:t>行业重要政策和要闻 </a:t>
            </a:r>
          </a:p>
        </p:txBody>
      </p:sp>
    </p:spTree>
    <p:extLst>
      <p:ext uri="{BB962C8B-B14F-4D97-AF65-F5344CB8AC3E}">
        <p14:creationId xmlns:p14="http://schemas.microsoft.com/office/powerpoint/2010/main" val="1927721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5607B14-8C3B-4E59-A631-9F7935B00B9D}"/>
              </a:ext>
            </a:extLst>
          </p:cNvPr>
          <p:cNvSpPr>
            <a:spLocks noGrp="1"/>
          </p:cNvSpPr>
          <p:nvPr>
            <p:ph type="sldNum" idx="12"/>
          </p:nvPr>
        </p:nvSpPr>
        <p:spPr/>
        <p:txBody>
          <a:bodyPr/>
          <a:lstStyle/>
          <a:p>
            <a:pPr algn="ctr">
              <a:buNone/>
            </a:pPr>
            <a:r>
              <a:rPr b="1">
                <a:solidFill>
                  <a:schemeClr val="bg1">
                    <a:lumMod val="85000"/>
                  </a:schemeClr>
                </a:solidFill>
                <a:latin typeface="汉仪文黑-55W"/>
                <a:ea typeface="汉仪文黑-55W"/>
                <a:cs typeface="汉仪文黑-55W"/>
              </a:rPr>
              <a:t>25</a:t>
            </a:r>
          </a:p>
        </p:txBody>
      </p:sp>
      <p:sp>
        <p:nvSpPr>
          <p:cNvPr id="5" name="文本框 4">
            <a:extLst>
              <a:ext uri="{FF2B5EF4-FFF2-40B4-BE49-F238E27FC236}">
                <a16:creationId xmlns:a16="http://schemas.microsoft.com/office/drawing/2014/main" id="{326D6262-ABDB-4995-92E3-5FD68DB5944D}"/>
              </a:ext>
            </a:extLst>
          </p:cNvPr>
          <p:cNvSpPr>
            <a:spLocks noGrp="1"/>
          </p:cNvSpPr>
          <p:nvPr/>
        </p:nvSpPr>
        <p:spPr>
          <a:xfrm>
            <a:off x="506730" y="270510"/>
            <a:ext cx="3578860" cy="460375"/>
          </a:xfrm>
          <a:prstGeom prst="rect">
            <a:avLst/>
          </a:prstGeom>
          <a:noFill/>
        </p:spPr>
        <p:txBody>
          <a:bodyPr wrap="square" lIns="0" anchor="t">
            <a:spAutoFit/>
          </a:bodyPr>
          <a:lstStyle/>
          <a:p>
            <a:pPr>
              <a:buClrTx/>
              <a:buSzTx/>
              <a:buFontTx/>
              <a:buNone/>
            </a:pPr>
            <a:r>
              <a:rPr sz="2400" b="1">
                <a:solidFill>
                  <a:srgbClr val="5A2781"/>
                </a:solidFill>
                <a:latin typeface="汉仪文黑-55W"/>
                <a:ea typeface="汉仪文黑-55W"/>
                <a:cs typeface="汉仪文黑-55W"/>
              </a:rPr>
              <a:t>4.近期行业重要政策</a:t>
            </a:r>
          </a:p>
        </p:txBody>
      </p:sp>
      <p:sp>
        <p:nvSpPr>
          <p:cNvPr id="6" name="文本框 5">
            <a:extLst>
              <a:ext uri="{FF2B5EF4-FFF2-40B4-BE49-F238E27FC236}">
                <a16:creationId xmlns:a16="http://schemas.microsoft.com/office/drawing/2014/main" id="{81DFD98C-B2FE-4158-980C-B6783B2F8B18}"/>
              </a:ext>
            </a:extLst>
          </p:cNvPr>
          <p:cNvSpPr>
            <a:spLocks noGrp="1"/>
          </p:cNvSpPr>
          <p:nvPr/>
        </p:nvSpPr>
        <p:spPr>
          <a:xfrm>
            <a:off x="136945" y="6312410"/>
            <a:ext cx="11174095" cy="275590"/>
          </a:xfrm>
          <a:prstGeom prst="rect">
            <a:avLst/>
          </a:prstGeom>
          <a:noFill/>
        </p:spPr>
        <p:txBody>
          <a:bodyPr wrap="square" lIns="0">
            <a:spAutoFit/>
          </a:bodyPr>
          <a:lstStyle/>
          <a:p>
            <a:r>
              <a:rPr sz="1200">
                <a:solidFill>
                  <a:schemeClr val="tx1">
                    <a:lumMod val="65000"/>
                    <a:lumOff val="35000"/>
                  </a:schemeClr>
                </a:solidFill>
                <a:latin typeface="汉仪文黑-55W"/>
                <a:ea typeface="汉仪文黑-55W"/>
                <a:cs typeface="汉仪文黑-55W"/>
              </a:rPr>
              <a:t>资料来源：国家医疗保障局、国家药品监督管理局，华鑫证券研究所</a:t>
            </a:r>
          </a:p>
        </p:txBody>
      </p:sp>
      <p:sp>
        <p:nvSpPr>
          <p:cNvPr id="8" name="文本框 7">
            <a:extLst>
              <a:ext uri="{FF2B5EF4-FFF2-40B4-BE49-F238E27FC236}">
                <a16:creationId xmlns:a16="http://schemas.microsoft.com/office/drawing/2014/main" id="{0DB808CC-7959-4320-95F0-FBE94E6DD5CC}"/>
              </a:ext>
            </a:extLst>
          </p:cNvPr>
          <p:cNvSpPr>
            <a:spLocks noGrp="1"/>
          </p:cNvSpPr>
          <p:nvPr/>
        </p:nvSpPr>
        <p:spPr>
          <a:xfrm>
            <a:off x="0" y="6588000"/>
            <a:ext cx="2160000" cy="307777"/>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1400">
                <a:solidFill>
                  <a:schemeClr val="bg2"/>
                </a:solidFill>
                <a:latin typeface="汉仪文黑-55W"/>
                <a:ea typeface="汉仪文黑-55W"/>
                <a:cs typeface="汉仪文黑-55W"/>
              </a:rPr>
              <a:t>诚信、专业、稳健、高效</a:t>
            </a:r>
          </a:p>
        </p:txBody>
      </p:sp>
      <p:sp>
        <p:nvSpPr>
          <p:cNvPr id="9" name="文本框 8">
            <a:extLst>
              <a:ext uri="{FF2B5EF4-FFF2-40B4-BE49-F238E27FC236}">
                <a16:creationId xmlns:a16="http://schemas.microsoft.com/office/drawing/2014/main" id="{759C3C2E-232D-4D8A-B565-3291F54C4612}"/>
              </a:ext>
            </a:extLst>
          </p:cNvPr>
          <p:cNvSpPr>
            <a:spLocks noGrp="1"/>
          </p:cNvSpPr>
          <p:nvPr/>
        </p:nvSpPr>
        <p:spPr>
          <a:xfrm>
            <a:off x="8573450" y="6588000"/>
            <a:ext cx="2520000" cy="307777"/>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1400">
                <a:solidFill>
                  <a:schemeClr val="bg2"/>
                </a:solidFill>
                <a:latin typeface="汉仪文黑-55W"/>
                <a:ea typeface="汉仪文黑-55W"/>
                <a:cs typeface="汉仪文黑-55W"/>
              </a:rPr>
              <a:t>请阅读最后一页重要免责声明</a:t>
            </a:r>
          </a:p>
        </p:txBody>
      </p:sp>
      <p:graphicFrame>
        <p:nvGraphicFramePr>
          <p:cNvPr id="16" name="表格 15"/>
          <p:cNvGraphicFramePr/>
          <p:nvPr>
            <p:extLst>
              <p:ext uri="{D42A27DB-BD31-4B8C-83A1-F6EECF244321}">
                <p14:modId xmlns:p14="http://schemas.microsoft.com/office/powerpoint/2010/main" val="525996590"/>
              </p:ext>
            </p:extLst>
          </p:nvPr>
        </p:nvGraphicFramePr>
        <p:xfrm>
          <a:off x="414338" y="1114235"/>
          <a:ext cx="11542681" cy="4316444"/>
        </p:xfrm>
        <a:graphic>
          <a:graphicData uri="http://schemas.openxmlformats.org/drawingml/2006/table">
            <a:tbl>
              <a:tblPr/>
              <a:tblGrid>
                <a:gridCol w="1194149">
                  <a:extLst>
                    <a:ext uri="{9D8B030D-6E8A-4147-A177-3AD203B41FA5}">
                      <a16:colId xmlns:a16="http://schemas.microsoft.com/office/drawing/2014/main" val="20000"/>
                    </a:ext>
                  </a:extLst>
                </a:gridCol>
                <a:gridCol w="3524060">
                  <a:extLst>
                    <a:ext uri="{9D8B030D-6E8A-4147-A177-3AD203B41FA5}">
                      <a16:colId xmlns:a16="http://schemas.microsoft.com/office/drawing/2014/main" val="20001"/>
                    </a:ext>
                  </a:extLst>
                </a:gridCol>
                <a:gridCol w="1904714">
                  <a:extLst>
                    <a:ext uri="{9D8B030D-6E8A-4147-A177-3AD203B41FA5}">
                      <a16:colId xmlns:a16="http://schemas.microsoft.com/office/drawing/2014/main" val="20002"/>
                    </a:ext>
                  </a:extLst>
                </a:gridCol>
                <a:gridCol w="4919758">
                  <a:extLst>
                    <a:ext uri="{9D8B030D-6E8A-4147-A177-3AD203B41FA5}">
                      <a16:colId xmlns:a16="http://schemas.microsoft.com/office/drawing/2014/main" val="20003"/>
                    </a:ext>
                  </a:extLst>
                </a:gridCol>
              </a:tblGrid>
              <a:tr h="609600">
                <a:tc>
                  <a:txBody>
                    <a:bodyPr/>
                    <a:lstStyle/>
                    <a:p>
                      <a:pPr algn="ctr"/>
                      <a:r>
                        <a:rPr sz="1200" b="1" dirty="0" err="1">
                          <a:solidFill>
                            <a:srgbClr val="FFFFFF"/>
                          </a:solidFill>
                          <a:latin typeface="汉仪文黑-55W"/>
                          <a:ea typeface="汉仪文黑-55W"/>
                          <a:cs typeface="汉仪文黑-55W"/>
                        </a:rPr>
                        <a:t>发布日期</a:t>
                      </a:r>
                      <a:endParaRPr sz="1200" b="1" dirty="0">
                        <a:solidFill>
                          <a:srgbClr val="FFFFFF"/>
                        </a:solidFill>
                        <a:latin typeface="汉仪文黑-55W"/>
                        <a:ea typeface="汉仪文黑-55W"/>
                        <a:cs typeface="汉仪文黑-55W"/>
                      </a:endParaRPr>
                    </a:p>
                  </a:txBody>
                  <a:tcPr marL="76200" marR="76200" marT="57150" marB="57150" anchor="ctr">
                    <a:solidFill>
                      <a:srgbClr val="5A2781"/>
                    </a:solidFill>
                  </a:tcPr>
                </a:tc>
                <a:tc>
                  <a:txBody>
                    <a:bodyPr/>
                    <a:lstStyle/>
                    <a:p>
                      <a:pPr algn="ctr"/>
                      <a:r>
                        <a:rPr sz="1200" b="1" dirty="0" err="1">
                          <a:solidFill>
                            <a:srgbClr val="FFFFFF"/>
                          </a:solidFill>
                          <a:latin typeface="汉仪文黑-55W"/>
                          <a:ea typeface="汉仪文黑-55W"/>
                          <a:cs typeface="汉仪文黑-55W"/>
                        </a:rPr>
                        <a:t>文件</a:t>
                      </a:r>
                      <a:endParaRPr sz="1200" b="1" dirty="0">
                        <a:solidFill>
                          <a:srgbClr val="FFFFFF"/>
                        </a:solidFill>
                        <a:latin typeface="汉仪文黑-55W"/>
                        <a:ea typeface="汉仪文黑-55W"/>
                        <a:cs typeface="汉仪文黑-55W"/>
                      </a:endParaRPr>
                    </a:p>
                  </a:txBody>
                  <a:tcPr marL="76200" marR="76200" marT="57150" marB="57150" anchor="ctr">
                    <a:solidFill>
                      <a:srgbClr val="5A2781"/>
                    </a:solidFill>
                  </a:tcPr>
                </a:tc>
                <a:tc>
                  <a:txBody>
                    <a:bodyPr/>
                    <a:lstStyle/>
                    <a:p>
                      <a:pPr algn="ctr"/>
                      <a:r>
                        <a:rPr sz="1200" b="1" dirty="0" err="1">
                          <a:solidFill>
                            <a:srgbClr val="FFFFFF"/>
                          </a:solidFill>
                          <a:latin typeface="汉仪文黑-55W"/>
                          <a:ea typeface="汉仪文黑-55W"/>
                          <a:cs typeface="汉仪文黑-55W"/>
                        </a:rPr>
                        <a:t>发文机构</a:t>
                      </a:r>
                      <a:endParaRPr sz="1200" b="1" dirty="0">
                        <a:solidFill>
                          <a:srgbClr val="FFFFFF"/>
                        </a:solidFill>
                        <a:latin typeface="汉仪文黑-55W"/>
                        <a:ea typeface="汉仪文黑-55W"/>
                        <a:cs typeface="汉仪文黑-55W"/>
                      </a:endParaRPr>
                    </a:p>
                  </a:txBody>
                  <a:tcPr marL="76200" marR="76200" marT="57150" marB="57150" anchor="ctr">
                    <a:solidFill>
                      <a:srgbClr val="5A2781"/>
                    </a:solidFill>
                  </a:tcPr>
                </a:tc>
                <a:tc>
                  <a:txBody>
                    <a:bodyPr/>
                    <a:lstStyle/>
                    <a:p>
                      <a:pPr algn="ctr"/>
                      <a:r>
                        <a:rPr sz="1200" b="1" dirty="0" err="1">
                          <a:solidFill>
                            <a:srgbClr val="FFFFFF"/>
                          </a:solidFill>
                          <a:latin typeface="汉仪文黑-55W"/>
                          <a:ea typeface="汉仪文黑-55W"/>
                          <a:cs typeface="汉仪文黑-55W"/>
                        </a:rPr>
                        <a:t>主要内容</a:t>
                      </a:r>
                      <a:endParaRPr sz="1200" b="1" dirty="0">
                        <a:solidFill>
                          <a:srgbClr val="FFFFFF"/>
                        </a:solidFill>
                        <a:latin typeface="汉仪文黑-55W"/>
                        <a:ea typeface="汉仪文黑-55W"/>
                        <a:cs typeface="汉仪文黑-55W"/>
                      </a:endParaRPr>
                    </a:p>
                  </a:txBody>
                  <a:tcPr marL="76200" marR="76200" marT="57150" marB="57150" anchor="ctr">
                    <a:solidFill>
                      <a:srgbClr val="5A2781"/>
                    </a:solidFill>
                  </a:tcPr>
                </a:tc>
                <a:extLst>
                  <a:ext uri="{0D108BD9-81ED-4DB2-BD59-A6C34878D82A}">
                    <a16:rowId xmlns:a16="http://schemas.microsoft.com/office/drawing/2014/main" val="10000"/>
                  </a:ext>
                </a:extLst>
              </a:tr>
              <a:tr h="1853422">
                <a:tc>
                  <a:txBody>
                    <a:bodyPr/>
                    <a:lstStyle/>
                    <a:p>
                      <a:pPr algn="ctr"/>
                      <a:r>
                        <a:rPr sz="1200" b="1" dirty="0">
                          <a:solidFill>
                            <a:srgbClr val="000000"/>
                          </a:solidFill>
                          <a:latin typeface="汉仪文黑-55W"/>
                          <a:ea typeface="汉仪文黑-55W"/>
                          <a:cs typeface="汉仪文黑-55W"/>
                        </a:rPr>
                        <a:t>2026.09.02</a:t>
                      </a:r>
                    </a:p>
                  </a:txBody>
                  <a:tcPr marL="76200" marR="76200" marT="76200" marB="76200" anchor="ctr">
                    <a:solidFill>
                      <a:srgbClr val="E6E0EC"/>
                    </a:solidFill>
                  </a:tcPr>
                </a:tc>
                <a:tc>
                  <a:txBody>
                    <a:bodyPr/>
                    <a:lstStyle/>
                    <a:p>
                      <a:pPr algn="l"/>
                      <a:r>
                        <a:rPr sz="1200" b="1" dirty="0" err="1">
                          <a:solidFill>
                            <a:srgbClr val="000000"/>
                          </a:solidFill>
                          <a:latin typeface="汉仪文黑-55W"/>
                          <a:ea typeface="汉仪文黑-55W"/>
                          <a:cs typeface="汉仪文黑-55W"/>
                        </a:rPr>
                        <a:t>国家医疗保障局关于印发按病组和病种分值付费3.0版分组方案并做好落地实施相关工作的通知</a:t>
                      </a:r>
                      <a:endParaRPr sz="1200" b="1" dirty="0">
                        <a:solidFill>
                          <a:srgbClr val="000000"/>
                        </a:solidFill>
                        <a:latin typeface="汉仪文黑-55W"/>
                        <a:ea typeface="汉仪文黑-55W"/>
                        <a:cs typeface="汉仪文黑-55W"/>
                      </a:endParaRPr>
                    </a:p>
                  </a:txBody>
                  <a:tcPr marL="76200" marR="76200" marT="76200" marB="76200" anchor="ctr">
                    <a:solidFill>
                      <a:srgbClr val="E6E0EC"/>
                    </a:solidFill>
                  </a:tcPr>
                </a:tc>
                <a:tc>
                  <a:txBody>
                    <a:bodyPr/>
                    <a:lstStyle/>
                    <a:p>
                      <a:pPr algn="l"/>
                      <a:r>
                        <a:rPr sz="1200" b="1">
                          <a:solidFill>
                            <a:srgbClr val="000000"/>
                          </a:solidFill>
                          <a:latin typeface="汉仪文黑-55W"/>
                          <a:ea typeface="汉仪文黑-55W"/>
                          <a:cs typeface="汉仪文黑-55W"/>
                        </a:rPr>
                        <a:t>国家医疗保障局</a:t>
                      </a:r>
                    </a:p>
                  </a:txBody>
                  <a:tcPr marL="76200" marR="76200" marT="76200" marB="76200" anchor="ctr">
                    <a:solidFill>
                      <a:srgbClr val="E6E0EC"/>
                    </a:solidFill>
                  </a:tcPr>
                </a:tc>
                <a:tc>
                  <a:txBody>
                    <a:bodyPr/>
                    <a:lstStyle/>
                    <a:p>
                      <a:pPr algn="l"/>
                      <a:r>
                        <a:rPr lang="zh-CN" altLang="en-US" sz="1200" b="1" dirty="0">
                          <a:solidFill>
                            <a:srgbClr val="000000"/>
                          </a:solidFill>
                          <a:latin typeface="汉仪文黑-55W"/>
                          <a:ea typeface="汉仪文黑-55W"/>
                          <a:cs typeface="汉仪文黑-55W"/>
                        </a:rPr>
                        <a:t>国家医疗保障局组织专家研究形成了《按病组（DRG）付费3.0版分组方案》和《按病种分值（DIP）付费3.0版分组方案》。3.0版DRG分组包括核心分组（ADRG）492个病组、细分组（DRGs）825个病组；3.0版DIP核心病种库包括5125个病种。原则上，实施按病种付费的地区和医疗机构要在2026年12月31日前完成3.0版分组的切换准备工作，2027年3月底前落地应用。</a:t>
                      </a:r>
                      <a:r>
                        <a:rPr sz="1200" b="1" dirty="0">
                          <a:solidFill>
                            <a:srgbClr val="000000"/>
                          </a:solidFill>
                          <a:latin typeface="汉仪文黑-55W"/>
                          <a:ea typeface="汉仪文黑-55W"/>
                          <a:cs typeface="汉仪文黑-55W"/>
                        </a:rPr>
                        <a:t/>
                      </a:r>
                    </a:p>
                  </a:txBody>
                  <a:tcPr marL="76200" marR="76200" marT="76200" marB="76200" anchor="ctr">
                    <a:solidFill>
                      <a:srgbClr val="E6E0EC"/>
                    </a:solidFill>
                  </a:tcPr>
                </a:tc>
                <a:extLst>
                  <a:ext uri="{0D108BD9-81ED-4DB2-BD59-A6C34878D82A}">
                    <a16:rowId xmlns:a16="http://schemas.microsoft.com/office/drawing/2014/main" val="10001"/>
                  </a:ext>
                </a:extLst>
              </a:tr>
              <a:tr h="1853422">
                <a:tc>
                  <a:txBody>
                    <a:bodyPr/>
                    <a:lstStyle/>
                    <a:p>
                      <a:pPr algn="ctr"/>
                      <a:r>
                        <a:rPr sz="1200" b="1" dirty="0">
                          <a:solidFill>
                            <a:srgbClr val="000000"/>
                          </a:solidFill>
                          <a:latin typeface="汉仪文黑-55W"/>
                          <a:ea typeface="汉仪文黑-55W"/>
                          <a:cs typeface="汉仪文黑-55W"/>
                        </a:rPr>
                        <a:t>2026.09.02</a:t>
                      </a:r>
                    </a:p>
                  </a:txBody>
                  <a:tcPr marL="76200" marR="76200" marT="76200" marB="76200" anchor="ctr">
                    <a:solidFill>
                      <a:srgbClr val="FFFFFF"/>
                    </a:solidFill>
                  </a:tcPr>
                </a:tc>
                <a:tc>
                  <a:txBody>
                    <a:bodyPr/>
                    <a:lstStyle/>
                    <a:p>
                      <a:pPr algn="l"/>
                      <a:r>
                        <a:rPr sz="1200" b="1">
                          <a:solidFill>
                            <a:srgbClr val="000000"/>
                          </a:solidFill>
                          <a:latin typeface="汉仪文黑-55W"/>
                          <a:ea typeface="汉仪文黑-55W"/>
                          <a:cs typeface="汉仪文黑-55W"/>
                        </a:rPr>
                        <a:t>国家药监局关于开展化学药品其他剂型（除口服固体制剂和注射剂外）仿制药质量和疗效一致性评价工作的公告（2026年第86号）</a:t>
                      </a:r>
                    </a:p>
                  </a:txBody>
                  <a:tcPr marL="76200" marR="76200" marT="76200" marB="76200" anchor="ctr">
                    <a:solidFill>
                      <a:srgbClr val="FFFFFF"/>
                    </a:solidFill>
                  </a:tcPr>
                </a:tc>
                <a:tc>
                  <a:txBody>
                    <a:bodyPr/>
                    <a:lstStyle/>
                    <a:p>
                      <a:pPr algn="l"/>
                      <a:r>
                        <a:rPr sz="1200" b="1">
                          <a:solidFill>
                            <a:srgbClr val="000000"/>
                          </a:solidFill>
                          <a:latin typeface="汉仪文黑-55W"/>
                          <a:ea typeface="汉仪文黑-55W"/>
                          <a:cs typeface="汉仪文黑-55W"/>
                        </a:rPr>
                        <a:t>国家药品监督管理局</a:t>
                      </a:r>
                    </a:p>
                  </a:txBody>
                  <a:tcPr marL="76200" marR="76200" marT="76200" marB="76200" anchor="ctr">
                    <a:solidFill>
                      <a:srgbClr val="FFFFFF"/>
                    </a:solidFill>
                  </a:tcPr>
                </a:tc>
                <a:tc>
                  <a:txBody>
                    <a:bodyPr/>
                    <a:lstStyle/>
                    <a:p>
                      <a:pPr algn="l"/>
                      <a:r>
                        <a:rPr sz="1200" b="1" dirty="0">
                          <a:solidFill>
                            <a:srgbClr val="000000"/>
                          </a:solidFill>
                          <a:latin typeface="汉仪文黑-55W"/>
                          <a:ea typeface="汉仪文黑-55W"/>
                          <a:cs typeface="汉仪文黑-55W"/>
                        </a:rPr>
                        <a:t>国家药监局决定开展化学药品其他剂型（除口服固体制剂和注射剂外）一致性评价。将一致性评价逐步向滴眼剂、贴剂、喷雾剂等剂型拓展。本公告自发布之日起启动滴眼剂的一致性评价工作，2027年7月1日启动贴剂和喷雾剂的一致性评价工作。</a:t>
                      </a:r>
                    </a:p>
                  </a:txBody>
                  <a:tcPr marL="76200" marR="76200" marT="76200" marB="76200" anchor="ctr">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87074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22D2791-5A08-484E-B7FB-317CE15C46C5}"/>
              </a:ext>
            </a:extLst>
          </p:cNvPr>
          <p:cNvSpPr>
            <a:spLocks noGrp="1"/>
          </p:cNvSpPr>
          <p:nvPr>
            <p:ph type="sldNum" idx="12"/>
          </p:nvPr>
        </p:nvSpPr>
        <p:spPr>
          <a:xfrm>
            <a:off x="11093450" y="6588000"/>
            <a:ext cx="1110615" cy="365125"/>
          </a:xfrm>
        </p:spPr>
        <p:txBody>
          <a:bodyPr/>
          <a:lstStyle/>
          <a:p>
            <a:pPr algn="ctr">
              <a:buNone/>
            </a:pPr>
            <a:r>
              <a:rPr b="1">
                <a:solidFill>
                  <a:schemeClr val="bg1">
                    <a:lumMod val="85000"/>
                  </a:schemeClr>
                </a:solidFill>
                <a:latin typeface="汉仪文黑-55W"/>
                <a:ea typeface="汉仪文黑-55W"/>
                <a:cs typeface="汉仪文黑-55W"/>
              </a:rPr>
              <a:t>26</a:t>
            </a:r>
          </a:p>
        </p:txBody>
      </p:sp>
      <p:sp>
        <p:nvSpPr>
          <p:cNvPr id="5" name="文本框 4">
            <a:extLst>
              <a:ext uri="{FF2B5EF4-FFF2-40B4-BE49-F238E27FC236}">
                <a16:creationId xmlns:a16="http://schemas.microsoft.com/office/drawing/2014/main" id="{1242F1DE-EDF6-4076-A2FD-E2A766F3570E}"/>
              </a:ext>
            </a:extLst>
          </p:cNvPr>
          <p:cNvSpPr>
            <a:spLocks noGrp="1"/>
          </p:cNvSpPr>
          <p:nvPr/>
        </p:nvSpPr>
        <p:spPr>
          <a:xfrm>
            <a:off x="506730" y="270510"/>
            <a:ext cx="3578860" cy="460375"/>
          </a:xfrm>
          <a:prstGeom prst="rect">
            <a:avLst/>
          </a:prstGeom>
          <a:noFill/>
        </p:spPr>
        <p:txBody>
          <a:bodyPr wrap="square" lIns="0" anchor="t">
            <a:spAutoFit/>
          </a:bodyPr>
          <a:lstStyle/>
          <a:p>
            <a:pPr>
              <a:buClrTx/>
              <a:buSzTx/>
              <a:buFontTx/>
              <a:buNone/>
            </a:pPr>
            <a:r>
              <a:rPr sz="2400" b="1">
                <a:solidFill>
                  <a:srgbClr val="5A2781"/>
                </a:solidFill>
                <a:latin typeface="汉仪文黑-55W"/>
                <a:ea typeface="汉仪文黑-55W"/>
                <a:cs typeface="汉仪文黑-55W"/>
              </a:rPr>
              <a:t>4.近期行业要闻梳理</a:t>
            </a:r>
          </a:p>
        </p:txBody>
      </p:sp>
      <p:sp>
        <p:nvSpPr>
          <p:cNvPr id="6" name="文本框 5">
            <a:extLst>
              <a:ext uri="{FF2B5EF4-FFF2-40B4-BE49-F238E27FC236}">
                <a16:creationId xmlns:a16="http://schemas.microsoft.com/office/drawing/2014/main" id="{BD0A558C-45CD-42DB-95F5-6C5C32140534}"/>
              </a:ext>
            </a:extLst>
          </p:cNvPr>
          <p:cNvSpPr>
            <a:spLocks noGrp="1"/>
          </p:cNvSpPr>
          <p:nvPr/>
        </p:nvSpPr>
        <p:spPr>
          <a:xfrm>
            <a:off x="415269" y="6322066"/>
            <a:ext cx="11174095" cy="275590"/>
          </a:xfrm>
          <a:prstGeom prst="rect">
            <a:avLst/>
          </a:prstGeom>
          <a:noFill/>
        </p:spPr>
        <p:txBody>
          <a:bodyPr wrap="square" lIns="0">
            <a:spAutoFit/>
          </a:bodyPr>
          <a:lstStyle/>
          <a:p>
            <a:r>
              <a:rPr sz="1200">
                <a:solidFill>
                  <a:schemeClr val="tx1">
                    <a:lumMod val="65000"/>
                    <a:lumOff val="35000"/>
                  </a:schemeClr>
                </a:solidFill>
                <a:latin typeface="汉仪文黑-55W"/>
                <a:ea typeface="汉仪文黑-55W"/>
                <a:cs typeface="汉仪文黑-55W"/>
              </a:rPr>
              <a:t>资料来源：医药魔方Info，华鑫证券研究所</a:t>
            </a:r>
          </a:p>
        </p:txBody>
      </p:sp>
      <p:sp>
        <p:nvSpPr>
          <p:cNvPr id="8" name="文本框 7">
            <a:extLst>
              <a:ext uri="{FF2B5EF4-FFF2-40B4-BE49-F238E27FC236}">
                <a16:creationId xmlns:a16="http://schemas.microsoft.com/office/drawing/2014/main" id="{67185EE8-5549-459F-A2F9-07361E9EAD38}"/>
              </a:ext>
            </a:extLst>
          </p:cNvPr>
          <p:cNvSpPr>
            <a:spLocks noGrp="1"/>
          </p:cNvSpPr>
          <p:nvPr/>
        </p:nvSpPr>
        <p:spPr>
          <a:xfrm>
            <a:off x="-38914" y="6616120"/>
            <a:ext cx="2160000" cy="307777"/>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1400">
                <a:solidFill>
                  <a:schemeClr val="bg2"/>
                </a:solidFill>
                <a:latin typeface="汉仪文黑-55W"/>
                <a:ea typeface="汉仪文黑-55W"/>
                <a:cs typeface="汉仪文黑-55W"/>
              </a:rPr>
              <a:t>诚信、专业、稳健、高效</a:t>
            </a:r>
          </a:p>
        </p:txBody>
      </p:sp>
      <p:sp>
        <p:nvSpPr>
          <p:cNvPr id="9" name="文本框 8">
            <a:extLst>
              <a:ext uri="{FF2B5EF4-FFF2-40B4-BE49-F238E27FC236}">
                <a16:creationId xmlns:a16="http://schemas.microsoft.com/office/drawing/2014/main" id="{2829F9B5-ABD6-4020-B209-8448F7A236A3}"/>
              </a:ext>
            </a:extLst>
          </p:cNvPr>
          <p:cNvSpPr>
            <a:spLocks noGrp="1"/>
          </p:cNvSpPr>
          <p:nvPr/>
        </p:nvSpPr>
        <p:spPr>
          <a:xfrm>
            <a:off x="8573450" y="6588000"/>
            <a:ext cx="2520000" cy="307777"/>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1400">
                <a:solidFill>
                  <a:schemeClr val="bg2"/>
                </a:solidFill>
                <a:latin typeface="汉仪文黑-55W"/>
                <a:ea typeface="汉仪文黑-55W"/>
                <a:cs typeface="汉仪文黑-55W"/>
              </a:rPr>
              <a:t>请阅读最后一页重要免责声明</a:t>
            </a:r>
          </a:p>
        </p:txBody>
      </p:sp>
      <p:graphicFrame>
        <p:nvGraphicFramePr>
          <p:cNvPr id="16" name="表格 1"/>
          <p:cNvGraphicFramePr/>
          <p:nvPr/>
        </p:nvGraphicFramePr>
        <p:xfrm>
          <a:off x="212979" y="952691"/>
          <a:ext cx="11769090" cy="4847464"/>
        </p:xfrm>
        <a:graphic>
          <a:graphicData uri="http://schemas.openxmlformats.org/drawingml/2006/table">
            <a:tbl>
              <a:tblPr firstRow="1" bandRow="1">
                <a:tableStyleId>{2D5ABB26-0587-4C30-8999-92F81FD0307C}</a:tableStyleId>
              </a:tblPr>
              <a:tblGrid>
                <a:gridCol w="1210913">
                  <a:extLst>
                    <a:ext uri="{9D8B030D-6E8A-4147-A177-3AD203B41FA5}">
                      <a16:colId xmlns:a16="http://schemas.microsoft.com/office/drawing/2014/main" val="20000"/>
                    </a:ext>
                  </a:extLst>
                </a:gridCol>
                <a:gridCol w="10558177">
                  <a:extLst>
                    <a:ext uri="{9D8B030D-6E8A-4147-A177-3AD203B41FA5}">
                      <a16:colId xmlns:a16="http://schemas.microsoft.com/office/drawing/2014/main" val="20001"/>
                    </a:ext>
                  </a:extLst>
                </a:gridCol>
              </a:tblGrid>
              <a:tr h="462725">
                <a:tc>
                  <a:txBody>
                    <a:bodyPr/>
                    <a:lstStyle/>
                    <a:p>
                      <a:pPr algn="ctr"/>
                      <a:r>
                        <a:rPr sz="1400" b="0" dirty="0" err="1">
                          <a:solidFill>
                            <a:srgbClr val="FFFFFF"/>
                          </a:solidFill>
                          <a:latin typeface="苹方"/>
                          <a:ea typeface="苹方"/>
                          <a:cs typeface="苹方"/>
                        </a:rPr>
                        <a:t>时间</a:t>
                      </a:r>
                      <a:endParaRPr sz="1400" b="0" dirty="0">
                        <a:solidFill>
                          <a:srgbClr val="FFFFFF"/>
                        </a:solidFill>
                        <a:latin typeface="苹方"/>
                        <a:ea typeface="苹方"/>
                        <a:cs typeface="苹方"/>
                      </a:endParaRPr>
                    </a:p>
                  </a:txBody>
                  <a:tcPr anchor="ctr">
                    <a:lnL w="12700">
                      <a:noFill/>
                    </a:lnL>
                    <a:lnR w="12700">
                      <a:noFill/>
                    </a:lnR>
                    <a:lnT w="12700">
                      <a:noFill/>
                    </a:lnT>
                    <a:lnB w="12700" cmpd="sng">
                      <a:noFill/>
                      <a:prstDash val="solid"/>
                    </a:lnB>
                    <a:lnTlToBr w="12700" cmpd="sng">
                      <a:noFill/>
                      <a:prstDash val="solid"/>
                    </a:lnTlToBr>
                    <a:lnBlToTr w="12700" cmpd="sng">
                      <a:noFill/>
                      <a:prstDash val="solid"/>
                    </a:lnBlToTr>
                    <a:solidFill>
                      <a:srgbClr val="5A2781"/>
                    </a:solidFill>
                  </a:tcPr>
                </a:tc>
                <a:tc>
                  <a:txBody>
                    <a:bodyPr/>
                    <a:lstStyle/>
                    <a:p>
                      <a:pPr algn="ctr"/>
                      <a:r>
                        <a:rPr sz="1400" b="0" dirty="0" err="1">
                          <a:solidFill>
                            <a:srgbClr val="FFFFFF"/>
                          </a:solidFill>
                          <a:latin typeface="苹方"/>
                          <a:ea typeface="苹方"/>
                          <a:cs typeface="苹方"/>
                        </a:rPr>
                        <a:t>新闻</a:t>
                      </a:r>
                      <a:endParaRPr sz="1400" b="0" dirty="0">
                        <a:solidFill>
                          <a:srgbClr val="FFFFFF"/>
                        </a:solidFill>
                        <a:latin typeface="苹方"/>
                        <a:ea typeface="苹方"/>
                        <a:cs typeface="苹方"/>
                      </a:endParaRPr>
                    </a:p>
                  </a:txBody>
                  <a:tcPr anchor="ctr">
                    <a:lnL w="12700">
                      <a:noFill/>
                    </a:lnL>
                    <a:lnR w="12700">
                      <a:noFill/>
                    </a:lnR>
                    <a:lnT w="12700">
                      <a:noFill/>
                    </a:lnT>
                    <a:lnB w="12700" cmpd="sng">
                      <a:noFill/>
                      <a:prstDash val="solid"/>
                    </a:lnB>
                    <a:lnTlToBr w="12700" cmpd="sng">
                      <a:noFill/>
                      <a:prstDash val="solid"/>
                    </a:lnTlToBr>
                    <a:lnBlToTr w="12700" cmpd="sng">
                      <a:noFill/>
                      <a:prstDash val="solid"/>
                    </a:lnBlToTr>
                    <a:solidFill>
                      <a:srgbClr val="5A2781"/>
                    </a:solidFill>
                  </a:tcPr>
                </a:tc>
                <a:extLst>
                  <a:ext uri="{0D108BD9-81ED-4DB2-BD59-A6C34878D82A}">
                    <a16:rowId xmlns:a16="http://schemas.microsoft.com/office/drawing/2014/main" val="10000"/>
                  </a:ext>
                </a:extLst>
              </a:tr>
              <a:tr h="1033177">
                <a:tc>
                  <a:txBody>
                    <a:bodyPr/>
                    <a:lstStyle/>
                    <a:p>
                      <a:pPr algn="ctr"/>
                      <a:r>
                        <a:rPr sz="1400" b="0">
                          <a:solidFill>
                            <a:srgbClr val="000000"/>
                          </a:solidFill>
                          <a:latin typeface="汉仪文黑-55W"/>
                          <a:ea typeface="汉仪文黑-55W"/>
                          <a:cs typeface="汉仪文黑-55W"/>
                        </a:rPr>
                        <a:t>08.21</a:t>
                      </a:r>
                    </a:p>
                  </a:txBody>
                  <a:tcPr anchor="ctr">
                    <a:lnT>
                      <a:noFill/>
                    </a:lnT>
                    <a:lnB>
                      <a:noFill/>
                    </a:lnB>
                    <a:solidFill>
                      <a:srgbClr val="E6E0EC"/>
                    </a:solidFill>
                  </a:tcPr>
                </a:tc>
                <a:tc>
                  <a:txBody>
                    <a:bodyPr/>
                    <a:lstStyle/>
                    <a:p>
                      <a:pPr algn="l"/>
                      <a:r>
                        <a:rPr sz="1400" b="0">
                          <a:solidFill>
                            <a:srgbClr val="000000"/>
                          </a:solidFill>
                          <a:latin typeface="汉仪文黑-55W"/>
                          <a:ea typeface="汉仪文黑-55W"/>
                          <a:cs typeface="汉仪文黑-55W"/>
                        </a:rPr>
                        <a:t>CDE网站显示，翰森制药的B7-H3 ADC瑞康立伏妥塔单抗（Risvutatug Rezetecan，研发代号：HS-20093）拟纳入优先审评，适应症为经含铂治疗失败的小细胞肺癌（SCLC）。</a:t>
                      </a:r>
                    </a:p>
                  </a:txBody>
                  <a:tcPr anchor="ctr">
                    <a:lnT>
                      <a:noFill/>
                    </a:lnT>
                    <a:lnB>
                      <a:noFill/>
                    </a:lnB>
                    <a:solidFill>
                      <a:srgbClr val="E6E0EC"/>
                    </a:solidFill>
                  </a:tcPr>
                </a:tc>
                <a:extLst>
                  <a:ext uri="{0D108BD9-81ED-4DB2-BD59-A6C34878D82A}">
                    <a16:rowId xmlns:a16="http://schemas.microsoft.com/office/drawing/2014/main" val="10001"/>
                  </a:ext>
                </a:extLst>
              </a:tr>
              <a:tr h="722471">
                <a:tc>
                  <a:txBody>
                    <a:bodyPr/>
                    <a:lstStyle/>
                    <a:p>
                      <a:pPr algn="ctr"/>
                      <a:r>
                        <a:rPr sz="1400" b="0">
                          <a:solidFill>
                            <a:srgbClr val="000000"/>
                          </a:solidFill>
                          <a:latin typeface="汉仪文黑-55W"/>
                          <a:ea typeface="汉仪文黑-55W"/>
                          <a:cs typeface="汉仪文黑-55W"/>
                        </a:rPr>
                        <a:t>08.21</a:t>
                      </a:r>
                    </a:p>
                  </a:txBody>
                  <a:tcPr anchor="ctr">
                    <a:lnT>
                      <a:noFill/>
                    </a:lnT>
                    <a:lnB>
                      <a:noFill/>
                    </a:lnB>
                    <a:solidFill>
                      <a:srgbClr val="FFFFFF"/>
                    </a:solidFill>
                  </a:tcPr>
                </a:tc>
                <a:tc>
                  <a:txBody>
                    <a:bodyPr/>
                    <a:lstStyle/>
                    <a:p>
                      <a:pPr algn="l"/>
                      <a:r>
                        <a:rPr sz="1400" b="0">
                          <a:solidFill>
                            <a:srgbClr val="000000"/>
                          </a:solidFill>
                          <a:latin typeface="汉仪文黑-55W"/>
                          <a:ea typeface="汉仪文黑-55W"/>
                          <a:cs typeface="汉仪文黑-55W"/>
                        </a:rPr>
                        <a:t>CDE官网显示，维立志博的奥帕替苏米单抗（LBL-024）申报上市，用于既往接受过至少两线系统治疗后进展的肺外神经内分泌癌（EP-NEC）。该药物是全球首个递交上市申请的PD-L1/4-1BB双抗。</a:t>
                      </a:r>
                    </a:p>
                  </a:txBody>
                  <a:tcPr anchor="ctr">
                    <a:lnT>
                      <a:noFill/>
                    </a:lnT>
                    <a:lnB>
                      <a:noFill/>
                    </a:lnB>
                    <a:solidFill>
                      <a:srgbClr val="FFFFFF"/>
                    </a:solidFill>
                  </a:tcPr>
                </a:tc>
                <a:extLst>
                  <a:ext uri="{0D108BD9-81ED-4DB2-BD59-A6C34878D82A}">
                    <a16:rowId xmlns:a16="http://schemas.microsoft.com/office/drawing/2014/main" val="10002"/>
                  </a:ext>
                </a:extLst>
              </a:tr>
              <a:tr h="932879">
                <a:tc>
                  <a:txBody>
                    <a:bodyPr/>
                    <a:lstStyle/>
                    <a:p>
                      <a:pPr algn="ctr"/>
                      <a:r>
                        <a:rPr sz="1400" b="0">
                          <a:solidFill>
                            <a:srgbClr val="000000"/>
                          </a:solidFill>
                          <a:latin typeface="汉仪文黑-55W"/>
                          <a:ea typeface="汉仪文黑-55W"/>
                          <a:cs typeface="汉仪文黑-55W"/>
                        </a:rPr>
                        <a:t>08.21</a:t>
                      </a:r>
                    </a:p>
                  </a:txBody>
                  <a:tcPr anchor="ctr">
                    <a:lnT>
                      <a:noFill/>
                    </a:lnT>
                    <a:lnB>
                      <a:noFill/>
                    </a:lnB>
                    <a:solidFill>
                      <a:srgbClr val="E6E0EC"/>
                    </a:solidFill>
                  </a:tcPr>
                </a:tc>
                <a:tc>
                  <a:txBody>
                    <a:bodyPr/>
                    <a:lstStyle/>
                    <a:p>
                      <a:pPr algn="l"/>
                      <a:r>
                        <a:rPr sz="1400" b="0">
                          <a:solidFill>
                            <a:srgbClr val="000000"/>
                          </a:solidFill>
                          <a:latin typeface="汉仪文黑-55W"/>
                          <a:ea typeface="汉仪文黑-55W"/>
                          <a:cs typeface="汉仪文黑-55W"/>
                        </a:rPr>
                        <a:t>近日，君实生物的PD-1/VEGF-A双抗在2026年世界肺癌大会（WCLC）亮相，展示联合铂类双药化疗新辅助治疗非小细胞肺癌（NSCLC）的II期临床数据。</a:t>
                      </a:r>
                    </a:p>
                  </a:txBody>
                  <a:tcPr anchor="ctr">
                    <a:lnT>
                      <a:noFill/>
                    </a:lnT>
                    <a:lnB>
                      <a:noFill/>
                    </a:lnB>
                    <a:solidFill>
                      <a:srgbClr val="E6E0EC"/>
                    </a:solidFill>
                  </a:tcPr>
                </a:tc>
                <a:extLst>
                  <a:ext uri="{0D108BD9-81ED-4DB2-BD59-A6C34878D82A}">
                    <a16:rowId xmlns:a16="http://schemas.microsoft.com/office/drawing/2014/main" val="10003"/>
                  </a:ext>
                </a:extLst>
              </a:tr>
              <a:tr h="733806">
                <a:tc>
                  <a:txBody>
                    <a:bodyPr/>
                    <a:lstStyle/>
                    <a:p>
                      <a:pPr algn="ctr"/>
                      <a:r>
                        <a:rPr sz="1400" b="0">
                          <a:solidFill>
                            <a:srgbClr val="000000"/>
                          </a:solidFill>
                          <a:latin typeface="汉仪文黑-55W"/>
                          <a:ea typeface="汉仪文黑-55W"/>
                          <a:cs typeface="汉仪文黑-55W"/>
                        </a:rPr>
                        <a:t>08.20</a:t>
                      </a:r>
                    </a:p>
                  </a:txBody>
                  <a:tcPr anchor="ctr">
                    <a:lnT>
                      <a:noFill/>
                    </a:lnT>
                    <a:lnB>
                      <a:noFill/>
                    </a:lnB>
                    <a:noFill/>
                  </a:tcPr>
                </a:tc>
                <a:tc>
                  <a:txBody>
                    <a:bodyPr/>
                    <a:lstStyle/>
                    <a:p>
                      <a:pPr algn="l"/>
                      <a:r>
                        <a:rPr sz="1400" b="0">
                          <a:solidFill>
                            <a:srgbClr val="000000"/>
                          </a:solidFill>
                          <a:latin typeface="汉仪文黑-55W"/>
                          <a:ea typeface="汉仪文黑-55W"/>
                          <a:cs typeface="汉仪文黑-55W"/>
                        </a:rPr>
                        <a:t>国家药监局（NMPA）官网显示，恒瑞医药的立康可泮（商品名：恒优达，研发代号：HRS-5965）胶囊获批上市，用于治疗既往未接受过补体抑制剂治疗的阵发性睡眠性血红蛋白尿症（PNH）成人患者。</a:t>
                      </a:r>
                    </a:p>
                  </a:txBody>
                  <a:tcPr anchor="ctr">
                    <a:lnT>
                      <a:noFill/>
                    </a:lnT>
                    <a:lnB>
                      <a:noFill/>
                    </a:lnB>
                    <a:noFill/>
                  </a:tcPr>
                </a:tc>
                <a:extLst>
                  <a:ext uri="{0D108BD9-81ED-4DB2-BD59-A6C34878D82A}">
                    <a16:rowId xmlns:a16="http://schemas.microsoft.com/office/drawing/2014/main" val="10004"/>
                  </a:ext>
                </a:extLst>
              </a:tr>
              <a:tr h="962406">
                <a:tc>
                  <a:txBody>
                    <a:bodyPr/>
                    <a:lstStyle/>
                    <a:p>
                      <a:pPr algn="ctr"/>
                      <a:r>
                        <a:rPr sz="1400" b="0" dirty="0">
                          <a:solidFill>
                            <a:srgbClr val="000000"/>
                          </a:solidFill>
                          <a:latin typeface="汉仪文黑-55W"/>
                          <a:ea typeface="汉仪文黑-55W"/>
                          <a:cs typeface="汉仪文黑-55W"/>
                        </a:rPr>
                        <a:t>08.20</a:t>
                      </a:r>
                    </a:p>
                  </a:txBody>
                  <a:tcPr anchor="ctr">
                    <a:lnT>
                      <a:noFill/>
                    </a:lnT>
                    <a:lnB>
                      <a:noFill/>
                    </a:lnB>
                    <a:solidFill>
                      <a:srgbClr val="D7CEE1"/>
                    </a:solidFill>
                  </a:tcPr>
                </a:tc>
                <a:tc>
                  <a:txBody>
                    <a:bodyPr/>
                    <a:lstStyle/>
                    <a:p>
                      <a:pPr algn="l"/>
                      <a:r>
                        <a:rPr sz="1400" b="0" dirty="0">
                          <a:solidFill>
                            <a:srgbClr val="000000"/>
                          </a:solidFill>
                          <a:latin typeface="汉仪文黑-55W"/>
                          <a:ea typeface="汉仪文黑-55W"/>
                          <a:cs typeface="汉仪文黑-55W"/>
                        </a:rPr>
                        <a:t>国家药监局（NMPA）官网显示，三生制药的安弗利奇塔单抗（anflekitug，研发代号：SSGJ-613，商品名：益赛那）获批上市</a:t>
                      </a:r>
                    </a:p>
                  </a:txBody>
                  <a:tcPr anchor="ctr">
                    <a:lnT>
                      <a:noFill/>
                    </a:lnT>
                    <a:lnB>
                      <a:noFill/>
                    </a:lnB>
                    <a:solidFill>
                      <a:srgbClr val="D7CEE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814657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22D2791-5A08-484E-B7FB-317CE15C46C5}"/>
              </a:ext>
            </a:extLst>
          </p:cNvPr>
          <p:cNvSpPr>
            <a:spLocks noGrp="1"/>
          </p:cNvSpPr>
          <p:nvPr>
            <p:ph type="sldNum" idx="12"/>
          </p:nvPr>
        </p:nvSpPr>
        <p:spPr>
          <a:xfrm>
            <a:off x="11093450" y="6588000"/>
            <a:ext cx="1110615" cy="365125"/>
          </a:xfrm>
        </p:spPr>
        <p:txBody>
          <a:bodyPr/>
          <a:lstStyle/>
          <a:p>
            <a:pPr algn="ctr">
              <a:buNone/>
            </a:pPr>
            <a:r>
              <a:rPr b="1">
                <a:solidFill>
                  <a:schemeClr val="bg1">
                    <a:lumMod val="85000"/>
                  </a:schemeClr>
                </a:solidFill>
                <a:latin typeface="汉仪文黑-55W"/>
                <a:ea typeface="汉仪文黑-55W"/>
                <a:cs typeface="汉仪文黑-55W"/>
              </a:rPr>
              <a:t>27</a:t>
            </a:r>
          </a:p>
        </p:txBody>
      </p:sp>
      <p:sp>
        <p:nvSpPr>
          <p:cNvPr id="5" name="文本框 4">
            <a:extLst>
              <a:ext uri="{FF2B5EF4-FFF2-40B4-BE49-F238E27FC236}">
                <a16:creationId xmlns:a16="http://schemas.microsoft.com/office/drawing/2014/main" id="{1242F1DE-EDF6-4076-A2FD-E2A766F3570E}"/>
              </a:ext>
            </a:extLst>
          </p:cNvPr>
          <p:cNvSpPr>
            <a:spLocks noGrp="1"/>
          </p:cNvSpPr>
          <p:nvPr/>
        </p:nvSpPr>
        <p:spPr>
          <a:xfrm>
            <a:off x="506730" y="270510"/>
            <a:ext cx="3578860" cy="460375"/>
          </a:xfrm>
          <a:prstGeom prst="rect">
            <a:avLst/>
          </a:prstGeom>
          <a:noFill/>
        </p:spPr>
        <p:txBody>
          <a:bodyPr wrap="square" lIns="0" anchor="t">
            <a:spAutoFit/>
          </a:bodyPr>
          <a:lstStyle/>
          <a:p>
            <a:pPr>
              <a:buClrTx/>
              <a:buSzTx/>
              <a:buFontTx/>
              <a:buNone/>
            </a:pPr>
            <a:r>
              <a:rPr sz="2400" b="1">
                <a:solidFill>
                  <a:srgbClr val="5A2781"/>
                </a:solidFill>
                <a:latin typeface="汉仪文黑-55W"/>
                <a:ea typeface="汉仪文黑-55W"/>
                <a:cs typeface="汉仪文黑-55W"/>
              </a:rPr>
              <a:t>4.近期行业要闻梳理</a:t>
            </a:r>
          </a:p>
        </p:txBody>
      </p:sp>
      <p:sp>
        <p:nvSpPr>
          <p:cNvPr id="6" name="文本框 5">
            <a:extLst>
              <a:ext uri="{FF2B5EF4-FFF2-40B4-BE49-F238E27FC236}">
                <a16:creationId xmlns:a16="http://schemas.microsoft.com/office/drawing/2014/main" id="{BD0A558C-45CD-42DB-95F5-6C5C32140534}"/>
              </a:ext>
            </a:extLst>
          </p:cNvPr>
          <p:cNvSpPr>
            <a:spLocks noGrp="1"/>
          </p:cNvSpPr>
          <p:nvPr/>
        </p:nvSpPr>
        <p:spPr>
          <a:xfrm>
            <a:off x="415269" y="6322066"/>
            <a:ext cx="11174095" cy="275590"/>
          </a:xfrm>
          <a:prstGeom prst="rect">
            <a:avLst/>
          </a:prstGeom>
          <a:noFill/>
        </p:spPr>
        <p:txBody>
          <a:bodyPr wrap="square" lIns="0">
            <a:spAutoFit/>
          </a:bodyPr>
          <a:lstStyle/>
          <a:p>
            <a:r>
              <a:rPr sz="1200">
                <a:solidFill>
                  <a:schemeClr val="tx1">
                    <a:lumMod val="65000"/>
                    <a:lumOff val="35000"/>
                  </a:schemeClr>
                </a:solidFill>
                <a:latin typeface="汉仪文黑-55W"/>
                <a:ea typeface="汉仪文黑-55W"/>
                <a:cs typeface="汉仪文黑-55W"/>
              </a:rPr>
              <a:t>资料来源：医药魔方Info，华鑫证券研究所</a:t>
            </a:r>
          </a:p>
        </p:txBody>
      </p:sp>
      <p:sp>
        <p:nvSpPr>
          <p:cNvPr id="8" name="文本框 7">
            <a:extLst>
              <a:ext uri="{FF2B5EF4-FFF2-40B4-BE49-F238E27FC236}">
                <a16:creationId xmlns:a16="http://schemas.microsoft.com/office/drawing/2014/main" id="{67185EE8-5549-459F-A2F9-07361E9EAD38}"/>
              </a:ext>
            </a:extLst>
          </p:cNvPr>
          <p:cNvSpPr>
            <a:spLocks noGrp="1"/>
          </p:cNvSpPr>
          <p:nvPr/>
        </p:nvSpPr>
        <p:spPr>
          <a:xfrm>
            <a:off x="-38914" y="6616120"/>
            <a:ext cx="2160000" cy="307777"/>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1400">
                <a:solidFill>
                  <a:schemeClr val="bg2"/>
                </a:solidFill>
                <a:latin typeface="汉仪文黑-55W"/>
                <a:ea typeface="汉仪文黑-55W"/>
                <a:cs typeface="汉仪文黑-55W"/>
              </a:rPr>
              <a:t>诚信、专业、稳健、高效</a:t>
            </a:r>
          </a:p>
        </p:txBody>
      </p:sp>
      <p:sp>
        <p:nvSpPr>
          <p:cNvPr id="9" name="文本框 8">
            <a:extLst>
              <a:ext uri="{FF2B5EF4-FFF2-40B4-BE49-F238E27FC236}">
                <a16:creationId xmlns:a16="http://schemas.microsoft.com/office/drawing/2014/main" id="{2829F9B5-ABD6-4020-B209-8448F7A236A3}"/>
              </a:ext>
            </a:extLst>
          </p:cNvPr>
          <p:cNvSpPr>
            <a:spLocks noGrp="1"/>
          </p:cNvSpPr>
          <p:nvPr/>
        </p:nvSpPr>
        <p:spPr>
          <a:xfrm>
            <a:off x="8573450" y="6588000"/>
            <a:ext cx="2520000" cy="307777"/>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1400">
                <a:solidFill>
                  <a:schemeClr val="bg2"/>
                </a:solidFill>
                <a:latin typeface="汉仪文黑-55W"/>
                <a:ea typeface="汉仪文黑-55W"/>
                <a:cs typeface="汉仪文黑-55W"/>
              </a:rPr>
              <a:t>请阅读最后一页重要免责声明</a:t>
            </a:r>
          </a:p>
        </p:txBody>
      </p:sp>
      <p:graphicFrame>
        <p:nvGraphicFramePr>
          <p:cNvPr id="16" name="表格 1"/>
          <p:cNvGraphicFramePr/>
          <p:nvPr/>
        </p:nvGraphicFramePr>
        <p:xfrm>
          <a:off x="212979" y="952691"/>
          <a:ext cx="11769090" cy="4847464"/>
        </p:xfrm>
        <a:graphic>
          <a:graphicData uri="http://schemas.openxmlformats.org/drawingml/2006/table">
            <a:tbl>
              <a:tblPr firstRow="1" bandRow="1">
                <a:tableStyleId>{2D5ABB26-0587-4C30-8999-92F81FD0307C}</a:tableStyleId>
              </a:tblPr>
              <a:tblGrid>
                <a:gridCol w="1210913">
                  <a:extLst>
                    <a:ext uri="{9D8B030D-6E8A-4147-A177-3AD203B41FA5}">
                      <a16:colId xmlns:a16="http://schemas.microsoft.com/office/drawing/2014/main" val="20000"/>
                    </a:ext>
                  </a:extLst>
                </a:gridCol>
                <a:gridCol w="10558177">
                  <a:extLst>
                    <a:ext uri="{9D8B030D-6E8A-4147-A177-3AD203B41FA5}">
                      <a16:colId xmlns:a16="http://schemas.microsoft.com/office/drawing/2014/main" val="20001"/>
                    </a:ext>
                  </a:extLst>
                </a:gridCol>
              </a:tblGrid>
              <a:tr h="462725">
                <a:tc>
                  <a:txBody>
                    <a:bodyPr/>
                    <a:lstStyle/>
                    <a:p>
                      <a:pPr algn="ctr"/>
                      <a:r>
                        <a:rPr sz="1400" b="0">
                          <a:solidFill>
                            <a:srgbClr val="FFFFFF"/>
                          </a:solidFill>
                          <a:latin typeface="苹方"/>
                          <a:ea typeface="苹方"/>
                          <a:cs typeface="苹方"/>
                        </a:rPr>
                        <a:t>时间</a:t>
                      </a:r>
                    </a:p>
                  </a:txBody>
                  <a:tcPr anchor="ctr">
                    <a:lnL w="12700">
                      <a:noFill/>
                    </a:lnL>
                    <a:lnR w="12700">
                      <a:noFill/>
                    </a:lnR>
                    <a:lnT w="12700">
                      <a:noFill/>
                    </a:lnT>
                    <a:lnB w="12700" cmpd="sng">
                      <a:noFill/>
                      <a:prstDash val="solid"/>
                    </a:lnB>
                    <a:lnTlToBr w="12700" cmpd="sng">
                      <a:noFill/>
                      <a:prstDash val="solid"/>
                    </a:lnTlToBr>
                    <a:lnBlToTr w="12700" cmpd="sng">
                      <a:noFill/>
                      <a:prstDash val="solid"/>
                    </a:lnBlToTr>
                    <a:solidFill>
                      <a:srgbClr val="5A2781"/>
                    </a:solidFill>
                  </a:tcPr>
                </a:tc>
                <a:tc>
                  <a:txBody>
                    <a:bodyPr/>
                    <a:lstStyle/>
                    <a:p>
                      <a:pPr algn="ctr"/>
                      <a:r>
                        <a:rPr sz="1400" b="0" dirty="0" err="1">
                          <a:solidFill>
                            <a:srgbClr val="FFFFFF"/>
                          </a:solidFill>
                          <a:latin typeface="苹方"/>
                          <a:ea typeface="苹方"/>
                          <a:cs typeface="苹方"/>
                        </a:rPr>
                        <a:t>新闻</a:t>
                      </a:r>
                      <a:endParaRPr sz="1400" b="0" dirty="0">
                        <a:solidFill>
                          <a:srgbClr val="FFFFFF"/>
                        </a:solidFill>
                        <a:latin typeface="苹方"/>
                        <a:ea typeface="苹方"/>
                        <a:cs typeface="苹方"/>
                      </a:endParaRPr>
                    </a:p>
                  </a:txBody>
                  <a:tcPr anchor="ctr">
                    <a:lnL w="12700">
                      <a:noFill/>
                    </a:lnL>
                    <a:lnR w="12700">
                      <a:noFill/>
                    </a:lnR>
                    <a:lnT w="12700">
                      <a:noFill/>
                    </a:lnT>
                    <a:lnB w="12700" cmpd="sng">
                      <a:noFill/>
                      <a:prstDash val="solid"/>
                    </a:lnB>
                    <a:lnTlToBr w="12700" cmpd="sng">
                      <a:noFill/>
                      <a:prstDash val="solid"/>
                    </a:lnTlToBr>
                    <a:lnBlToTr w="12700" cmpd="sng">
                      <a:noFill/>
                      <a:prstDash val="solid"/>
                    </a:lnBlToTr>
                    <a:solidFill>
                      <a:srgbClr val="5A2781"/>
                    </a:solidFill>
                  </a:tcPr>
                </a:tc>
                <a:extLst>
                  <a:ext uri="{0D108BD9-81ED-4DB2-BD59-A6C34878D82A}">
                    <a16:rowId xmlns:a16="http://schemas.microsoft.com/office/drawing/2014/main" val="10000"/>
                  </a:ext>
                </a:extLst>
              </a:tr>
              <a:tr h="781050">
                <a:tc>
                  <a:txBody>
                    <a:bodyPr/>
                    <a:lstStyle/>
                    <a:p>
                      <a:pPr algn="ctr"/>
                      <a:r>
                        <a:rPr sz="1400" b="0">
                          <a:solidFill>
                            <a:srgbClr val="000000"/>
                          </a:solidFill>
                          <a:latin typeface="汉仪文黑-55W"/>
                          <a:ea typeface="汉仪文黑-55W"/>
                          <a:cs typeface="汉仪文黑-55W"/>
                        </a:rPr>
                        <a:t>08.17</a:t>
                      </a:r>
                    </a:p>
                  </a:txBody>
                  <a:tcPr anchor="ctr">
                    <a:lnT>
                      <a:noFill/>
                    </a:lnT>
                    <a:lnB>
                      <a:noFill/>
                    </a:lnB>
                    <a:solidFill>
                      <a:srgbClr val="E6E0EC"/>
                    </a:solidFill>
                  </a:tcPr>
                </a:tc>
                <a:tc>
                  <a:txBody>
                    <a:bodyPr/>
                    <a:lstStyle/>
                    <a:p>
                      <a:pPr algn="l"/>
                      <a:r>
                        <a:rPr sz="1400" b="0">
                          <a:solidFill>
                            <a:srgbClr val="000000"/>
                          </a:solidFill>
                          <a:latin typeface="汉仪文黑-55W"/>
                          <a:ea typeface="汉仪文黑-55W"/>
                          <a:cs typeface="汉仪文黑-55W"/>
                        </a:rPr>
                        <a:t>阿斯利康和第一三共联合宣布Enhertu（德曲妥珠单抗）单药一线治疗非小细胞肺癌（NSCLC）的III期DESTINY-Lung04研究取得了高水平的积极结果。</a:t>
                      </a:r>
                    </a:p>
                  </a:txBody>
                  <a:tcPr anchor="ctr">
                    <a:lnT>
                      <a:noFill/>
                    </a:lnT>
                    <a:lnB>
                      <a:noFill/>
                    </a:lnB>
                    <a:solidFill>
                      <a:srgbClr val="E6E0EC"/>
                    </a:solidFill>
                  </a:tcPr>
                </a:tc>
                <a:extLst>
                  <a:ext uri="{0D108BD9-81ED-4DB2-BD59-A6C34878D82A}">
                    <a16:rowId xmlns:a16="http://schemas.microsoft.com/office/drawing/2014/main" val="10001"/>
                  </a:ext>
                </a:extLst>
              </a:tr>
              <a:tr h="1095375">
                <a:tc>
                  <a:txBody>
                    <a:bodyPr/>
                    <a:lstStyle/>
                    <a:p>
                      <a:pPr algn="ctr"/>
                      <a:r>
                        <a:rPr sz="1400" b="0">
                          <a:solidFill>
                            <a:srgbClr val="000000"/>
                          </a:solidFill>
                          <a:latin typeface="汉仪文黑-55W"/>
                          <a:ea typeface="汉仪文黑-55W"/>
                          <a:cs typeface="汉仪文黑-55W"/>
                        </a:rPr>
                        <a:t>08.17</a:t>
                      </a:r>
                    </a:p>
                  </a:txBody>
                  <a:tcPr anchor="ctr">
                    <a:lnT>
                      <a:noFill/>
                    </a:lnT>
                    <a:lnB>
                      <a:noFill/>
                    </a:lnB>
                    <a:solidFill>
                      <a:srgbClr val="FFFFFF"/>
                    </a:solidFill>
                  </a:tcPr>
                </a:tc>
                <a:tc>
                  <a:txBody>
                    <a:bodyPr/>
                    <a:lstStyle/>
                    <a:p>
                      <a:pPr algn="l"/>
                      <a:r>
                        <a:rPr sz="1400" b="0">
                          <a:solidFill>
                            <a:srgbClr val="000000"/>
                          </a:solidFill>
                          <a:latin typeface="汉仪文黑-55W"/>
                          <a:ea typeface="汉仪文黑-55W"/>
                          <a:cs typeface="汉仪文黑-55W"/>
                        </a:rPr>
                        <a:t>百利天恒宣布，公司自主研发的EGFR/HER3双抗ADC伦康依隆妥单抗/宜泽康®（BL-B01D1/iza-bren），用于非小细胞肺癌的Ⅲ期临床试验（研究方案编号：BL-B01D1-301）中，经独立数据监查委员会（iDMC）判断，在预设的期中分析中达到无进展生存期（PFS）主要终点，OS方面亦观察到获益趋势，其适应症为：既往经EGFR-TKI治疗失败的EGFR敏感突变的局部晚期或转移性非小细胞肺癌。</a:t>
                      </a:r>
                    </a:p>
                  </a:txBody>
                  <a:tcPr anchor="ctr">
                    <a:lnT>
                      <a:noFill/>
                    </a:lnT>
                    <a:lnB>
                      <a:noFill/>
                    </a:lnB>
                    <a:solidFill>
                      <a:srgbClr val="FFFFFF"/>
                    </a:solidFill>
                  </a:tcPr>
                </a:tc>
                <a:extLst>
                  <a:ext uri="{0D108BD9-81ED-4DB2-BD59-A6C34878D82A}">
                    <a16:rowId xmlns:a16="http://schemas.microsoft.com/office/drawing/2014/main" val="10002"/>
                  </a:ext>
                </a:extLst>
              </a:tr>
              <a:tr h="619125">
                <a:tc>
                  <a:txBody>
                    <a:bodyPr/>
                    <a:lstStyle/>
                    <a:p>
                      <a:pPr algn="ctr"/>
                      <a:r>
                        <a:rPr sz="1400" b="0">
                          <a:solidFill>
                            <a:srgbClr val="000000"/>
                          </a:solidFill>
                          <a:latin typeface="汉仪文黑-55W"/>
                          <a:ea typeface="汉仪文黑-55W"/>
                          <a:cs typeface="汉仪文黑-55W"/>
                        </a:rPr>
                        <a:t>08.17</a:t>
                      </a:r>
                    </a:p>
                  </a:txBody>
                  <a:tcPr anchor="ctr">
                    <a:lnT>
                      <a:noFill/>
                    </a:lnT>
                    <a:lnB>
                      <a:noFill/>
                    </a:lnB>
                    <a:solidFill>
                      <a:srgbClr val="E6E0EC"/>
                    </a:solidFill>
                  </a:tcPr>
                </a:tc>
                <a:tc>
                  <a:txBody>
                    <a:bodyPr/>
                    <a:lstStyle/>
                    <a:p>
                      <a:pPr algn="l"/>
                      <a:r>
                        <a:rPr sz="1400" b="0">
                          <a:solidFill>
                            <a:srgbClr val="000000"/>
                          </a:solidFill>
                          <a:latin typeface="汉仪文黑-55W"/>
                          <a:ea typeface="汉仪文黑-55W"/>
                          <a:cs typeface="汉仪文黑-55W"/>
                        </a:rPr>
                        <a:t>阿斯利康宣布正在终止PD-1/CTLA-4双抗Volrustomig一线治疗非小细胞肺癌（NSCLC）的III期eVOLVE-Lung02研究。</a:t>
                      </a:r>
                    </a:p>
                  </a:txBody>
                  <a:tcPr anchor="ctr">
                    <a:lnT>
                      <a:noFill/>
                    </a:lnT>
                    <a:lnB>
                      <a:noFill/>
                    </a:lnB>
                    <a:solidFill>
                      <a:srgbClr val="E6E0EC"/>
                    </a:solidFill>
                  </a:tcPr>
                </a:tc>
                <a:extLst>
                  <a:ext uri="{0D108BD9-81ED-4DB2-BD59-A6C34878D82A}">
                    <a16:rowId xmlns:a16="http://schemas.microsoft.com/office/drawing/2014/main" val="10003"/>
                  </a:ext>
                </a:extLst>
              </a:tr>
              <a:tr h="1190625">
                <a:tc>
                  <a:txBody>
                    <a:bodyPr/>
                    <a:lstStyle/>
                    <a:p>
                      <a:pPr algn="ctr"/>
                      <a:r>
                        <a:rPr sz="1400" b="0">
                          <a:solidFill>
                            <a:srgbClr val="000000"/>
                          </a:solidFill>
                          <a:latin typeface="汉仪文黑-55W"/>
                          <a:ea typeface="汉仪文黑-55W"/>
                          <a:cs typeface="汉仪文黑-55W"/>
                        </a:rPr>
                        <a:t>08.17</a:t>
                      </a:r>
                    </a:p>
                  </a:txBody>
                  <a:tcPr anchor="ctr">
                    <a:lnT>
                      <a:noFill/>
                    </a:lnT>
                    <a:lnB>
                      <a:noFill/>
                    </a:lnB>
                    <a:noFill/>
                  </a:tcPr>
                </a:tc>
                <a:tc>
                  <a:txBody>
                    <a:bodyPr/>
                    <a:lstStyle/>
                    <a:p>
                      <a:pPr algn="l"/>
                      <a:r>
                        <a:rPr sz="1400" b="0" dirty="0" err="1">
                          <a:solidFill>
                            <a:srgbClr val="000000"/>
                          </a:solidFill>
                          <a:latin typeface="汉仪文黑-55W"/>
                          <a:ea typeface="汉仪文黑-55W"/>
                          <a:cs typeface="汉仪文黑-55W"/>
                        </a:rPr>
                        <a:t>和黄医药今日宣布沃瑞沙</a:t>
                      </a:r>
                      <a:r>
                        <a:rPr sz="1400" b="0" dirty="0">
                          <a:solidFill>
                            <a:srgbClr val="000000"/>
                          </a:solidFill>
                          <a:latin typeface="汉仪文黑-55W"/>
                          <a:ea typeface="汉仪文黑-55W"/>
                          <a:cs typeface="汉仪文黑-55W"/>
                        </a:rPr>
                        <a:t>® (</a:t>
                      </a:r>
                      <a:r>
                        <a:rPr sz="1400" b="0" dirty="0" err="1">
                          <a:solidFill>
                            <a:srgbClr val="000000"/>
                          </a:solidFill>
                          <a:latin typeface="汉仪文黑-55W"/>
                          <a:ea typeface="汉仪文黑-55W"/>
                          <a:cs typeface="汉仪文黑-55W"/>
                        </a:rPr>
                        <a:t>赛沃替尼</a:t>
                      </a:r>
                      <a:r>
                        <a:rPr sz="1400" b="0" dirty="0">
                          <a:solidFill>
                            <a:srgbClr val="000000"/>
                          </a:solidFill>
                          <a:latin typeface="汉仪文黑-55W"/>
                          <a:ea typeface="汉仪文黑-55W"/>
                          <a:cs typeface="汉仪文黑-55W"/>
                        </a:rPr>
                        <a:t>) </a:t>
                      </a:r>
                      <a:r>
                        <a:rPr sz="1400" b="0" dirty="0" err="1">
                          <a:solidFill>
                            <a:srgbClr val="000000"/>
                          </a:solidFill>
                          <a:latin typeface="汉仪文黑-55W"/>
                          <a:ea typeface="汉仪文黑-55W"/>
                          <a:cs typeface="汉仪文黑-55W"/>
                        </a:rPr>
                        <a:t>和泰瑞沙</a:t>
                      </a:r>
                      <a:r>
                        <a:rPr sz="1400" b="0" dirty="0">
                          <a:solidFill>
                            <a:srgbClr val="000000"/>
                          </a:solidFill>
                          <a:latin typeface="汉仪文黑-55W"/>
                          <a:ea typeface="汉仪文黑-55W"/>
                          <a:cs typeface="汉仪文黑-55W"/>
                        </a:rPr>
                        <a:t>® (</a:t>
                      </a:r>
                      <a:r>
                        <a:rPr sz="1400" b="0" dirty="0" err="1">
                          <a:solidFill>
                            <a:srgbClr val="000000"/>
                          </a:solidFill>
                          <a:latin typeface="汉仪文黑-55W"/>
                          <a:ea typeface="汉仪文黑-55W"/>
                          <a:cs typeface="汉仪文黑-55W"/>
                        </a:rPr>
                        <a:t>奥希替尼</a:t>
                      </a:r>
                      <a:r>
                        <a:rPr sz="1400" b="0" dirty="0">
                          <a:solidFill>
                            <a:srgbClr val="000000"/>
                          </a:solidFill>
                          <a:latin typeface="汉仪文黑-55W"/>
                          <a:ea typeface="汉仪文黑-55W"/>
                          <a:cs typeface="汉仪文黑-55W"/>
                        </a:rPr>
                        <a:t>) </a:t>
                      </a:r>
                      <a:r>
                        <a:rPr sz="1400" b="0" dirty="0" err="1">
                          <a:solidFill>
                            <a:srgbClr val="000000"/>
                          </a:solidFill>
                          <a:latin typeface="汉仪文黑-55W"/>
                          <a:ea typeface="汉仪文黑-55W"/>
                          <a:cs typeface="汉仪文黑-55W"/>
                        </a:rPr>
                        <a:t>的联合疗法对比铂类双药化疗用于治疗表皮生长因子受体</a:t>
                      </a:r>
                      <a:r>
                        <a:rPr sz="1400" b="0" dirty="0">
                          <a:solidFill>
                            <a:srgbClr val="000000"/>
                          </a:solidFill>
                          <a:latin typeface="汉仪文黑-55W"/>
                          <a:ea typeface="汉仪文黑-55W"/>
                          <a:cs typeface="汉仪文黑-55W"/>
                        </a:rPr>
                        <a:t> ("EGFR") </a:t>
                      </a:r>
                      <a:r>
                        <a:rPr sz="1400" b="0" dirty="0" err="1">
                          <a:solidFill>
                            <a:srgbClr val="000000"/>
                          </a:solidFill>
                          <a:latin typeface="汉仪文黑-55W"/>
                          <a:ea typeface="汉仪文黑-55W"/>
                          <a:cs typeface="汉仪文黑-55W"/>
                        </a:rPr>
                        <a:t>突变非小细胞肺癌患者的SAFFRON</a:t>
                      </a:r>
                      <a:r>
                        <a:rPr sz="1400" b="0" dirty="0">
                          <a:solidFill>
                            <a:srgbClr val="000000"/>
                          </a:solidFill>
                          <a:latin typeface="汉仪文黑-55W"/>
                          <a:ea typeface="汉仪文黑-55W"/>
                          <a:cs typeface="汉仪文黑-55W"/>
                        </a:rPr>
                        <a:t> </a:t>
                      </a:r>
                      <a:r>
                        <a:rPr sz="1400" b="0" dirty="0" err="1">
                          <a:solidFill>
                            <a:srgbClr val="000000"/>
                          </a:solidFill>
                          <a:latin typeface="汉仪文黑-55W"/>
                          <a:ea typeface="汉仪文黑-55W"/>
                          <a:cs typeface="汉仪文黑-55W"/>
                        </a:rPr>
                        <a:t>III期研究取得积极的顶线结果，显示出具有统计学和临床意义的无进展生存期</a:t>
                      </a:r>
                      <a:r>
                        <a:rPr sz="1400" b="0" dirty="0">
                          <a:solidFill>
                            <a:srgbClr val="000000"/>
                          </a:solidFill>
                          <a:latin typeface="汉仪文黑-55W"/>
                          <a:ea typeface="汉仪文黑-55W"/>
                          <a:cs typeface="汉仪文黑-55W"/>
                        </a:rPr>
                        <a:t> ("PFS") </a:t>
                      </a:r>
                      <a:r>
                        <a:rPr sz="1400" b="0" dirty="0" err="1">
                          <a:solidFill>
                            <a:srgbClr val="000000"/>
                          </a:solidFill>
                          <a:latin typeface="汉仪文黑-55W"/>
                          <a:ea typeface="汉仪文黑-55W"/>
                          <a:cs typeface="汉仪文黑-55W"/>
                        </a:rPr>
                        <a:t>和总生存期</a:t>
                      </a:r>
                      <a:r>
                        <a:rPr sz="1400" b="0" dirty="0">
                          <a:solidFill>
                            <a:srgbClr val="000000"/>
                          </a:solidFill>
                          <a:latin typeface="汉仪文黑-55W"/>
                          <a:ea typeface="汉仪文黑-55W"/>
                          <a:cs typeface="汉仪文黑-55W"/>
                        </a:rPr>
                        <a:t> ("OS") </a:t>
                      </a:r>
                      <a:r>
                        <a:rPr sz="1400" b="0" dirty="0" err="1">
                          <a:solidFill>
                            <a:srgbClr val="000000"/>
                          </a:solidFill>
                          <a:latin typeface="汉仪文黑-55W"/>
                          <a:ea typeface="汉仪文黑-55W"/>
                          <a:cs typeface="汉仪文黑-55W"/>
                        </a:rPr>
                        <a:t>改善。研究中患者的肿瘤伴有高水平的MET过表达或扩增，并且既往曾接受过泰瑞沙®治疗后疾病进展</a:t>
                      </a:r>
                      <a:r>
                        <a:rPr sz="1400" b="0" dirty="0">
                          <a:solidFill>
                            <a:srgbClr val="000000"/>
                          </a:solidFill>
                          <a:latin typeface="汉仪文黑-55W"/>
                          <a:ea typeface="汉仪文黑-55W"/>
                          <a:cs typeface="汉仪文黑-55W"/>
                        </a:rPr>
                        <a:t>。</a:t>
                      </a:r>
                    </a:p>
                  </a:txBody>
                  <a:tcPr anchor="ctr">
                    <a:lnT>
                      <a:noFill/>
                    </a:lnT>
                    <a:lnB>
                      <a:noFill/>
                    </a:lnB>
                    <a:noFill/>
                  </a:tcPr>
                </a:tc>
                <a:extLst>
                  <a:ext uri="{0D108BD9-81ED-4DB2-BD59-A6C34878D82A}">
                    <a16:rowId xmlns:a16="http://schemas.microsoft.com/office/drawing/2014/main" val="10004"/>
                  </a:ext>
                </a:extLst>
              </a:tr>
              <a:tr h="698564">
                <a:tc>
                  <a:txBody>
                    <a:bodyPr/>
                    <a:lstStyle/>
                    <a:p>
                      <a:pPr algn="ctr"/>
                      <a:r>
                        <a:rPr sz="1400" b="0" dirty="0">
                          <a:solidFill>
                            <a:srgbClr val="000000"/>
                          </a:solidFill>
                          <a:latin typeface="汉仪文黑-55W"/>
                          <a:ea typeface="汉仪文黑-55W"/>
                          <a:cs typeface="汉仪文黑-55W"/>
                        </a:rPr>
                        <a:t>08.15</a:t>
                      </a:r>
                    </a:p>
                  </a:txBody>
                  <a:tcPr anchor="ctr">
                    <a:lnT>
                      <a:noFill/>
                    </a:lnT>
                    <a:lnB>
                      <a:noFill/>
                    </a:lnB>
                    <a:solidFill>
                      <a:srgbClr val="D7CEE1"/>
                    </a:solidFill>
                  </a:tcPr>
                </a:tc>
                <a:tc>
                  <a:txBody>
                    <a:bodyPr/>
                    <a:lstStyle/>
                    <a:p>
                      <a:pPr algn="l"/>
                      <a:r>
                        <a:rPr sz="1400" b="0" dirty="0">
                          <a:solidFill>
                            <a:srgbClr val="000000"/>
                          </a:solidFill>
                          <a:latin typeface="汉仪文黑-55W"/>
                          <a:ea typeface="汉仪文黑-55W"/>
                          <a:cs typeface="汉仪文黑-55W"/>
                        </a:rPr>
                        <a:t>美国临床试验收录网站显示，辉瑞启动了Tilrekimig（PF-07275315）的首个III期临床试验。</a:t>
                      </a:r>
                    </a:p>
                  </a:txBody>
                  <a:tcPr anchor="ctr">
                    <a:lnT>
                      <a:noFill/>
                    </a:lnT>
                    <a:lnB>
                      <a:noFill/>
                    </a:lnB>
                    <a:solidFill>
                      <a:srgbClr val="D7CEE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77821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E588176-DB9D-454A-AE61-87B57DCFAE87}"/>
              </a:ext>
            </a:extLst>
          </p:cNvPr>
          <p:cNvSpPr>
            <a:spLocks noGrp="1"/>
          </p:cNvSpPr>
          <p:nvPr>
            <p:ph type="sldNum" idx="12"/>
          </p:nvPr>
        </p:nvSpPr>
        <p:spPr/>
        <p:txBody>
          <a:bodyPr/>
          <a:lstStyle/>
          <a:p>
            <a:pPr algn="ctr">
              <a:buNone/>
            </a:pPr>
            <a:r>
              <a:rPr b="1">
                <a:solidFill>
                  <a:schemeClr val="bg1">
                    <a:lumMod val="85000"/>
                  </a:schemeClr>
                </a:solidFill>
                <a:latin typeface="汉仪文黑-55W"/>
                <a:ea typeface="汉仪文黑-55W"/>
                <a:cs typeface="汉仪文黑-55W"/>
              </a:rPr>
              <a:t>28</a:t>
            </a:r>
          </a:p>
        </p:txBody>
      </p:sp>
      <p:sp>
        <p:nvSpPr>
          <p:cNvPr id="5" name="文本框 4">
            <a:extLst>
              <a:ext uri="{FF2B5EF4-FFF2-40B4-BE49-F238E27FC236}">
                <a16:creationId xmlns:a16="http://schemas.microsoft.com/office/drawing/2014/main" id="{15D35879-E43C-4135-8418-A06AA022066F}"/>
              </a:ext>
            </a:extLst>
          </p:cNvPr>
          <p:cNvSpPr>
            <a:spLocks noGrp="1"/>
          </p:cNvSpPr>
          <p:nvPr/>
        </p:nvSpPr>
        <p:spPr>
          <a:xfrm>
            <a:off x="516255" y="254000"/>
            <a:ext cx="4370705" cy="460375"/>
          </a:xfrm>
          <a:prstGeom prst="rect">
            <a:avLst/>
          </a:prstGeom>
          <a:noFill/>
        </p:spPr>
        <p:txBody>
          <a:bodyPr wrap="square" lIns="0" anchor="t">
            <a:spAutoFit/>
          </a:bodyPr>
          <a:lstStyle/>
          <a:p>
            <a:pPr>
              <a:buClrTx/>
              <a:buSzTx/>
              <a:buFontTx/>
              <a:buNone/>
            </a:pPr>
            <a:r>
              <a:rPr sz="2400" b="1">
                <a:solidFill>
                  <a:srgbClr val="5A2781"/>
                </a:solidFill>
                <a:latin typeface="汉仪文黑-55W"/>
                <a:ea typeface="汉仪文黑-55W"/>
                <a:cs typeface="汉仪文黑-55W"/>
              </a:rPr>
              <a:t>4.周重要上市公司公告一览</a:t>
            </a:r>
          </a:p>
        </p:txBody>
      </p:sp>
      <p:sp>
        <p:nvSpPr>
          <p:cNvPr id="6" name="文本框 5">
            <a:extLst>
              <a:ext uri="{FF2B5EF4-FFF2-40B4-BE49-F238E27FC236}">
                <a16:creationId xmlns:a16="http://schemas.microsoft.com/office/drawing/2014/main" id="{945B3D90-2BD1-4FB3-864C-254E473F033D}"/>
              </a:ext>
            </a:extLst>
          </p:cNvPr>
          <p:cNvSpPr>
            <a:spLocks noGrp="1"/>
          </p:cNvSpPr>
          <p:nvPr/>
        </p:nvSpPr>
        <p:spPr>
          <a:xfrm>
            <a:off x="178777" y="6294120"/>
            <a:ext cx="11174095" cy="275590"/>
          </a:xfrm>
          <a:prstGeom prst="rect">
            <a:avLst/>
          </a:prstGeom>
          <a:noFill/>
        </p:spPr>
        <p:txBody>
          <a:bodyPr wrap="square" lIns="0">
            <a:spAutoFit/>
          </a:bodyPr>
          <a:lstStyle/>
          <a:p>
            <a:r>
              <a:rPr sz="1200">
                <a:solidFill>
                  <a:schemeClr val="tx1">
                    <a:lumMod val="65000"/>
                    <a:lumOff val="35000"/>
                  </a:schemeClr>
                </a:solidFill>
                <a:latin typeface="苹方"/>
                <a:ea typeface="苹方"/>
                <a:cs typeface="苹方"/>
              </a:rPr>
              <a:t>资料来源：巨潮资讯网，华鑫证券研究所</a:t>
            </a:r>
          </a:p>
        </p:txBody>
      </p:sp>
      <p:sp>
        <p:nvSpPr>
          <p:cNvPr id="8" name="文本框 7">
            <a:extLst>
              <a:ext uri="{FF2B5EF4-FFF2-40B4-BE49-F238E27FC236}">
                <a16:creationId xmlns:a16="http://schemas.microsoft.com/office/drawing/2014/main" id="{8F61578D-5A98-4C66-B89C-DF54037DCAAB}"/>
              </a:ext>
            </a:extLst>
          </p:cNvPr>
          <p:cNvSpPr>
            <a:spLocks noGrp="1"/>
          </p:cNvSpPr>
          <p:nvPr/>
        </p:nvSpPr>
        <p:spPr>
          <a:xfrm>
            <a:off x="0" y="6588000"/>
            <a:ext cx="2160000" cy="307777"/>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1400">
                <a:solidFill>
                  <a:schemeClr val="bg2"/>
                </a:solidFill>
                <a:latin typeface="汉仪文黑-55W"/>
                <a:ea typeface="汉仪文黑-55W"/>
                <a:cs typeface="汉仪文黑-55W"/>
              </a:rPr>
              <a:t>诚信、专业、稳健、高效</a:t>
            </a:r>
          </a:p>
        </p:txBody>
      </p:sp>
      <p:sp>
        <p:nvSpPr>
          <p:cNvPr id="9" name="文本框 8">
            <a:extLst>
              <a:ext uri="{FF2B5EF4-FFF2-40B4-BE49-F238E27FC236}">
                <a16:creationId xmlns:a16="http://schemas.microsoft.com/office/drawing/2014/main" id="{88FC8B6D-ACA6-4425-BC94-5D55A35E831D}"/>
              </a:ext>
            </a:extLst>
          </p:cNvPr>
          <p:cNvSpPr>
            <a:spLocks noGrp="1"/>
          </p:cNvSpPr>
          <p:nvPr/>
        </p:nvSpPr>
        <p:spPr>
          <a:xfrm>
            <a:off x="8573450" y="6588000"/>
            <a:ext cx="2520000" cy="307777"/>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1400">
                <a:solidFill>
                  <a:schemeClr val="bg2"/>
                </a:solidFill>
                <a:latin typeface="汉仪文黑-55W"/>
                <a:ea typeface="汉仪文黑-55W"/>
                <a:cs typeface="汉仪文黑-55W"/>
              </a:rPr>
              <a:t>请阅读最后一页重要免责声明</a:t>
            </a:r>
          </a:p>
        </p:txBody>
      </p:sp>
      <p:graphicFrame>
        <p:nvGraphicFramePr>
          <p:cNvPr id="16" name="表格 1"/>
          <p:cNvGraphicFramePr/>
          <p:nvPr/>
        </p:nvGraphicFramePr>
        <p:xfrm>
          <a:off x="245745" y="952500"/>
          <a:ext cx="11700510" cy="5192078"/>
        </p:xfrm>
        <a:graphic>
          <a:graphicData uri="http://schemas.openxmlformats.org/drawingml/2006/table">
            <a:tbl>
              <a:tblPr firstRow="1" bandRow="1">
                <a:tableStyleId>{2D5ABB26-0587-4C30-8999-92F81FD0307C}</a:tableStyleId>
              </a:tblPr>
              <a:tblGrid>
                <a:gridCol w="1089565">
                  <a:extLst>
                    <a:ext uri="{9D8B030D-6E8A-4147-A177-3AD203B41FA5}">
                      <a16:colId xmlns:a16="http://schemas.microsoft.com/office/drawing/2014/main" val="20000"/>
                    </a:ext>
                  </a:extLst>
                </a:gridCol>
                <a:gridCol w="1145572">
                  <a:extLst>
                    <a:ext uri="{9D8B030D-6E8A-4147-A177-3AD203B41FA5}">
                      <a16:colId xmlns:a16="http://schemas.microsoft.com/office/drawing/2014/main" val="20001"/>
                    </a:ext>
                  </a:extLst>
                </a:gridCol>
                <a:gridCol w="1102614">
                  <a:extLst>
                    <a:ext uri="{9D8B030D-6E8A-4147-A177-3AD203B41FA5}">
                      <a16:colId xmlns:a16="http://schemas.microsoft.com/office/drawing/2014/main" val="20002"/>
                    </a:ext>
                  </a:extLst>
                </a:gridCol>
                <a:gridCol w="1205198">
                  <a:extLst>
                    <a:ext uri="{9D8B030D-6E8A-4147-A177-3AD203B41FA5}">
                      <a16:colId xmlns:a16="http://schemas.microsoft.com/office/drawing/2014/main" val="20003"/>
                    </a:ext>
                  </a:extLst>
                </a:gridCol>
                <a:gridCol w="7157561">
                  <a:extLst>
                    <a:ext uri="{9D8B030D-6E8A-4147-A177-3AD203B41FA5}">
                      <a16:colId xmlns:a16="http://schemas.microsoft.com/office/drawing/2014/main" val="20004"/>
                    </a:ext>
                  </a:extLst>
                </a:gridCol>
              </a:tblGrid>
              <a:tr h="347663">
                <a:tc>
                  <a:txBody>
                    <a:bodyPr/>
                    <a:lstStyle/>
                    <a:p>
                      <a:pPr algn="ctr">
                        <a:lnSpc>
                          <a:spcPct val="110000"/>
                        </a:lnSpc>
                        <a:buNone/>
                      </a:pPr>
                      <a:r>
                        <a:rPr sz="1400" b="1">
                          <a:solidFill>
                            <a:srgbClr val="FFFFFF"/>
                          </a:solidFill>
                          <a:latin typeface="汉仪文黑-55W"/>
                          <a:ea typeface="汉仪文黑-55W"/>
                          <a:cs typeface="汉仪文黑-55W"/>
                        </a:rPr>
                        <a:t>时间</a:t>
                      </a:r>
                    </a:p>
                  </a:txBody>
                  <a:tcPr anchor="ctr">
                    <a:lnL w="12700">
                      <a:noFill/>
                    </a:lnL>
                    <a:lnR w="12700">
                      <a:noFill/>
                    </a:lnR>
                    <a:lnT w="12700">
                      <a:noFill/>
                    </a:lnT>
                    <a:lnB w="12700" cmpd="sng">
                      <a:noFill/>
                      <a:prstDash val="solid"/>
                    </a:lnB>
                    <a:lnTlToBr w="12700" cmpd="sng">
                      <a:noFill/>
                      <a:prstDash val="solid"/>
                    </a:lnTlToBr>
                    <a:lnBlToTr w="12700" cmpd="sng">
                      <a:noFill/>
                      <a:prstDash val="solid"/>
                    </a:lnBlToTr>
                    <a:solidFill>
                      <a:srgbClr val="5A2781"/>
                    </a:solidFill>
                  </a:tcPr>
                </a:tc>
                <a:tc>
                  <a:txBody>
                    <a:bodyPr/>
                    <a:lstStyle/>
                    <a:p>
                      <a:pPr algn="ctr">
                        <a:lnSpc>
                          <a:spcPct val="110000"/>
                        </a:lnSpc>
                        <a:buNone/>
                      </a:pPr>
                      <a:r>
                        <a:rPr sz="1400" b="1">
                          <a:solidFill>
                            <a:srgbClr val="FFFFFF"/>
                          </a:solidFill>
                          <a:latin typeface="汉仪文黑-55W"/>
                          <a:ea typeface="汉仪文黑-55W"/>
                          <a:cs typeface="汉仪文黑-55W"/>
                        </a:rPr>
                        <a:t>代码</a:t>
                      </a:r>
                    </a:p>
                  </a:txBody>
                  <a:tcPr anchor="ctr">
                    <a:lnL w="12700">
                      <a:noFill/>
                    </a:lnL>
                    <a:lnR w="12700">
                      <a:noFill/>
                    </a:lnR>
                    <a:lnT w="12700">
                      <a:noFill/>
                    </a:lnT>
                    <a:lnB w="12700" cmpd="sng">
                      <a:noFill/>
                      <a:prstDash val="solid"/>
                    </a:lnB>
                    <a:lnTlToBr w="12700" cmpd="sng">
                      <a:noFill/>
                      <a:prstDash val="solid"/>
                    </a:lnTlToBr>
                    <a:lnBlToTr w="12700" cmpd="sng">
                      <a:noFill/>
                      <a:prstDash val="solid"/>
                    </a:lnBlToTr>
                    <a:solidFill>
                      <a:srgbClr val="5A2781"/>
                    </a:solidFill>
                  </a:tcPr>
                </a:tc>
                <a:tc>
                  <a:txBody>
                    <a:bodyPr/>
                    <a:lstStyle/>
                    <a:p>
                      <a:pPr algn="ctr">
                        <a:lnSpc>
                          <a:spcPct val="110000"/>
                        </a:lnSpc>
                        <a:buNone/>
                      </a:pPr>
                      <a:r>
                        <a:rPr sz="1400" b="1">
                          <a:solidFill>
                            <a:srgbClr val="FFFFFF"/>
                          </a:solidFill>
                          <a:latin typeface="汉仪文黑-55W"/>
                          <a:ea typeface="汉仪文黑-55W"/>
                          <a:cs typeface="汉仪文黑-55W"/>
                        </a:rPr>
                        <a:t>公司名称</a:t>
                      </a:r>
                    </a:p>
                  </a:txBody>
                  <a:tcPr anchor="ctr">
                    <a:lnL w="12700">
                      <a:noFill/>
                    </a:lnL>
                    <a:lnR w="12700">
                      <a:noFill/>
                    </a:lnR>
                    <a:lnT w="12700">
                      <a:noFill/>
                    </a:lnT>
                    <a:lnB w="12700" cmpd="sng">
                      <a:noFill/>
                      <a:prstDash val="solid"/>
                    </a:lnB>
                    <a:lnTlToBr w="12700" cmpd="sng">
                      <a:noFill/>
                      <a:prstDash val="solid"/>
                    </a:lnTlToBr>
                    <a:lnBlToTr w="12700" cmpd="sng">
                      <a:noFill/>
                      <a:prstDash val="solid"/>
                    </a:lnBlToTr>
                    <a:solidFill>
                      <a:srgbClr val="5A2781"/>
                    </a:solidFill>
                  </a:tcPr>
                </a:tc>
                <a:tc>
                  <a:txBody>
                    <a:bodyPr/>
                    <a:lstStyle/>
                    <a:p>
                      <a:pPr algn="ctr">
                        <a:lnSpc>
                          <a:spcPct val="110000"/>
                        </a:lnSpc>
                        <a:buNone/>
                      </a:pPr>
                      <a:r>
                        <a:rPr sz="1400" b="1">
                          <a:solidFill>
                            <a:srgbClr val="FFFFFF"/>
                          </a:solidFill>
                          <a:latin typeface="汉仪文黑-55W"/>
                          <a:ea typeface="汉仪文黑-55W"/>
                          <a:cs typeface="汉仪文黑-55W"/>
                        </a:rPr>
                        <a:t>公告主题</a:t>
                      </a:r>
                    </a:p>
                  </a:txBody>
                  <a:tcPr anchor="ctr">
                    <a:lnL w="12700">
                      <a:noFill/>
                    </a:lnL>
                    <a:lnR w="12700">
                      <a:noFill/>
                    </a:lnR>
                    <a:lnT w="12700">
                      <a:noFill/>
                    </a:lnT>
                    <a:lnB w="12700" cmpd="sng">
                      <a:noFill/>
                      <a:prstDash val="solid"/>
                    </a:lnB>
                    <a:lnTlToBr w="12700" cmpd="sng">
                      <a:noFill/>
                      <a:prstDash val="solid"/>
                    </a:lnTlToBr>
                    <a:lnBlToTr w="12700" cmpd="sng">
                      <a:noFill/>
                      <a:prstDash val="solid"/>
                    </a:lnBlToTr>
                    <a:solidFill>
                      <a:srgbClr val="5A2781"/>
                    </a:solidFill>
                  </a:tcPr>
                </a:tc>
                <a:tc>
                  <a:txBody>
                    <a:bodyPr/>
                    <a:lstStyle/>
                    <a:p>
                      <a:pPr algn="ctr">
                        <a:lnSpc>
                          <a:spcPct val="110000"/>
                        </a:lnSpc>
                        <a:buNone/>
                      </a:pPr>
                      <a:r>
                        <a:rPr sz="1400" b="1">
                          <a:solidFill>
                            <a:srgbClr val="FFFFFF"/>
                          </a:solidFill>
                          <a:latin typeface="汉仪文黑-55W"/>
                          <a:ea typeface="汉仪文黑-55W"/>
                          <a:cs typeface="汉仪文黑-55W"/>
                        </a:rPr>
                        <a:t>主要内容</a:t>
                      </a:r>
                    </a:p>
                  </a:txBody>
                  <a:tcPr anchor="ctr">
                    <a:lnL w="12700">
                      <a:noFill/>
                    </a:lnL>
                    <a:lnR w="12700">
                      <a:noFill/>
                    </a:lnR>
                    <a:lnT w="12700">
                      <a:noFill/>
                    </a:lnT>
                    <a:lnB w="12700" cmpd="sng">
                      <a:noFill/>
                      <a:prstDash val="solid"/>
                    </a:lnB>
                    <a:lnTlToBr w="12700" cmpd="sng">
                      <a:noFill/>
                      <a:prstDash val="solid"/>
                    </a:lnTlToBr>
                    <a:lnBlToTr w="12700" cmpd="sng">
                      <a:noFill/>
                      <a:prstDash val="solid"/>
                    </a:lnBlToTr>
                    <a:solidFill>
                      <a:srgbClr val="5A2781"/>
                    </a:solidFill>
                  </a:tcPr>
                </a:tc>
                <a:extLst>
                  <a:ext uri="{0D108BD9-81ED-4DB2-BD59-A6C34878D82A}">
                    <a16:rowId xmlns:a16="http://schemas.microsoft.com/office/drawing/2014/main" val="10000"/>
                  </a:ext>
                </a:extLst>
              </a:tr>
              <a:tr h="949166">
                <a:tc>
                  <a:txBody>
                    <a:bodyPr/>
                    <a:lstStyle/>
                    <a:p>
                      <a:pPr marL="0" marR="0" indent="0" algn="ctr" defTabSz="914400">
                        <a:lnSpc>
                          <a:spcPct val="100000"/>
                        </a:lnSpc>
                        <a:spcBef>
                          <a:spcPts val="0"/>
                        </a:spcBef>
                        <a:spcAft>
                          <a:spcPts val="0"/>
                        </a:spcAft>
                        <a:buClrTx/>
                        <a:buSzTx/>
                        <a:buFontTx/>
                        <a:buNone/>
                      </a:pPr>
                      <a:r>
                        <a:rPr sz="1400" b="0" i="0" u="none" cap="none" dirty="0">
                          <a:ln>
                            <a:noFill/>
                          </a:ln>
                          <a:solidFill>
                            <a:prstClr val="black"/>
                          </a:solidFill>
                          <a:latin typeface="+mn-ea"/>
                          <a:ea typeface="+mn-ea"/>
                          <a:cs typeface="+mn-ea"/>
                        </a:rPr>
                        <a:t>09.04</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tc>
                  <a:txBody>
                    <a:bodyPr/>
                    <a:lstStyle/>
                    <a:p>
                      <a:pPr marL="0" algn="l" defTabSz="914400">
                        <a:buNone/>
                      </a:pPr>
                      <a:r>
                        <a:rPr sz="1400">
                          <a:solidFill>
                            <a:schemeClr val="tx1"/>
                          </a:solidFill>
                          <a:latin typeface="+mn-ea"/>
                          <a:ea typeface="+mn-ea"/>
                          <a:cs typeface="+mn-ea"/>
                        </a:rPr>
                        <a:t>300723</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tc>
                  <a:txBody>
                    <a:bodyPr/>
                    <a:lstStyle/>
                    <a:p>
                      <a:pPr algn="l">
                        <a:buNone/>
                      </a:pPr>
                      <a:r>
                        <a:rPr sz="1400">
                          <a:solidFill>
                            <a:schemeClr val="tx1"/>
                          </a:solidFill>
                          <a:latin typeface="+mn-ea"/>
                          <a:ea typeface="+mn-ea"/>
                          <a:cs typeface="+mn-ea"/>
                        </a:rPr>
                        <a:t>一品红</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tc>
                  <a:txBody>
                    <a:bodyPr/>
                    <a:lstStyle/>
                    <a:p>
                      <a:pPr algn="l">
                        <a:buNone/>
                      </a:pPr>
                      <a:r>
                        <a:rPr sz="1400">
                          <a:solidFill>
                            <a:schemeClr val="tx1"/>
                          </a:solidFill>
                          <a:latin typeface="+mn-ea"/>
                          <a:ea typeface="+mn-ea"/>
                          <a:cs typeface="+mn-ea"/>
                        </a:rPr>
                        <a:t>临床进展</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tc>
                  <a:txBody>
                    <a:bodyPr/>
                    <a:lstStyle/>
                    <a:p>
                      <a:pPr marL="0" algn="l" defTabSz="914400">
                        <a:buNone/>
                      </a:pPr>
                      <a:r>
                        <a:rPr sz="1400">
                          <a:solidFill>
                            <a:schemeClr val="tx1"/>
                          </a:solidFill>
                          <a:latin typeface="+mn-ea"/>
                          <a:ea typeface="+mn-ea"/>
                          <a:cs typeface="+mn-ea"/>
                        </a:rPr>
                        <a:t>AR882国内Ⅲ期研究顶线数据显示：AR882 75mg组治疗24周后血尿酸&lt;360 μmol/L的有效率86.0%，显著优于非布司他40mg组有效率（P&lt;0.001），达到预设的主要疗效终点。</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extLst>
                  <a:ext uri="{0D108BD9-81ED-4DB2-BD59-A6C34878D82A}">
                    <a16:rowId xmlns:a16="http://schemas.microsoft.com/office/drawing/2014/main" val="10001"/>
                  </a:ext>
                </a:extLst>
              </a:tr>
              <a:tr h="764286">
                <a:tc>
                  <a:txBody>
                    <a:bodyPr/>
                    <a:lstStyle/>
                    <a:p>
                      <a:pPr algn="ctr">
                        <a:buNone/>
                      </a:pPr>
                      <a:r>
                        <a:rPr sz="1400" dirty="0">
                          <a:latin typeface="+mn-ea"/>
                          <a:ea typeface="+mn-ea"/>
                          <a:cs typeface="+mn-ea"/>
                        </a:rPr>
                        <a:t>09.04</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FFFFFF"/>
                    </a:solidFill>
                  </a:tcPr>
                </a:tc>
                <a:tc>
                  <a:txBody>
                    <a:bodyPr/>
                    <a:lstStyle/>
                    <a:p>
                      <a:pPr algn="l">
                        <a:buNone/>
                      </a:pPr>
                      <a:r>
                        <a:rPr sz="1400">
                          <a:solidFill>
                            <a:schemeClr val="tx1"/>
                          </a:solidFill>
                          <a:latin typeface="+mn-ea"/>
                          <a:ea typeface="+mn-ea"/>
                          <a:cs typeface="+mn-ea"/>
                        </a:rPr>
                        <a:t>600196</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FFFFFF"/>
                    </a:solidFill>
                  </a:tcPr>
                </a:tc>
                <a:tc>
                  <a:txBody>
                    <a:bodyPr/>
                    <a:lstStyle/>
                    <a:p>
                      <a:pPr marL="0" algn="l" defTabSz="914400">
                        <a:buNone/>
                      </a:pPr>
                      <a:r>
                        <a:rPr sz="1400">
                          <a:latin typeface="+mn-ea"/>
                          <a:ea typeface="+mn-ea"/>
                          <a:cs typeface="+mn-ea"/>
                        </a:rPr>
                        <a:t>复星医药</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FFFFFF"/>
                    </a:solidFill>
                  </a:tcPr>
                </a:tc>
                <a:tc>
                  <a:txBody>
                    <a:bodyPr/>
                    <a:lstStyle/>
                    <a:p>
                      <a:pPr algn="l">
                        <a:buNone/>
                      </a:pPr>
                      <a:r>
                        <a:rPr sz="1400">
                          <a:solidFill>
                            <a:schemeClr val="tx1"/>
                          </a:solidFill>
                          <a:latin typeface="+mn-ea"/>
                          <a:ea typeface="+mn-ea"/>
                          <a:cs typeface="+mn-ea"/>
                        </a:rPr>
                        <a:t>新药获批</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FFFFFF"/>
                    </a:solidFill>
                  </a:tcPr>
                </a:tc>
                <a:tc>
                  <a:txBody>
                    <a:bodyPr/>
                    <a:lstStyle/>
                    <a:p>
                      <a:pPr marL="0" algn="l" defTabSz="914400">
                        <a:buNone/>
                      </a:pPr>
                      <a:r>
                        <a:rPr sz="1400" b="0">
                          <a:solidFill>
                            <a:schemeClr val="tx1"/>
                          </a:solidFill>
                          <a:latin typeface="+mn-ea"/>
                          <a:ea typeface="+mn-ea"/>
                          <a:cs typeface="+mn-ea"/>
                        </a:rPr>
                        <a:t>上海复星医药产业发展有限公司就芦沃美替尼片（商品名：复迈宁、项目代号：FCN-159；以下简称“该药品”）新增适应症的药品注册申请获国家药品监督管理局批准，本次获批的新适应症为用于伴有症状、无法手术的丛状神经纤维瘤（PN）的I型神经纤维瘤病（NF1）成人患者。</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895255">
                <a:tc>
                  <a:txBody>
                    <a:bodyPr/>
                    <a:lstStyle/>
                    <a:p>
                      <a:pPr algn="ctr">
                        <a:buNone/>
                      </a:pPr>
                      <a:r>
                        <a:rPr sz="1400" dirty="0">
                          <a:latin typeface="+mn-ea"/>
                          <a:ea typeface="+mn-ea"/>
                          <a:cs typeface="+mn-ea"/>
                        </a:rPr>
                        <a:t>09.04</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tc>
                  <a:txBody>
                    <a:bodyPr/>
                    <a:lstStyle/>
                    <a:p>
                      <a:pPr algn="l">
                        <a:buNone/>
                      </a:pPr>
                      <a:r>
                        <a:rPr sz="1400">
                          <a:solidFill>
                            <a:schemeClr val="tx1"/>
                          </a:solidFill>
                          <a:latin typeface="+mn-ea"/>
                          <a:ea typeface="+mn-ea"/>
                          <a:cs typeface="+mn-ea"/>
                        </a:rPr>
                        <a:t>600276</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tc>
                  <a:txBody>
                    <a:bodyPr/>
                    <a:lstStyle/>
                    <a:p>
                      <a:pPr marL="0" algn="l" defTabSz="914400">
                        <a:buNone/>
                      </a:pPr>
                      <a:r>
                        <a:rPr sz="1400">
                          <a:latin typeface="+mn-ea"/>
                          <a:ea typeface="+mn-ea"/>
                          <a:cs typeface="+mn-ea"/>
                        </a:rPr>
                        <a:t>恒瑞医药</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tc>
                  <a:txBody>
                    <a:bodyPr/>
                    <a:lstStyle/>
                    <a:p>
                      <a:pPr algn="l">
                        <a:buNone/>
                      </a:pPr>
                      <a:r>
                        <a:rPr sz="1400">
                          <a:solidFill>
                            <a:schemeClr val="tx1"/>
                          </a:solidFill>
                          <a:latin typeface="+mn-ea"/>
                          <a:ea typeface="+mn-ea"/>
                          <a:cs typeface="+mn-ea"/>
                        </a:rPr>
                        <a:t>临床进展</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tc>
                  <a:txBody>
                    <a:bodyPr/>
                    <a:lstStyle/>
                    <a:p>
                      <a:pPr marL="0" algn="l" defTabSz="914400">
                        <a:buNone/>
                      </a:pPr>
                      <a:r>
                        <a:rPr sz="1400" b="0">
                          <a:solidFill>
                            <a:schemeClr val="tx1"/>
                          </a:solidFill>
                          <a:latin typeface="+mn-ea"/>
                          <a:ea typeface="+mn-ea"/>
                          <a:cs typeface="+mn-ea"/>
                        </a:rPr>
                        <a:t>公司HRS-7535片的药品上市许可申请获国家药监局受理。拟定适应症（或功能主治）：适用于在控制饮食和增加运动基础上，初始体重指数（BMI）符合以下要求的成人的长期体重管理：①≥28kg/m²（肥胖），或②≥24kg/m²（超重）并伴有至少一种体重相关合并症（例如高血糖、高血压、血脂异常、阻塞性睡眠呼吸暂停、脂肪肝等）。</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extLst>
                  <a:ext uri="{0D108BD9-81ED-4DB2-BD59-A6C34878D82A}">
                    <a16:rowId xmlns:a16="http://schemas.microsoft.com/office/drawing/2014/main" val="10003"/>
                  </a:ext>
                </a:extLst>
              </a:tr>
              <a:tr h="1120140">
                <a:tc>
                  <a:txBody>
                    <a:bodyPr/>
                    <a:lstStyle/>
                    <a:p>
                      <a:pPr marL="0" marR="0" indent="0" algn="ctr" defTabSz="914400">
                        <a:lnSpc>
                          <a:spcPct val="100000"/>
                        </a:lnSpc>
                        <a:spcBef>
                          <a:spcPts val="0"/>
                        </a:spcBef>
                        <a:spcAft>
                          <a:spcPts val="0"/>
                        </a:spcAft>
                        <a:buClrTx/>
                        <a:buSzTx/>
                        <a:buFontTx/>
                        <a:buNone/>
                      </a:pPr>
                      <a:r>
                        <a:rPr sz="1400" dirty="0">
                          <a:latin typeface="+mn-ea"/>
                          <a:ea typeface="+mn-ea"/>
                          <a:cs typeface="+mn-ea"/>
                        </a:rPr>
                        <a:t>09.03</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chemeClr val="bg1"/>
                    </a:solidFill>
                  </a:tcPr>
                </a:tc>
                <a:tc>
                  <a:txBody>
                    <a:bodyPr/>
                    <a:lstStyle/>
                    <a:p>
                      <a:pPr algn="l">
                        <a:buNone/>
                      </a:pPr>
                      <a:r>
                        <a:rPr sz="1400">
                          <a:solidFill>
                            <a:schemeClr val="tx1"/>
                          </a:solidFill>
                          <a:latin typeface="+mn-ea"/>
                          <a:ea typeface="+mn-ea"/>
                          <a:cs typeface="+mn-ea"/>
                        </a:rPr>
                        <a:t>300725</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chemeClr val="bg1"/>
                    </a:solidFill>
                  </a:tcPr>
                </a:tc>
                <a:tc>
                  <a:txBody>
                    <a:bodyPr/>
                    <a:lstStyle/>
                    <a:p>
                      <a:pPr marL="0" algn="l" defTabSz="914400">
                        <a:buClrTx/>
                        <a:buSzTx/>
                        <a:buFontTx/>
                        <a:buNone/>
                      </a:pPr>
                      <a:r>
                        <a:rPr sz="1400" b="0" i="0">
                          <a:solidFill>
                            <a:schemeClr val="tx1"/>
                          </a:solidFill>
                          <a:latin typeface="+mn-ea"/>
                          <a:ea typeface="+mn-ea"/>
                          <a:cs typeface="+mn-ea"/>
                        </a:rPr>
                        <a:t>药石科技</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chemeClr val="bg1"/>
                    </a:solidFill>
                  </a:tcPr>
                </a:tc>
                <a:tc>
                  <a:txBody>
                    <a:bodyPr/>
                    <a:lstStyle/>
                    <a:p>
                      <a:pPr algn="l">
                        <a:buNone/>
                      </a:pPr>
                      <a:r>
                        <a:rPr sz="1400">
                          <a:solidFill>
                            <a:schemeClr val="tx1"/>
                          </a:solidFill>
                          <a:latin typeface="+mn-ea"/>
                          <a:ea typeface="+mn-ea"/>
                          <a:cs typeface="+mn-ea"/>
                        </a:rPr>
                        <a:t>重大投资</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chemeClr val="bg1"/>
                    </a:solidFill>
                  </a:tcPr>
                </a:tc>
                <a:tc>
                  <a:txBody>
                    <a:bodyPr/>
                    <a:lstStyle/>
                    <a:p>
                      <a:pPr marL="0" algn="l" defTabSz="914400">
                        <a:buNone/>
                      </a:pPr>
                      <a:r>
                        <a:rPr sz="1400">
                          <a:solidFill>
                            <a:schemeClr val="tx1"/>
                          </a:solidFill>
                          <a:latin typeface="+mn-ea"/>
                          <a:ea typeface="+mn-ea"/>
                          <a:cs typeface="+mn-ea"/>
                        </a:rPr>
                        <a:t>本次签署《投资合作协议》并投资建设南京CDMO创新基地事项已经公司第四届董事会第十七次会议审议通过。本项目整体投资预计约人民币20亿元。项目尚处于筹备阶段，目标地块尚未通过公开招拍挂程序取得。</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1115568">
                <a:tc>
                  <a:txBody>
                    <a:bodyPr/>
                    <a:lstStyle/>
                    <a:p>
                      <a:pPr algn="ctr">
                        <a:buNone/>
                      </a:pPr>
                      <a:r>
                        <a:rPr sz="1400" dirty="0">
                          <a:latin typeface="+mn-ea"/>
                          <a:ea typeface="+mn-ea"/>
                          <a:cs typeface="+mn-ea"/>
                        </a:rPr>
                        <a:t>08.31</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tc>
                  <a:txBody>
                    <a:bodyPr/>
                    <a:lstStyle/>
                    <a:p>
                      <a:pPr algn="l">
                        <a:buNone/>
                      </a:pPr>
                      <a:r>
                        <a:rPr sz="1400">
                          <a:solidFill>
                            <a:schemeClr val="tx1"/>
                          </a:solidFill>
                          <a:latin typeface="+mn-ea"/>
                          <a:ea typeface="+mn-ea"/>
                          <a:cs typeface="+mn-ea"/>
                        </a:rPr>
                        <a:t>688166</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tc>
                  <a:txBody>
                    <a:bodyPr/>
                    <a:lstStyle/>
                    <a:p>
                      <a:pPr marL="0" algn="l" defTabSz="914400">
                        <a:buNone/>
                      </a:pPr>
                      <a:r>
                        <a:rPr sz="1400">
                          <a:solidFill>
                            <a:schemeClr val="tx1"/>
                          </a:solidFill>
                          <a:latin typeface="+mn-ea"/>
                          <a:ea typeface="+mn-ea"/>
                          <a:cs typeface="+mn-ea"/>
                        </a:rPr>
                        <a:t>博瑞医药</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tc>
                  <a:txBody>
                    <a:bodyPr/>
                    <a:lstStyle/>
                    <a:p>
                      <a:pPr algn="l">
                        <a:buNone/>
                      </a:pPr>
                      <a:r>
                        <a:rPr sz="1400">
                          <a:solidFill>
                            <a:schemeClr val="tx1"/>
                          </a:solidFill>
                          <a:latin typeface="+mn-ea"/>
                          <a:ea typeface="+mn-ea"/>
                          <a:cs typeface="+mn-ea"/>
                        </a:rPr>
                        <a:t>业绩公告</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tc>
                  <a:txBody>
                    <a:bodyPr/>
                    <a:lstStyle/>
                    <a:p>
                      <a:pPr marL="0" algn="l" defTabSz="914400">
                        <a:buNone/>
                      </a:pPr>
                      <a:r>
                        <a:rPr sz="1400" b="0" dirty="0">
                          <a:solidFill>
                            <a:schemeClr val="tx1"/>
                          </a:solidFill>
                          <a:latin typeface="+mn-ea"/>
                          <a:ea typeface="+mn-ea"/>
                          <a:cs typeface="+mn-ea"/>
                        </a:rPr>
                        <a:t>2026年上半年，营业收入678,096,598.23元，同比变动26.17%；归属于上市公司股东的净利润58,932,817.33元，同比变动243.17%。</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434099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A7FDC7E-613C-4AC7-ABE8-7F97A7B41165}"/>
              </a:ext>
            </a:extLst>
          </p:cNvPr>
          <p:cNvSpPr>
            <a:spLocks noGrp="1"/>
          </p:cNvSpPr>
          <p:nvPr>
            <p:ph type="sldNum" idx="12"/>
          </p:nvPr>
        </p:nvSpPr>
        <p:spPr/>
        <p:txBody>
          <a:bodyPr/>
          <a:lstStyle/>
          <a:p>
            <a:pPr algn="ctr">
              <a:buNone/>
            </a:pPr>
            <a:r>
              <a:rPr b="1">
                <a:solidFill>
                  <a:schemeClr val="bg1">
                    <a:lumMod val="85000"/>
                  </a:schemeClr>
                </a:solidFill>
                <a:latin typeface="汉仪文黑-55W"/>
                <a:ea typeface="汉仪文黑-55W"/>
                <a:cs typeface="汉仪文黑-55W"/>
              </a:rPr>
              <a:t>29</a:t>
            </a:r>
          </a:p>
        </p:txBody>
      </p:sp>
      <p:sp>
        <p:nvSpPr>
          <p:cNvPr id="5" name="文本框 4">
            <a:extLst>
              <a:ext uri="{FF2B5EF4-FFF2-40B4-BE49-F238E27FC236}">
                <a16:creationId xmlns:a16="http://schemas.microsoft.com/office/drawing/2014/main" id="{2D28C967-3400-4013-8DF6-503F68C5FA27}"/>
              </a:ext>
            </a:extLst>
          </p:cNvPr>
          <p:cNvSpPr>
            <a:spLocks noGrp="1"/>
          </p:cNvSpPr>
          <p:nvPr/>
        </p:nvSpPr>
        <p:spPr>
          <a:xfrm>
            <a:off x="516255" y="254000"/>
            <a:ext cx="4370705" cy="460375"/>
          </a:xfrm>
          <a:prstGeom prst="rect">
            <a:avLst/>
          </a:prstGeom>
          <a:noFill/>
        </p:spPr>
        <p:txBody>
          <a:bodyPr wrap="square" lIns="0" anchor="t">
            <a:spAutoFit/>
          </a:bodyPr>
          <a:lstStyle/>
          <a:p>
            <a:pPr>
              <a:buClrTx/>
              <a:buSzTx/>
              <a:buFontTx/>
              <a:buNone/>
            </a:pPr>
            <a:r>
              <a:rPr sz="2400" b="1">
                <a:solidFill>
                  <a:srgbClr val="5A2781"/>
                </a:solidFill>
                <a:latin typeface="汉仪文黑-55W"/>
                <a:ea typeface="汉仪文黑-55W"/>
                <a:cs typeface="汉仪文黑-55W"/>
              </a:rPr>
              <a:t>4.周重要上市公司公告一览</a:t>
            </a:r>
          </a:p>
        </p:txBody>
      </p:sp>
      <p:sp>
        <p:nvSpPr>
          <p:cNvPr id="6" name="文本框 5">
            <a:extLst>
              <a:ext uri="{FF2B5EF4-FFF2-40B4-BE49-F238E27FC236}">
                <a16:creationId xmlns:a16="http://schemas.microsoft.com/office/drawing/2014/main" id="{9E884BF6-DD86-41DD-9F94-66887742AD95}"/>
              </a:ext>
            </a:extLst>
          </p:cNvPr>
          <p:cNvSpPr>
            <a:spLocks noGrp="1"/>
          </p:cNvSpPr>
          <p:nvPr/>
        </p:nvSpPr>
        <p:spPr>
          <a:xfrm>
            <a:off x="114769" y="6347462"/>
            <a:ext cx="11174095" cy="275590"/>
          </a:xfrm>
          <a:prstGeom prst="rect">
            <a:avLst/>
          </a:prstGeom>
          <a:noFill/>
        </p:spPr>
        <p:txBody>
          <a:bodyPr wrap="square" lIns="0">
            <a:spAutoFit/>
          </a:bodyPr>
          <a:lstStyle/>
          <a:p>
            <a:r>
              <a:rPr sz="1200">
                <a:solidFill>
                  <a:schemeClr val="tx1">
                    <a:lumMod val="65000"/>
                    <a:lumOff val="35000"/>
                  </a:schemeClr>
                </a:solidFill>
                <a:latin typeface="苹方"/>
                <a:ea typeface="苹方"/>
                <a:cs typeface="苹方"/>
              </a:rPr>
              <a:t>资料来源：巨潮资讯网，华鑫证券研究所</a:t>
            </a:r>
          </a:p>
        </p:txBody>
      </p:sp>
      <p:sp>
        <p:nvSpPr>
          <p:cNvPr id="8" name="文本框 7">
            <a:extLst>
              <a:ext uri="{FF2B5EF4-FFF2-40B4-BE49-F238E27FC236}">
                <a16:creationId xmlns:a16="http://schemas.microsoft.com/office/drawing/2014/main" id="{70FE818A-9441-497E-8999-2C5BC10CBF4F}"/>
              </a:ext>
            </a:extLst>
          </p:cNvPr>
          <p:cNvSpPr>
            <a:spLocks noGrp="1"/>
          </p:cNvSpPr>
          <p:nvPr/>
        </p:nvSpPr>
        <p:spPr>
          <a:xfrm>
            <a:off x="0" y="6588000"/>
            <a:ext cx="2160000" cy="307777"/>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1400">
                <a:solidFill>
                  <a:schemeClr val="bg2"/>
                </a:solidFill>
                <a:latin typeface="汉仪文黑-55W"/>
                <a:ea typeface="汉仪文黑-55W"/>
                <a:cs typeface="汉仪文黑-55W"/>
              </a:rPr>
              <a:t>诚信、专业、稳健、高效</a:t>
            </a:r>
          </a:p>
        </p:txBody>
      </p:sp>
      <p:sp>
        <p:nvSpPr>
          <p:cNvPr id="9" name="文本框 8">
            <a:extLst>
              <a:ext uri="{FF2B5EF4-FFF2-40B4-BE49-F238E27FC236}">
                <a16:creationId xmlns:a16="http://schemas.microsoft.com/office/drawing/2014/main" id="{BC3091FA-62F7-40FD-9A97-A1F9A36192FF}"/>
              </a:ext>
            </a:extLst>
          </p:cNvPr>
          <p:cNvSpPr>
            <a:spLocks noGrp="1"/>
          </p:cNvSpPr>
          <p:nvPr/>
        </p:nvSpPr>
        <p:spPr>
          <a:xfrm>
            <a:off x="8573450" y="6588000"/>
            <a:ext cx="2520000" cy="307777"/>
          </a:xfrm>
          <a:prstGeom prst="rect">
            <a:avLst/>
          </a:prstGeom>
          <a:noFill/>
        </p:spPr>
        <p:txBody>
          <a:bodyPr wrap="square">
            <a:spAutoFit/>
          </a:bodyPr>
          <a:ls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1400">
                <a:solidFill>
                  <a:schemeClr val="bg2"/>
                </a:solidFill>
                <a:latin typeface="汉仪文黑-55W"/>
                <a:ea typeface="汉仪文黑-55W"/>
                <a:cs typeface="汉仪文黑-55W"/>
              </a:rPr>
              <a:t>请阅读最后一页重要免责声明</a:t>
            </a:r>
          </a:p>
        </p:txBody>
      </p:sp>
      <p:graphicFrame>
        <p:nvGraphicFramePr>
          <p:cNvPr id="16" name="表格 1"/>
          <p:cNvGraphicFramePr/>
          <p:nvPr/>
        </p:nvGraphicFramePr>
        <p:xfrm>
          <a:off x="325850" y="955262"/>
          <a:ext cx="11714512" cy="5126313"/>
        </p:xfrm>
        <a:graphic>
          <a:graphicData uri="http://schemas.openxmlformats.org/drawingml/2006/table">
            <a:tbl>
              <a:tblPr firstRow="1" bandRow="1">
                <a:tableStyleId>{2D5ABB26-0587-4C30-8999-92F81FD0307C}</a:tableStyleId>
              </a:tblPr>
              <a:tblGrid>
                <a:gridCol w="879253">
                  <a:extLst>
                    <a:ext uri="{9D8B030D-6E8A-4147-A177-3AD203B41FA5}">
                      <a16:colId xmlns:a16="http://schemas.microsoft.com/office/drawing/2014/main" val="20000"/>
                    </a:ext>
                  </a:extLst>
                </a:gridCol>
                <a:gridCol w="1181957">
                  <a:extLst>
                    <a:ext uri="{9D8B030D-6E8A-4147-A177-3AD203B41FA5}">
                      <a16:colId xmlns:a16="http://schemas.microsoft.com/office/drawing/2014/main" val="20001"/>
                    </a:ext>
                  </a:extLst>
                </a:gridCol>
                <a:gridCol w="1135094">
                  <a:extLst>
                    <a:ext uri="{9D8B030D-6E8A-4147-A177-3AD203B41FA5}">
                      <a16:colId xmlns:a16="http://schemas.microsoft.com/office/drawing/2014/main" val="20002"/>
                    </a:ext>
                  </a:extLst>
                </a:gridCol>
                <a:gridCol w="1004602">
                  <a:extLst>
                    <a:ext uri="{9D8B030D-6E8A-4147-A177-3AD203B41FA5}">
                      <a16:colId xmlns:a16="http://schemas.microsoft.com/office/drawing/2014/main" val="20003"/>
                    </a:ext>
                  </a:extLst>
                </a:gridCol>
                <a:gridCol w="7513606">
                  <a:extLst>
                    <a:ext uri="{9D8B030D-6E8A-4147-A177-3AD203B41FA5}">
                      <a16:colId xmlns:a16="http://schemas.microsoft.com/office/drawing/2014/main" val="20004"/>
                    </a:ext>
                  </a:extLst>
                </a:gridCol>
              </a:tblGrid>
              <a:tr h="360302">
                <a:tc>
                  <a:txBody>
                    <a:bodyPr/>
                    <a:lstStyle/>
                    <a:p>
                      <a:pPr algn="ctr">
                        <a:lnSpc>
                          <a:spcPct val="110000"/>
                        </a:lnSpc>
                        <a:buNone/>
                      </a:pPr>
                      <a:r>
                        <a:rPr sz="1400" b="1">
                          <a:solidFill>
                            <a:srgbClr val="FFFFFF"/>
                          </a:solidFill>
                          <a:latin typeface="汉仪文黑-55W"/>
                          <a:ea typeface="汉仪文黑-55W"/>
                          <a:cs typeface="汉仪文黑-55W"/>
                        </a:rPr>
                        <a:t>时间</a:t>
                      </a:r>
                    </a:p>
                  </a:txBody>
                  <a:tcPr anchor="ctr">
                    <a:lnL w="12700">
                      <a:noFill/>
                    </a:lnL>
                    <a:lnR w="12700">
                      <a:noFill/>
                    </a:lnR>
                    <a:lnT w="12700">
                      <a:noFill/>
                    </a:lnT>
                    <a:lnB w="12700" cmpd="sng">
                      <a:noFill/>
                      <a:prstDash val="solid"/>
                    </a:lnB>
                    <a:lnTlToBr w="12700" cmpd="sng">
                      <a:noFill/>
                      <a:prstDash val="solid"/>
                    </a:lnTlToBr>
                    <a:lnBlToTr w="12700" cmpd="sng">
                      <a:noFill/>
                      <a:prstDash val="solid"/>
                    </a:lnBlToTr>
                    <a:solidFill>
                      <a:srgbClr val="5A2781"/>
                    </a:solidFill>
                  </a:tcPr>
                </a:tc>
                <a:tc>
                  <a:txBody>
                    <a:bodyPr/>
                    <a:lstStyle/>
                    <a:p>
                      <a:pPr algn="ctr">
                        <a:lnSpc>
                          <a:spcPct val="110000"/>
                        </a:lnSpc>
                        <a:buNone/>
                      </a:pPr>
                      <a:r>
                        <a:rPr sz="1400" b="1">
                          <a:solidFill>
                            <a:srgbClr val="FFFFFF"/>
                          </a:solidFill>
                          <a:latin typeface="汉仪文黑-55W"/>
                          <a:ea typeface="汉仪文黑-55W"/>
                          <a:cs typeface="汉仪文黑-55W"/>
                        </a:rPr>
                        <a:t>代码</a:t>
                      </a:r>
                    </a:p>
                  </a:txBody>
                  <a:tcPr anchor="ctr">
                    <a:lnL w="12700">
                      <a:noFill/>
                    </a:lnL>
                    <a:lnR w="12700">
                      <a:noFill/>
                    </a:lnR>
                    <a:lnT w="12700">
                      <a:noFill/>
                    </a:lnT>
                    <a:lnB w="12700" cmpd="sng">
                      <a:noFill/>
                      <a:prstDash val="solid"/>
                    </a:lnB>
                    <a:lnTlToBr w="12700" cmpd="sng">
                      <a:noFill/>
                      <a:prstDash val="solid"/>
                    </a:lnTlToBr>
                    <a:lnBlToTr w="12700" cmpd="sng">
                      <a:noFill/>
                      <a:prstDash val="solid"/>
                    </a:lnBlToTr>
                    <a:solidFill>
                      <a:srgbClr val="5A2781"/>
                    </a:solidFill>
                  </a:tcPr>
                </a:tc>
                <a:tc>
                  <a:txBody>
                    <a:bodyPr/>
                    <a:lstStyle/>
                    <a:p>
                      <a:pPr algn="ctr">
                        <a:lnSpc>
                          <a:spcPct val="110000"/>
                        </a:lnSpc>
                        <a:buNone/>
                      </a:pPr>
                      <a:r>
                        <a:rPr sz="1400" b="1">
                          <a:solidFill>
                            <a:srgbClr val="FFFFFF"/>
                          </a:solidFill>
                          <a:latin typeface="汉仪文黑-55W"/>
                          <a:ea typeface="汉仪文黑-55W"/>
                          <a:cs typeface="汉仪文黑-55W"/>
                        </a:rPr>
                        <a:t>公司名称</a:t>
                      </a:r>
                    </a:p>
                  </a:txBody>
                  <a:tcPr anchor="ctr">
                    <a:lnL w="12700">
                      <a:noFill/>
                    </a:lnL>
                    <a:lnR w="12700">
                      <a:noFill/>
                    </a:lnR>
                    <a:lnT w="12700">
                      <a:noFill/>
                    </a:lnT>
                    <a:lnB w="12700" cmpd="sng">
                      <a:noFill/>
                      <a:prstDash val="solid"/>
                    </a:lnB>
                    <a:lnTlToBr w="12700" cmpd="sng">
                      <a:noFill/>
                      <a:prstDash val="solid"/>
                    </a:lnTlToBr>
                    <a:lnBlToTr w="12700" cmpd="sng">
                      <a:noFill/>
                      <a:prstDash val="solid"/>
                    </a:lnBlToTr>
                    <a:solidFill>
                      <a:srgbClr val="5A2781"/>
                    </a:solidFill>
                  </a:tcPr>
                </a:tc>
                <a:tc>
                  <a:txBody>
                    <a:bodyPr/>
                    <a:lstStyle/>
                    <a:p>
                      <a:pPr algn="ctr">
                        <a:lnSpc>
                          <a:spcPct val="110000"/>
                        </a:lnSpc>
                        <a:buNone/>
                      </a:pPr>
                      <a:r>
                        <a:rPr sz="1400" b="1">
                          <a:solidFill>
                            <a:srgbClr val="FFFFFF"/>
                          </a:solidFill>
                          <a:latin typeface="汉仪文黑-55W"/>
                          <a:ea typeface="汉仪文黑-55W"/>
                          <a:cs typeface="汉仪文黑-55W"/>
                        </a:rPr>
                        <a:t>公告主题</a:t>
                      </a:r>
                    </a:p>
                  </a:txBody>
                  <a:tcPr anchor="ctr">
                    <a:lnL w="12700">
                      <a:noFill/>
                    </a:lnL>
                    <a:lnR w="12700">
                      <a:noFill/>
                    </a:lnR>
                    <a:lnT w="12700">
                      <a:noFill/>
                    </a:lnT>
                    <a:lnB w="12700" cmpd="sng">
                      <a:noFill/>
                      <a:prstDash val="solid"/>
                    </a:lnB>
                    <a:lnTlToBr w="12700" cmpd="sng">
                      <a:noFill/>
                      <a:prstDash val="solid"/>
                    </a:lnTlToBr>
                    <a:lnBlToTr w="12700" cmpd="sng">
                      <a:noFill/>
                      <a:prstDash val="solid"/>
                    </a:lnBlToTr>
                    <a:solidFill>
                      <a:srgbClr val="5A2781"/>
                    </a:solidFill>
                  </a:tcPr>
                </a:tc>
                <a:tc>
                  <a:txBody>
                    <a:bodyPr/>
                    <a:lstStyle/>
                    <a:p>
                      <a:pPr algn="ctr">
                        <a:lnSpc>
                          <a:spcPct val="110000"/>
                        </a:lnSpc>
                        <a:buNone/>
                      </a:pPr>
                      <a:r>
                        <a:rPr sz="1400" b="1">
                          <a:solidFill>
                            <a:srgbClr val="FFFFFF"/>
                          </a:solidFill>
                          <a:latin typeface="汉仪文黑-55W"/>
                          <a:ea typeface="汉仪文黑-55W"/>
                          <a:cs typeface="汉仪文黑-55W"/>
                        </a:rPr>
                        <a:t>主要内容</a:t>
                      </a:r>
                    </a:p>
                  </a:txBody>
                  <a:tcPr anchor="ctr">
                    <a:lnL w="12700">
                      <a:noFill/>
                    </a:lnL>
                    <a:lnR w="12700">
                      <a:noFill/>
                    </a:lnR>
                    <a:lnT w="12700">
                      <a:noFill/>
                    </a:lnT>
                    <a:lnB w="12700" cmpd="sng">
                      <a:noFill/>
                      <a:prstDash val="solid"/>
                    </a:lnB>
                    <a:lnTlToBr w="12700" cmpd="sng">
                      <a:noFill/>
                      <a:prstDash val="solid"/>
                    </a:lnTlToBr>
                    <a:lnBlToTr w="12700" cmpd="sng">
                      <a:noFill/>
                      <a:prstDash val="solid"/>
                    </a:lnBlToTr>
                    <a:solidFill>
                      <a:srgbClr val="5A2781"/>
                    </a:solidFill>
                  </a:tcPr>
                </a:tc>
                <a:extLst>
                  <a:ext uri="{0D108BD9-81ED-4DB2-BD59-A6C34878D82A}">
                    <a16:rowId xmlns:a16="http://schemas.microsoft.com/office/drawing/2014/main" val="10000"/>
                  </a:ext>
                </a:extLst>
              </a:tr>
              <a:tr h="737461">
                <a:tc>
                  <a:txBody>
                    <a:bodyPr/>
                    <a:lstStyle/>
                    <a:p>
                      <a:pPr algn="ctr">
                        <a:buNone/>
                      </a:pPr>
                      <a:r>
                        <a:rPr sz="1400">
                          <a:latin typeface="+mn-ea"/>
                          <a:ea typeface="+mn-ea"/>
                          <a:cs typeface="+mn-ea"/>
                        </a:rPr>
                        <a:t>08.31</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tc>
                  <a:txBody>
                    <a:bodyPr/>
                    <a:lstStyle/>
                    <a:p>
                      <a:pPr algn="l">
                        <a:buNone/>
                      </a:pPr>
                      <a:r>
                        <a:rPr sz="1400">
                          <a:latin typeface="+mn-ea"/>
                          <a:ea typeface="+mn-ea"/>
                          <a:cs typeface="+mn-ea"/>
                        </a:rPr>
                        <a:t>600085</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tc>
                  <a:txBody>
                    <a:bodyPr/>
                    <a:lstStyle/>
                    <a:p>
                      <a:pPr algn="l">
                        <a:buNone/>
                      </a:pPr>
                      <a:r>
                        <a:rPr sz="1400">
                          <a:latin typeface="+mn-ea"/>
                          <a:ea typeface="+mn-ea"/>
                          <a:cs typeface="+mn-ea"/>
                        </a:rPr>
                        <a:t>同仁堂</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tc>
                  <a:txBody>
                    <a:bodyPr/>
                    <a:lstStyle/>
                    <a:p>
                      <a:pPr algn="l">
                        <a:buNone/>
                      </a:pPr>
                      <a:r>
                        <a:rPr sz="1400">
                          <a:latin typeface="+mn-ea"/>
                          <a:ea typeface="+mn-ea"/>
                          <a:cs typeface="+mn-ea"/>
                        </a:rPr>
                        <a:t>业绩公告</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tc>
                  <a:txBody>
                    <a:bodyPr/>
                    <a:lstStyle/>
                    <a:p>
                      <a:pPr algn="l">
                        <a:buNone/>
                      </a:pPr>
                      <a:r>
                        <a:rPr sz="1400">
                          <a:latin typeface="+mn-ea"/>
                          <a:ea typeface="+mn-ea"/>
                          <a:cs typeface="+mn-ea"/>
                        </a:rPr>
                        <a:t>2026年上半年，营业收入837,906.52万元，同比变动-14.23%；归属于上市公司股东的净利润72,619.17万元，同比变动-23.19%。</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E6E0EC"/>
                    </a:solidFill>
                  </a:tcPr>
                </a:tc>
                <a:extLst>
                  <a:ext uri="{0D108BD9-81ED-4DB2-BD59-A6C34878D82A}">
                    <a16:rowId xmlns:a16="http://schemas.microsoft.com/office/drawing/2014/main" val="10001"/>
                  </a:ext>
                </a:extLst>
              </a:tr>
              <a:tr h="990305">
                <a:tc>
                  <a:txBody>
                    <a:bodyPr/>
                    <a:lstStyle/>
                    <a:p>
                      <a:pPr marL="0" marR="0" indent="0" algn="ctr" defTabSz="914400">
                        <a:lnSpc>
                          <a:spcPct val="100000"/>
                        </a:lnSpc>
                        <a:spcBef>
                          <a:spcPts val="0"/>
                        </a:spcBef>
                        <a:spcAft>
                          <a:spcPts val="0"/>
                        </a:spcAft>
                        <a:buClrTx/>
                        <a:buSzTx/>
                        <a:buFontTx/>
                        <a:buNone/>
                      </a:pPr>
                      <a:r>
                        <a:rPr sz="1400" b="0" i="0" u="none" cap="none">
                          <a:ln>
                            <a:noFill/>
                          </a:ln>
                          <a:solidFill>
                            <a:prstClr val="black"/>
                          </a:solidFill>
                          <a:latin typeface="+mn-ea"/>
                          <a:ea typeface="+mn-ea"/>
                          <a:cs typeface="+mn-ea"/>
                        </a:rPr>
                        <a:t>08.29</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chemeClr val="bg1"/>
                    </a:solidFill>
                  </a:tcPr>
                </a:tc>
                <a:tc>
                  <a:txBody>
                    <a:bodyPr/>
                    <a:lstStyle/>
                    <a:p>
                      <a:pPr algn="l">
                        <a:buNone/>
                      </a:pPr>
                      <a:r>
                        <a:rPr sz="1400">
                          <a:solidFill>
                            <a:schemeClr val="tx1"/>
                          </a:solidFill>
                          <a:latin typeface="+mn-ea"/>
                          <a:ea typeface="+mn-ea"/>
                          <a:cs typeface="+mn-ea"/>
                        </a:rPr>
                        <a:t>000538</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chemeClr val="bg1"/>
                    </a:solidFill>
                  </a:tcPr>
                </a:tc>
                <a:tc>
                  <a:txBody>
                    <a:bodyPr/>
                    <a:lstStyle/>
                    <a:p>
                      <a:pPr algn="l">
                        <a:buNone/>
                      </a:pPr>
                      <a:r>
                        <a:rPr sz="1400">
                          <a:solidFill>
                            <a:schemeClr val="tx1"/>
                          </a:solidFill>
                          <a:latin typeface="+mn-ea"/>
                          <a:ea typeface="+mn-ea"/>
                          <a:cs typeface="+mn-ea"/>
                        </a:rPr>
                        <a:t>云南白药</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chemeClr val="bg1"/>
                    </a:solidFill>
                  </a:tcPr>
                </a:tc>
                <a:tc>
                  <a:txBody>
                    <a:bodyPr/>
                    <a:lstStyle/>
                    <a:p>
                      <a:pPr algn="l">
                        <a:buNone/>
                      </a:pPr>
                      <a:r>
                        <a:rPr sz="1400">
                          <a:solidFill>
                            <a:schemeClr val="tx1"/>
                          </a:solidFill>
                          <a:latin typeface="+mn-ea"/>
                          <a:ea typeface="+mn-ea"/>
                          <a:cs typeface="+mn-ea"/>
                        </a:rPr>
                        <a:t>业绩公告</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chemeClr val="bg1"/>
                    </a:solidFill>
                  </a:tcPr>
                </a:tc>
                <a:tc>
                  <a:txBody>
                    <a:bodyPr/>
                    <a:lstStyle/>
                    <a:p>
                      <a:pPr algn="l"/>
                      <a:r>
                        <a:rPr sz="1400" b="0">
                          <a:solidFill>
                            <a:srgbClr val="000000"/>
                          </a:solidFill>
                          <a:latin typeface="汉仪文黑-55W"/>
                          <a:ea typeface="汉仪文黑-55W"/>
                          <a:cs typeface="汉仪文黑-55W"/>
                        </a:rPr>
                        <a:t>2026年上半年，营业收入21,884,075,971.15元，同比变动2.95%；归属于上市公司股东的净利润3,701,170,618.67元，同比变动1.88%。</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842812">
                <a:tc>
                  <a:txBody>
                    <a:bodyPr/>
                    <a:lstStyle/>
                    <a:p>
                      <a:pPr marL="0" marR="0" indent="0" algn="ctr" defTabSz="914400">
                        <a:lnSpc>
                          <a:spcPct val="100000"/>
                        </a:lnSpc>
                        <a:spcBef>
                          <a:spcPts val="0"/>
                        </a:spcBef>
                        <a:spcAft>
                          <a:spcPts val="0"/>
                        </a:spcAft>
                        <a:buClrTx/>
                        <a:buSzTx/>
                        <a:buFontTx/>
                        <a:buNone/>
                      </a:pPr>
                      <a:r>
                        <a:rPr sz="1400" b="0" i="0" u="none" cap="none">
                          <a:ln>
                            <a:noFill/>
                          </a:ln>
                          <a:solidFill>
                            <a:prstClr val="black"/>
                          </a:solidFill>
                          <a:latin typeface="+mn-ea"/>
                          <a:ea typeface="+mn-ea"/>
                          <a:cs typeface="+mn-ea"/>
                        </a:rPr>
                        <a:t>08.29</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tc>
                  <a:txBody>
                    <a:bodyPr/>
                    <a:lstStyle/>
                    <a:p>
                      <a:pPr algn="l">
                        <a:buNone/>
                      </a:pPr>
                      <a:r>
                        <a:rPr sz="1400">
                          <a:solidFill>
                            <a:schemeClr val="tx1"/>
                          </a:solidFill>
                          <a:latin typeface="+mn-ea"/>
                          <a:ea typeface="+mn-ea"/>
                          <a:cs typeface="+mn-ea"/>
                        </a:rPr>
                        <a:t>300760</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tc>
                  <a:txBody>
                    <a:bodyPr/>
                    <a:lstStyle/>
                    <a:p>
                      <a:pPr algn="l">
                        <a:buNone/>
                      </a:pPr>
                      <a:r>
                        <a:rPr sz="1400">
                          <a:solidFill>
                            <a:schemeClr val="tx1"/>
                          </a:solidFill>
                          <a:latin typeface="+mn-ea"/>
                          <a:ea typeface="+mn-ea"/>
                          <a:cs typeface="+mn-ea"/>
                        </a:rPr>
                        <a:t>迈瑞医疗</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tc>
                  <a:txBody>
                    <a:bodyPr/>
                    <a:lstStyle/>
                    <a:p>
                      <a:pPr algn="l">
                        <a:buNone/>
                      </a:pPr>
                      <a:r>
                        <a:rPr sz="1400">
                          <a:solidFill>
                            <a:schemeClr val="tx1"/>
                          </a:solidFill>
                          <a:latin typeface="+mn-ea"/>
                          <a:ea typeface="+mn-ea"/>
                          <a:cs typeface="+mn-ea"/>
                        </a:rPr>
                        <a:t>业绩公告</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tc>
                  <a:txBody>
                    <a:bodyPr/>
                    <a:lstStyle/>
                    <a:p>
                      <a:pPr marL="0" algn="l" defTabSz="914400">
                        <a:buNone/>
                      </a:pPr>
                      <a:r>
                        <a:rPr sz="1400">
                          <a:solidFill>
                            <a:schemeClr val="tx1"/>
                          </a:solidFill>
                          <a:latin typeface="+mn-ea"/>
                          <a:ea typeface="+mn-ea"/>
                          <a:cs typeface="+mn-ea"/>
                        </a:rPr>
                        <a:t>2026年上半年，营业收入17,746,969,604.00元，同比变动6.00%；归属于上市公司股东的净利润4,796,791,800.00元，同比变动-5.37%。</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extLst>
                  <a:ext uri="{0D108BD9-81ED-4DB2-BD59-A6C34878D82A}">
                    <a16:rowId xmlns:a16="http://schemas.microsoft.com/office/drawing/2014/main" val="10003"/>
                  </a:ext>
                </a:extLst>
              </a:tr>
              <a:tr h="1447858">
                <a:tc>
                  <a:txBody>
                    <a:bodyPr/>
                    <a:lstStyle/>
                    <a:p>
                      <a:pPr marL="0" marR="0" indent="0" algn="ctr" defTabSz="914400">
                        <a:lnSpc>
                          <a:spcPct val="100000"/>
                        </a:lnSpc>
                        <a:spcBef>
                          <a:spcPts val="0"/>
                        </a:spcBef>
                        <a:spcAft>
                          <a:spcPts val="0"/>
                        </a:spcAft>
                        <a:buClrTx/>
                        <a:buSzTx/>
                        <a:buFontTx/>
                        <a:buNone/>
                      </a:pPr>
                      <a:r>
                        <a:rPr sz="1400">
                          <a:latin typeface="+mn-ea"/>
                          <a:ea typeface="+mn-ea"/>
                          <a:cs typeface="+mn-ea"/>
                        </a:rPr>
                        <a:t>08.29</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FFFFFF"/>
                    </a:solidFill>
                  </a:tcPr>
                </a:tc>
                <a:tc>
                  <a:txBody>
                    <a:bodyPr/>
                    <a:lstStyle/>
                    <a:p>
                      <a:pPr algn="l">
                        <a:buNone/>
                      </a:pPr>
                      <a:r>
                        <a:rPr sz="1400">
                          <a:solidFill>
                            <a:schemeClr val="tx1"/>
                          </a:solidFill>
                          <a:latin typeface="+mn-ea"/>
                          <a:ea typeface="+mn-ea"/>
                          <a:cs typeface="+mn-ea"/>
                        </a:rPr>
                        <a:t>300122</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FFFFFF"/>
                    </a:solidFill>
                  </a:tcPr>
                </a:tc>
                <a:tc>
                  <a:txBody>
                    <a:bodyPr/>
                    <a:lstStyle/>
                    <a:p>
                      <a:pPr marL="0" algn="l" defTabSz="914400">
                        <a:buClrTx/>
                        <a:buSzTx/>
                        <a:buFontTx/>
                        <a:buNone/>
                      </a:pPr>
                      <a:r>
                        <a:rPr sz="1400" b="0" i="0">
                          <a:solidFill>
                            <a:schemeClr val="tx1"/>
                          </a:solidFill>
                          <a:latin typeface="+mn-ea"/>
                          <a:ea typeface="+mn-ea"/>
                          <a:cs typeface="+mn-ea"/>
                        </a:rPr>
                        <a:t>智飞生物</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FFFFFF"/>
                    </a:solidFill>
                  </a:tcPr>
                </a:tc>
                <a:tc>
                  <a:txBody>
                    <a:bodyPr/>
                    <a:lstStyle/>
                    <a:p>
                      <a:pPr algn="l">
                        <a:buNone/>
                      </a:pPr>
                      <a:r>
                        <a:rPr sz="1400" dirty="0" err="1">
                          <a:solidFill>
                            <a:schemeClr val="tx1"/>
                          </a:solidFill>
                          <a:latin typeface="+mn-ea"/>
                          <a:ea typeface="+mn-ea"/>
                          <a:cs typeface="+mn-ea"/>
                        </a:rPr>
                        <a:t>业绩公告</a:t>
                      </a:r>
                      <a:endParaRPr sz="1400" dirty="0">
                        <a:solidFill>
                          <a:schemeClr val="tx1"/>
                        </a:solidFill>
                        <a:latin typeface="+mn-ea"/>
                        <a:ea typeface="+mn-ea"/>
                        <a:cs typeface="+mn-ea"/>
                      </a:endParaRP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FFFFFF"/>
                    </a:solidFill>
                  </a:tcPr>
                </a:tc>
                <a:tc>
                  <a:txBody>
                    <a:bodyPr/>
                    <a:lstStyle/>
                    <a:p>
                      <a:pPr algn="l"/>
                      <a:r>
                        <a:rPr sz="1400" b="0">
                          <a:solidFill>
                            <a:srgbClr val="000000"/>
                          </a:solidFill>
                          <a:latin typeface="汉仪文黑-55W"/>
                          <a:ea typeface="汉仪文黑-55W"/>
                          <a:cs typeface="汉仪文黑-55W"/>
                        </a:rPr>
                        <a:t>2026年上半年，营业收入4,023,767,992.30元，同比变动-18.36%；归属于上市公司股东的净利润-808,508,103.45元，同比变动-33.35%（按调整后口径）。</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747575">
                <a:tc>
                  <a:txBody>
                    <a:bodyPr/>
                    <a:lstStyle/>
                    <a:p>
                      <a:pPr marL="0" marR="0" indent="0" algn="ctr" defTabSz="914400">
                        <a:lnSpc>
                          <a:spcPct val="100000"/>
                        </a:lnSpc>
                        <a:spcBef>
                          <a:spcPts val="0"/>
                        </a:spcBef>
                        <a:spcAft>
                          <a:spcPts val="0"/>
                        </a:spcAft>
                        <a:buClrTx/>
                        <a:buSzTx/>
                        <a:buFontTx/>
                        <a:buNone/>
                      </a:pPr>
                      <a:r>
                        <a:rPr sz="1400" dirty="0">
                          <a:latin typeface="+mn-ea"/>
                          <a:ea typeface="+mn-ea"/>
                          <a:cs typeface="+mn-ea"/>
                        </a:rPr>
                        <a:t>08.29</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tc>
                  <a:txBody>
                    <a:bodyPr/>
                    <a:lstStyle/>
                    <a:p>
                      <a:pPr algn="l">
                        <a:buNone/>
                      </a:pPr>
                      <a:r>
                        <a:rPr sz="1400">
                          <a:solidFill>
                            <a:schemeClr val="tx1"/>
                          </a:solidFill>
                          <a:latin typeface="+mn-ea"/>
                          <a:ea typeface="+mn-ea"/>
                          <a:cs typeface="+mn-ea"/>
                        </a:rPr>
                        <a:t>603127</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tc>
                  <a:txBody>
                    <a:bodyPr/>
                    <a:lstStyle/>
                    <a:p>
                      <a:pPr marL="0" algn="l" defTabSz="914400">
                        <a:buClrTx/>
                        <a:buSzTx/>
                        <a:buFontTx/>
                        <a:buNone/>
                      </a:pPr>
                      <a:r>
                        <a:rPr sz="1400">
                          <a:latin typeface="+mn-ea"/>
                          <a:ea typeface="+mn-ea"/>
                          <a:cs typeface="+mn-ea"/>
                        </a:rPr>
                        <a:t>昭衍新药</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tc>
                  <a:txBody>
                    <a:bodyPr/>
                    <a:lstStyle/>
                    <a:p>
                      <a:pPr algn="l">
                        <a:buNone/>
                      </a:pPr>
                      <a:r>
                        <a:rPr sz="1400">
                          <a:solidFill>
                            <a:schemeClr val="tx1"/>
                          </a:solidFill>
                          <a:latin typeface="+mn-ea"/>
                          <a:ea typeface="+mn-ea"/>
                          <a:cs typeface="+mn-ea"/>
                        </a:rPr>
                        <a:t>业绩公告</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tc>
                  <a:txBody>
                    <a:bodyPr/>
                    <a:lstStyle/>
                    <a:p>
                      <a:pPr marL="0" algn="l" defTabSz="914400">
                        <a:buNone/>
                      </a:pPr>
                      <a:r>
                        <a:rPr sz="1400" dirty="0">
                          <a:solidFill>
                            <a:schemeClr val="tx1"/>
                          </a:solidFill>
                          <a:latin typeface="+mn-ea"/>
                          <a:ea typeface="+mn-ea"/>
                          <a:cs typeface="+mn-ea"/>
                        </a:rPr>
                        <a:t>2026年上半年，营业收入703,819,032.13元，同比变动5.27%；归属于上市公司股东的净利润747,517,433.01元，同比变动1,126.80%。</a:t>
                      </a:r>
                    </a:p>
                  </a:txBody>
                  <a:tcPr marL="0" marR="0" marT="0" marB="0" anchor="ctr">
                    <a:lnL w="12700">
                      <a:noFill/>
                    </a:lnL>
                    <a:lnR w="12700">
                      <a:noFill/>
                    </a:lnR>
                    <a:lnT w="12700">
                      <a:noFill/>
                    </a:lnT>
                    <a:lnB w="12700">
                      <a:noFill/>
                    </a:lnB>
                    <a:lnTlToBr w="12700" cmpd="sng">
                      <a:noFill/>
                      <a:prstDash val="solid"/>
                    </a:lnTlToBr>
                    <a:lnBlToTr w="12700" cmpd="sng">
                      <a:noFill/>
                      <a:prstDash val="solid"/>
                    </a:lnBlToTr>
                    <a:solidFill>
                      <a:srgbClr val="D7CEE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67506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gn="ctr"/>
            <a:r>
              <a:rPr lang="en-US" altLang="zh-CN" b="1" dirty="0">
                <a:solidFill>
                  <a:schemeClr val="bg1">
                    <a:lumMod val="85000"/>
                  </a:schemeClr>
                </a:solidFill>
                <a:latin typeface="汉仪文黑-55W" pitchFamily="18" charset="-122"/>
                <a:ea typeface="汉仪文黑-55W" pitchFamily="18" charset="-122"/>
              </a:rPr>
              <a:t>30</a:t>
            </a:r>
            <a:endParaRPr lang="zh-CN" altLang="en-US" b="1" dirty="0">
              <a:solidFill>
                <a:schemeClr val="bg1">
                  <a:lumMod val="85000"/>
                </a:schemeClr>
              </a:solidFill>
              <a:latin typeface="汉仪文黑-55W" pitchFamily="18" charset="-122"/>
              <a:ea typeface="汉仪文黑-55W" pitchFamily="18" charset="-122"/>
            </a:endParaRPr>
          </a:p>
        </p:txBody>
      </p:sp>
      <p:sp>
        <p:nvSpPr>
          <p:cNvPr id="14" name="文本框 13"/>
          <p:cNvSpPr txBox="1"/>
          <p:nvPr/>
        </p:nvSpPr>
        <p:spPr>
          <a:xfrm>
            <a:off x="514350" y="254000"/>
            <a:ext cx="1689100" cy="460375"/>
          </a:xfrm>
          <a:prstGeom prst="rect">
            <a:avLst/>
          </a:prstGeom>
          <a:noFill/>
        </p:spPr>
        <p:txBody>
          <a:bodyPr wrap="square" lIns="0" rtlCol="0" anchor="t">
            <a:spAutoFit/>
          </a:bodyPr>
          <a:lstStyle/>
          <a:p>
            <a:pPr algn="dist"/>
            <a:r>
              <a:rPr lang="zh-CN" altLang="en-US" sz="2400" b="1" dirty="0">
                <a:solidFill>
                  <a:srgbClr val="5A2781"/>
                </a:solidFill>
                <a:latin typeface="汉仪文黑-55W" pitchFamily="18" charset="-122"/>
                <a:ea typeface="汉仪文黑-55W" pitchFamily="18" charset="-122"/>
                <a:cs typeface="时尚中黑简体" charset="-122"/>
                <a:sym typeface="+mn-ea"/>
              </a:rPr>
              <a:t>风险提示</a:t>
            </a:r>
            <a:endParaRPr lang="zh-CN" sz="2400" b="1" dirty="0">
              <a:solidFill>
                <a:srgbClr val="5A2781"/>
              </a:solidFill>
              <a:latin typeface="汉仪文黑-55W" pitchFamily="18" charset="-122"/>
              <a:ea typeface="汉仪文黑-55W" pitchFamily="18" charset="-122"/>
              <a:cs typeface="时尚中黑简体" charset="-122"/>
              <a:sym typeface="+mn-ea"/>
            </a:endParaRPr>
          </a:p>
        </p:txBody>
      </p:sp>
      <p:graphicFrame>
        <p:nvGraphicFramePr>
          <p:cNvPr id="2" name="表格 1" descr="BDCONTENTCONTROL_3bcd1352-8837-4e87-b25c-c055db3cc5e6" title="合规提示末页声明"/>
          <p:cNvGraphicFramePr>
            <a:graphicFrameLocks noGrp="1"/>
          </p:cNvGraphicFramePr>
          <p:nvPr/>
        </p:nvGraphicFramePr>
        <p:xfrm>
          <a:off x="2757600" y="5904000"/>
          <a:ext cx="8726400" cy="338400"/>
        </p:xfrm>
        <a:graphic>
          <a:graphicData uri="http://schemas.openxmlformats.org/drawingml/2006/table">
            <a:tbl>
              <a:tblPr firstRow="1" bandRow="1">
                <a:tableStyleId>{5C22544A-7EE6-4342-B048-85BDC9FD1C3A}</a:tableStyleId>
              </a:tblPr>
              <a:tblGrid>
                <a:gridCol w="8726400">
                  <a:extLst>
                    <a:ext uri="{9D8B030D-6E8A-4147-A177-3AD203B41FA5}">
                      <a16:colId xmlns:a16="http://schemas.microsoft.com/office/drawing/2014/main" val="20000"/>
                    </a:ext>
                  </a:extLst>
                </a:gridCol>
              </a:tblGrid>
              <a:tr h="338400">
                <a:tc>
                  <a:txBody>
                    <a:bodyPr/>
                    <a:lstStyle/>
                    <a:p>
                      <a:endParaRPr lang="zh-CN" altLang="en-US" sz="1600" b="0" i="0" baseline="0" dirty="0">
                        <a:solidFill>
                          <a:schemeClr val="tx1">
                            <a:lumMod val="75000"/>
                            <a:lumOff val="25000"/>
                          </a:schemeClr>
                        </a:solidFill>
                        <a:latin typeface="汉仪文黑-55W" pitchFamily="18" charset="-122"/>
                        <a:ea typeface="思源黑体 CN Regular" pitchFamily="34" charset="-122"/>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8" name="文本框 7"/>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诚信、专业、稳健、高效</a:t>
            </a:r>
          </a:p>
        </p:txBody>
      </p:sp>
      <p:sp>
        <p:nvSpPr>
          <p:cNvPr id="9" name="文本框 8"/>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请阅读最后一页重要免责声明</a:t>
            </a:r>
          </a:p>
        </p:txBody>
      </p:sp>
      <p:sp>
        <p:nvSpPr>
          <p:cNvPr id="10" name="文本框 9"/>
          <p:cNvSpPr txBox="1"/>
          <p:nvPr/>
        </p:nvSpPr>
        <p:spPr>
          <a:xfrm>
            <a:off x="733323" y="1198521"/>
            <a:ext cx="9708928" cy="4216539"/>
          </a:xfrm>
          <a:prstGeom prst="rect">
            <a:avLst/>
          </a:prstGeom>
          <a:noFill/>
        </p:spPr>
        <p:txBody>
          <a:bodyPr wrap="square" rtlCol="0">
            <a:spAutoFit/>
          </a:bodyPr>
          <a:lstStyle/>
          <a:p>
            <a:r>
              <a:rPr lang="en-US" altLang="zh-CN" sz="2000" b="1" dirty="0">
                <a:solidFill>
                  <a:srgbClr val="5A2781"/>
                </a:solidFill>
                <a:latin typeface="汉仪文黑-55W" pitchFamily="18" charset="-122"/>
                <a:ea typeface="汉仪文黑-55W" pitchFamily="18" charset="-122"/>
                <a:sym typeface="+mn-ea"/>
              </a:rPr>
              <a:t>1.</a:t>
            </a:r>
            <a:r>
              <a:rPr lang="zh-CN" altLang="en-US" sz="2000" b="1" dirty="0">
                <a:solidFill>
                  <a:srgbClr val="5A2781"/>
                </a:solidFill>
                <a:latin typeface="汉仪文黑-55W" pitchFamily="18" charset="-122"/>
                <a:ea typeface="汉仪文黑-55W" pitchFamily="18" charset="-122"/>
                <a:sym typeface="+mn-ea"/>
              </a:rPr>
              <a:t>研发失败或无法产业化的风险</a:t>
            </a:r>
          </a:p>
          <a:p>
            <a:r>
              <a:rPr lang="zh-CN" altLang="en-US" sz="1600" dirty="0">
                <a:solidFill>
                  <a:schemeClr val="tx1">
                    <a:lumMod val="75000"/>
                    <a:lumOff val="25000"/>
                  </a:schemeClr>
                </a:solidFill>
                <a:latin typeface="汉仪文黑-55W" pitchFamily="18" charset="-122"/>
                <a:ea typeface="汉仪文黑-55W" pitchFamily="18" charset="-122"/>
                <a:sym typeface="+mn-ea"/>
              </a:rPr>
              <a:t>医药生物技术壁垒高，研发失败可能导致不能按计划开发出新产品，无法产业化。</a:t>
            </a:r>
          </a:p>
          <a:p>
            <a:endParaRPr lang="en-US" altLang="zh-CN" sz="2000" dirty="0">
              <a:solidFill>
                <a:schemeClr val="tx1">
                  <a:lumMod val="75000"/>
                  <a:lumOff val="25000"/>
                </a:schemeClr>
              </a:solidFill>
              <a:latin typeface="汉仪文黑-55W" pitchFamily="18" charset="-122"/>
              <a:ea typeface="汉仪文黑-55W" pitchFamily="18" charset="-122"/>
            </a:endParaRPr>
          </a:p>
          <a:p>
            <a:r>
              <a:rPr lang="en-US" altLang="zh-CN" sz="2000" b="1" dirty="0">
                <a:solidFill>
                  <a:srgbClr val="5A2781"/>
                </a:solidFill>
                <a:latin typeface="汉仪文黑-55W" pitchFamily="18" charset="-122"/>
                <a:ea typeface="汉仪文黑-55W" pitchFamily="18" charset="-122"/>
                <a:sym typeface="+mn-ea"/>
              </a:rPr>
              <a:t>2.</a:t>
            </a:r>
            <a:r>
              <a:rPr lang="zh-CN" altLang="en-US" sz="2000" b="1" dirty="0">
                <a:solidFill>
                  <a:srgbClr val="5A2781"/>
                </a:solidFill>
                <a:latin typeface="汉仪文黑-55W" pitchFamily="18" charset="-122"/>
                <a:ea typeface="汉仪文黑-55W" pitchFamily="18" charset="-122"/>
                <a:sym typeface="+mn-ea"/>
              </a:rPr>
              <a:t>销售不及预期风险</a:t>
            </a:r>
          </a:p>
          <a:p>
            <a:r>
              <a:rPr lang="zh-CN" altLang="en-US" sz="1600" dirty="0">
                <a:solidFill>
                  <a:schemeClr val="tx1">
                    <a:lumMod val="75000"/>
                    <a:lumOff val="25000"/>
                  </a:schemeClr>
                </a:solidFill>
                <a:latin typeface="汉仪文黑-55W" pitchFamily="18" charset="-122"/>
                <a:ea typeface="汉仪文黑-55W" pitchFamily="18" charset="-122"/>
                <a:sym typeface="+mn-ea"/>
              </a:rPr>
              <a:t>因营销策略不能适应市场、学术推广不充分等因素影响，导致销售不及预期。</a:t>
            </a:r>
            <a:endParaRPr lang="en-US" altLang="zh-CN" sz="1600" dirty="0">
              <a:solidFill>
                <a:schemeClr val="tx1">
                  <a:lumMod val="75000"/>
                  <a:lumOff val="25000"/>
                </a:schemeClr>
              </a:solidFill>
              <a:latin typeface="汉仪文黑-55W" pitchFamily="18" charset="-122"/>
              <a:ea typeface="汉仪文黑-55W" pitchFamily="18" charset="-122"/>
              <a:sym typeface="+mn-ea"/>
            </a:endParaRPr>
          </a:p>
          <a:p>
            <a:endParaRPr lang="en-US" altLang="zh-CN" sz="1600" dirty="0">
              <a:solidFill>
                <a:schemeClr val="tx1">
                  <a:lumMod val="75000"/>
                  <a:lumOff val="25000"/>
                </a:schemeClr>
              </a:solidFill>
              <a:latin typeface="汉仪文黑-55W" pitchFamily="18" charset="-122"/>
              <a:ea typeface="汉仪文黑-55W" pitchFamily="18" charset="-122"/>
              <a:sym typeface="+mn-ea"/>
            </a:endParaRPr>
          </a:p>
          <a:p>
            <a:r>
              <a:rPr lang="en-US" altLang="zh-CN" sz="2000" b="1" dirty="0">
                <a:solidFill>
                  <a:srgbClr val="5A2781"/>
                </a:solidFill>
                <a:latin typeface="汉仪文黑-55W" pitchFamily="18" charset="-122"/>
                <a:ea typeface="汉仪文黑-55W" pitchFamily="18" charset="-122"/>
                <a:sym typeface="+mn-ea"/>
              </a:rPr>
              <a:t>3.</a:t>
            </a:r>
            <a:r>
              <a:rPr lang="zh-CN" altLang="en-US" sz="2000" b="1" dirty="0">
                <a:solidFill>
                  <a:srgbClr val="5A2781"/>
                </a:solidFill>
                <a:latin typeface="汉仪文黑-55W" pitchFamily="18" charset="-122"/>
                <a:ea typeface="汉仪文黑-55W" pitchFamily="18" charset="-122"/>
                <a:sym typeface="+mn-ea"/>
              </a:rPr>
              <a:t>竞争加剧风险</a:t>
            </a:r>
          </a:p>
          <a:p>
            <a:r>
              <a:rPr lang="zh-CN" altLang="en-US" sz="1600" dirty="0">
                <a:solidFill>
                  <a:schemeClr val="tx1">
                    <a:lumMod val="75000"/>
                    <a:lumOff val="25000"/>
                  </a:schemeClr>
                </a:solidFill>
                <a:latin typeface="汉仪文黑-55W" pitchFamily="18" charset="-122"/>
                <a:ea typeface="汉仪文黑-55W" pitchFamily="18" charset="-122"/>
                <a:sym typeface="+mn-ea"/>
              </a:rPr>
              <a:t>如有多个同种产品已上市，或即将有多个产品陆续上市，市场竞争激烈。</a:t>
            </a:r>
            <a:endParaRPr lang="zh-CN" altLang="en-US" sz="2000" dirty="0">
              <a:solidFill>
                <a:schemeClr val="tx1">
                  <a:lumMod val="75000"/>
                  <a:lumOff val="25000"/>
                </a:schemeClr>
              </a:solidFill>
              <a:latin typeface="汉仪文黑-55W" pitchFamily="18" charset="-122"/>
              <a:ea typeface="汉仪文黑-55W" pitchFamily="18" charset="-122"/>
              <a:sym typeface="+mn-ea"/>
            </a:endParaRPr>
          </a:p>
          <a:p>
            <a:endParaRPr lang="zh-CN" altLang="en-US" sz="1600" dirty="0">
              <a:solidFill>
                <a:schemeClr val="tx1">
                  <a:lumMod val="75000"/>
                  <a:lumOff val="25000"/>
                </a:schemeClr>
              </a:solidFill>
              <a:latin typeface="汉仪文黑-55W" pitchFamily="18" charset="-122"/>
              <a:ea typeface="汉仪文黑-55W" pitchFamily="18" charset="-122"/>
              <a:sym typeface="+mn-ea"/>
            </a:endParaRPr>
          </a:p>
          <a:p>
            <a:r>
              <a:rPr lang="en-US" altLang="zh-CN" sz="2000" b="1" dirty="0">
                <a:solidFill>
                  <a:srgbClr val="5A2781"/>
                </a:solidFill>
                <a:latin typeface="汉仪文黑-55W" pitchFamily="18" charset="-122"/>
                <a:ea typeface="汉仪文黑-55W" pitchFamily="18" charset="-122"/>
                <a:sym typeface="+mn-ea"/>
              </a:rPr>
              <a:t>4.</a:t>
            </a:r>
            <a:r>
              <a:rPr lang="zh-CN" altLang="en-US" sz="2000" b="1" dirty="0">
                <a:solidFill>
                  <a:srgbClr val="5A2781"/>
                </a:solidFill>
                <a:latin typeface="汉仪文黑-55W" pitchFamily="18" charset="-122"/>
                <a:ea typeface="汉仪文黑-55W" pitchFamily="18" charset="-122"/>
                <a:sym typeface="+mn-ea"/>
              </a:rPr>
              <a:t>政策性风险</a:t>
            </a:r>
          </a:p>
          <a:p>
            <a:r>
              <a:rPr lang="zh-CN" altLang="en-US" sz="1600" dirty="0">
                <a:solidFill>
                  <a:schemeClr val="tx1">
                    <a:lumMod val="75000"/>
                    <a:lumOff val="25000"/>
                  </a:schemeClr>
                </a:solidFill>
                <a:latin typeface="汉仪文黑-55W" pitchFamily="18" charset="-122"/>
                <a:ea typeface="汉仪文黑-55W" pitchFamily="18" charset="-122"/>
                <a:sym typeface="+mn-ea"/>
              </a:rPr>
              <a:t>医药生物是受高监管的行业，任何行业政策调整都可能对公司产生影响。</a:t>
            </a:r>
            <a:endParaRPr lang="en-US" altLang="zh-CN" sz="1600" dirty="0">
              <a:solidFill>
                <a:schemeClr val="tx1">
                  <a:lumMod val="75000"/>
                  <a:lumOff val="25000"/>
                </a:schemeClr>
              </a:solidFill>
              <a:latin typeface="汉仪文黑-55W" pitchFamily="18" charset="-122"/>
              <a:ea typeface="汉仪文黑-55W" pitchFamily="18" charset="-122"/>
              <a:sym typeface="+mn-ea"/>
            </a:endParaRPr>
          </a:p>
          <a:p>
            <a:endParaRPr lang="en-US" altLang="zh-CN" sz="1600" dirty="0">
              <a:solidFill>
                <a:schemeClr val="tx1">
                  <a:lumMod val="75000"/>
                  <a:lumOff val="25000"/>
                </a:schemeClr>
              </a:solidFill>
              <a:latin typeface="汉仪文黑-55W" pitchFamily="18" charset="-122"/>
              <a:ea typeface="汉仪文黑-55W" pitchFamily="18" charset="-122"/>
              <a:sym typeface="+mn-ea"/>
            </a:endParaRPr>
          </a:p>
          <a:p>
            <a:r>
              <a:rPr lang="en-US" altLang="zh-CN" sz="2000" b="1" dirty="0">
                <a:solidFill>
                  <a:srgbClr val="5A2781"/>
                </a:solidFill>
                <a:latin typeface="汉仪文黑-55W" pitchFamily="18" charset="-122"/>
                <a:ea typeface="汉仪文黑-55W" pitchFamily="18" charset="-122"/>
                <a:sym typeface="+mn-ea"/>
              </a:rPr>
              <a:t>5.</a:t>
            </a:r>
            <a:r>
              <a:rPr lang="zh-CN" altLang="en-US" sz="2000" b="1" dirty="0">
                <a:solidFill>
                  <a:srgbClr val="5A2781"/>
                </a:solidFill>
                <a:latin typeface="汉仪文黑-55W" pitchFamily="18" charset="-122"/>
                <a:ea typeface="汉仪文黑-55W" pitchFamily="18" charset="-122"/>
              </a:rPr>
              <a:t>推荐公司业绩不及预期风险</a:t>
            </a:r>
            <a:endParaRPr lang="en-US" altLang="zh-CN" sz="2000" b="1" dirty="0">
              <a:solidFill>
                <a:srgbClr val="5A2781"/>
              </a:solidFill>
              <a:latin typeface="汉仪文黑-55W" pitchFamily="18" charset="-122"/>
              <a:ea typeface="汉仪文黑-55W" pitchFamily="18" charset="-122"/>
            </a:endParaRPr>
          </a:p>
          <a:p>
            <a:endParaRPr lang="zh-CN" altLang="en-US" sz="2000" b="1" dirty="0">
              <a:solidFill>
                <a:srgbClr val="5A2781"/>
              </a:solidFill>
              <a:latin typeface="汉仪文黑-55W" pitchFamily="18" charset="-122"/>
              <a:ea typeface="汉仪文黑-55W" pitchFamily="18" charset="-122"/>
              <a:sym typeface="+mn-ea"/>
            </a:endParaRPr>
          </a:p>
          <a:p>
            <a:endParaRPr lang="zh-CN" altLang="en-US" sz="1600" dirty="0">
              <a:solidFill>
                <a:schemeClr val="tx1">
                  <a:lumMod val="75000"/>
                  <a:lumOff val="25000"/>
                </a:schemeClr>
              </a:solidFill>
              <a:latin typeface="汉仪文黑-55W" pitchFamily="18" charset="-122"/>
              <a:ea typeface="汉仪文黑-55W" pitchFamily="18"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lgn="ctr"/>
            <a:r>
              <a:rPr lang="en-US" altLang="zh-CN" b="1" dirty="0">
                <a:solidFill>
                  <a:schemeClr val="bg1">
                    <a:lumMod val="85000"/>
                  </a:schemeClr>
                </a:solidFill>
                <a:latin typeface="汉仪文黑-55W" pitchFamily="18" charset="-122"/>
                <a:ea typeface="汉仪文黑-55W" pitchFamily="18" charset="-122"/>
                <a:sym typeface="+mn-ea"/>
              </a:rPr>
              <a:t>31</a:t>
            </a:r>
            <a:endParaRPr lang="zh-CN" altLang="en-US" b="1" dirty="0">
              <a:latin typeface="汉仪文黑-55W" pitchFamily="18" charset="-122"/>
              <a:ea typeface="汉仪文黑-55W" pitchFamily="18" charset="-122"/>
            </a:endParaRPr>
          </a:p>
        </p:txBody>
      </p:sp>
      <p:sp>
        <p:nvSpPr>
          <p:cNvPr id="2" name="文本框 1" descr="BDCONTENTCONTROL_c9c3a71c-a646-4161-b359-a3f355741946" title="作者所属分组"/>
          <p:cNvSpPr txBox="1"/>
          <p:nvPr/>
        </p:nvSpPr>
        <p:spPr>
          <a:xfrm>
            <a:off x="511200" y="255600"/>
            <a:ext cx="9360000" cy="461665"/>
          </a:xfrm>
          <a:prstGeom prst="rect">
            <a:avLst/>
          </a:prstGeom>
          <a:noFill/>
        </p:spPr>
        <p:txBody>
          <a:bodyPr vert="horz" wrap="square" rtlCol="0" anchor="ctr" anchorCtr="0">
            <a:spAutoFit/>
          </a:bodyPr>
          <a:lstStyle/>
          <a:p>
            <a:r>
              <a:rPr lang="zh-CN" altLang="en-US" sz="2400" b="1" smtClean="0">
                <a:solidFill>
                  <a:srgbClr val="46255D"/>
                </a:solidFill>
                <a:latin typeface="汉仪文黑-55W" pitchFamily="18" charset="-122"/>
                <a:ea typeface="汉仪文黑-55W" pitchFamily="18" charset="-122"/>
              </a:rPr>
              <a:t>组介绍</a:t>
            </a:r>
            <a:endParaRPr lang="zh-CN" altLang="en-US" sz="2400" b="1" dirty="0">
              <a:solidFill>
                <a:srgbClr val="46255D"/>
              </a:solidFill>
              <a:latin typeface="汉仪文黑-55W" pitchFamily="18" charset="-122"/>
              <a:ea typeface="汉仪文黑-55W" pitchFamily="18" charset="-122"/>
            </a:endParaRPr>
          </a:p>
        </p:txBody>
      </p:sp>
      <p:graphicFrame>
        <p:nvGraphicFramePr>
          <p:cNvPr id="3" name="表格 2" descr="BDCONTENTCONTROL_b2e4b1cb-113f-470a-982f-17156fa86572" title="自我介绍"/>
          <p:cNvGraphicFramePr>
            <a:graphicFrameLocks noGrp="1"/>
          </p:cNvGraphicFramePr>
          <p:nvPr/>
        </p:nvGraphicFramePr>
        <p:xfrm>
          <a:off x="1923715" y="1614542"/>
          <a:ext cx="8860854" cy="1554480"/>
        </p:xfrm>
        <a:graphic>
          <a:graphicData uri="http://schemas.openxmlformats.org/drawingml/2006/table">
            <a:tbl>
              <a:tblPr firstRow="1" bandRow="1">
                <a:tableStyleId>{5C22544A-7EE6-4342-B048-85BDC9FD1C3A}</a:tableStyleId>
              </a:tblPr>
              <a:tblGrid>
                <a:gridCol w="8860854">
                  <a:extLst>
                    <a:ext uri="{9D8B030D-6E8A-4147-A177-3AD203B41FA5}">
                      <a16:colId xmlns:a16="http://schemas.microsoft.com/office/drawing/2014/main" val="20000"/>
                    </a:ext>
                  </a:extLst>
                </a:gridCol>
              </a:tblGrid>
              <a:tr h="483526">
                <a:tc>
                  <a:txBody>
                    <a:bodyPr/>
                    <a:lstStyle>
                      <a:defPPr>
                        <a:defRPr lang="zh-CN" b="1">
                          <a:solidFill>
                            <a:schemeClr val="lt1"/>
                          </a:solidFill>
                        </a:defRPr>
                      </a:defPPr>
                      <a:lvl1pPr marL="0" algn="l" defTabSz="914400" rtl="0" eaLnBrk="1" latinLnBrk="0" hangingPunct="1">
                        <a:defRPr sz="1800" b="1" kern="1200">
                          <a:solidFill>
                            <a:schemeClr val="lt1"/>
                          </a:solidFill>
                          <a:latin typeface="+mn-lt"/>
                          <a:ea typeface="+mn-ea"/>
                          <a:cs typeface="+mn-cs"/>
                        </a:defRPr>
                      </a:lvl1pPr>
                      <a:lvl2pPr marL="457200" algn="l" defTabSz="914400" rtl="0" eaLnBrk="1" latinLnBrk="0" hangingPunct="1">
                        <a:defRPr sz="1800" b="1" kern="1200">
                          <a:solidFill>
                            <a:schemeClr val="lt1"/>
                          </a:solidFill>
                          <a:latin typeface="+mn-lt"/>
                          <a:ea typeface="+mn-ea"/>
                          <a:cs typeface="+mn-cs"/>
                        </a:defRPr>
                      </a:lvl2pPr>
                      <a:lvl3pPr marL="914400" algn="l" defTabSz="914400" rtl="0" eaLnBrk="1" latinLnBrk="0" hangingPunct="1">
                        <a:defRPr sz="1800" b="1" kern="1200">
                          <a:solidFill>
                            <a:schemeClr val="lt1"/>
                          </a:solidFill>
                          <a:latin typeface="+mn-lt"/>
                          <a:ea typeface="+mn-ea"/>
                          <a:cs typeface="+mn-cs"/>
                        </a:defRPr>
                      </a:lvl3pPr>
                      <a:lvl4pPr marL="1371600" algn="l" defTabSz="914400" rtl="0" eaLnBrk="1" latinLnBrk="0" hangingPunct="1">
                        <a:defRPr sz="1800" b="1" kern="1200">
                          <a:solidFill>
                            <a:schemeClr val="lt1"/>
                          </a:solidFill>
                          <a:latin typeface="+mn-lt"/>
                          <a:ea typeface="+mn-ea"/>
                          <a:cs typeface="+mn-cs"/>
                        </a:defRPr>
                      </a:lvl4pPr>
                      <a:lvl5pPr marL="1828800" algn="l" defTabSz="914400" rtl="0" eaLnBrk="1" latinLnBrk="0" hangingPunct="1">
                        <a:defRPr sz="1800" b="1" kern="1200">
                          <a:solidFill>
                            <a:schemeClr val="lt1"/>
                          </a:solidFill>
                          <a:latin typeface="+mn-lt"/>
                          <a:ea typeface="+mn-ea"/>
                          <a:cs typeface="+mn-cs"/>
                        </a:defRPr>
                      </a:lvl5pPr>
                      <a:lvl6pPr marL="2286000" algn="l" defTabSz="914400" rtl="0" eaLnBrk="1" latinLnBrk="0" hangingPunct="1">
                        <a:defRPr sz="1800" b="1" kern="1200">
                          <a:solidFill>
                            <a:schemeClr val="lt1"/>
                          </a:solidFill>
                          <a:latin typeface="+mn-lt"/>
                          <a:ea typeface="+mn-ea"/>
                          <a:cs typeface="+mn-cs"/>
                        </a:defRPr>
                      </a:lvl6pPr>
                      <a:lvl7pPr marL="2743200" algn="l" defTabSz="914400" rtl="0" eaLnBrk="1" latinLnBrk="0" hangingPunct="1">
                        <a:defRPr sz="1800" b="1" kern="1200">
                          <a:solidFill>
                            <a:schemeClr val="lt1"/>
                          </a:solidFill>
                          <a:latin typeface="+mn-lt"/>
                          <a:ea typeface="+mn-ea"/>
                          <a:cs typeface="+mn-cs"/>
                        </a:defRPr>
                      </a:lvl7pPr>
                      <a:lvl8pPr marL="3200400" algn="l" defTabSz="914400" rtl="0" eaLnBrk="1" latinLnBrk="0" hangingPunct="1">
                        <a:defRPr sz="1800" b="1" kern="1200">
                          <a:solidFill>
                            <a:schemeClr val="lt1"/>
                          </a:solidFill>
                          <a:latin typeface="+mn-lt"/>
                          <a:ea typeface="+mn-ea"/>
                          <a:cs typeface="+mn-cs"/>
                        </a:defRPr>
                      </a:lvl8pPr>
                      <a:lvl9pPr marL="3657600" algn="l" defTabSz="914400" rtl="0" eaLnBrk="1" latinLnBrk="0" hangingPunct="1">
                        <a:defRPr sz="1800" b="1" kern="1200">
                          <a:solidFill>
                            <a:schemeClr val="lt1"/>
                          </a:solidFill>
                          <a:latin typeface="+mn-lt"/>
                          <a:ea typeface="+mn-ea"/>
                          <a:cs typeface="+mn-cs"/>
                        </a:defRPr>
                      </a:lvl9pPr>
                    </a:lstStyle>
                    <a:p>
                      <a:r>
                        <a:rPr lang="zh-CN" altLang="en-US" b="0" baseline="0" dirty="0">
                          <a:solidFill>
                            <a:schemeClr val="tx1">
                              <a:lumMod val="75000"/>
                              <a:lumOff val="25000"/>
                            </a:schemeClr>
                          </a:solidFill>
                          <a:latin typeface="汉仪文黑-55W" pitchFamily="18" charset="-122"/>
                          <a:ea typeface="汉仪文黑-55W" pitchFamily="18" charset="-122"/>
                        </a:rPr>
                        <a:t>胡博新：药学专业硕士，</a:t>
                      </a:r>
                      <a:r>
                        <a:rPr lang="en-US" altLang="zh-CN" b="0" baseline="0" dirty="0">
                          <a:solidFill>
                            <a:schemeClr val="tx1">
                              <a:lumMod val="75000"/>
                              <a:lumOff val="25000"/>
                            </a:schemeClr>
                          </a:solidFill>
                          <a:latin typeface="汉仪文黑-55W" pitchFamily="18" charset="-122"/>
                          <a:ea typeface="汉仪文黑-55W" pitchFamily="18" charset="-122"/>
                        </a:rPr>
                        <a:t>10 </a:t>
                      </a:r>
                      <a:r>
                        <a:rPr lang="zh-CN" altLang="en-US" b="0" baseline="0" dirty="0">
                          <a:solidFill>
                            <a:schemeClr val="tx1">
                              <a:lumMod val="75000"/>
                              <a:lumOff val="25000"/>
                            </a:schemeClr>
                          </a:solidFill>
                          <a:latin typeface="汉仪文黑-55W" pitchFamily="18" charset="-122"/>
                          <a:ea typeface="汉仪文黑-55W" pitchFamily="18" charset="-122"/>
                        </a:rPr>
                        <a:t>年证券行业医药研究经验，曾在医药新财富团队担任核心成员。对原料药、医疗器械、血液制品行业有长期跟踪经验。</a:t>
                      </a:r>
                      <a:endParaRPr lang="en-US" altLang="zh-CN" b="0" baseline="0" dirty="0">
                        <a:solidFill>
                          <a:schemeClr val="tx1">
                            <a:lumMod val="75000"/>
                            <a:lumOff val="25000"/>
                          </a:schemeClr>
                        </a:solidFill>
                        <a:latin typeface="汉仪文黑-55W" pitchFamily="18" charset="-122"/>
                        <a:ea typeface="汉仪文黑-55W" pitchFamily="18" charset="-122"/>
                      </a:endParaRPr>
                    </a:p>
                    <a:p>
                      <a:endParaRPr lang="zh-CN" altLang="en-US" b="0" baseline="0" dirty="0">
                        <a:solidFill>
                          <a:schemeClr val="tx1">
                            <a:lumMod val="75000"/>
                            <a:lumOff val="25000"/>
                          </a:schemeClr>
                        </a:solidFill>
                        <a:latin typeface="汉仪文黑-55W" pitchFamily="18" charset="-122"/>
                        <a:ea typeface="汉仪文黑-55W" pitchFamily="18"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93693">
                <a:tc>
                  <a:txBody>
                    <a:bodyP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zh-CN" altLang="en-US" b="0" baseline="0" dirty="0">
                          <a:solidFill>
                            <a:schemeClr val="tx1">
                              <a:lumMod val="75000"/>
                              <a:lumOff val="25000"/>
                            </a:schemeClr>
                          </a:solidFill>
                          <a:latin typeface="汉仪文黑-55W" pitchFamily="18" charset="-122"/>
                          <a:ea typeface="汉仪文黑-55W" pitchFamily="18" charset="-122"/>
                        </a:rPr>
                        <a:t>吴景欢：中国疾病预防控制中心博士、副研究员，研究方向为疫苗、血制品、创新药，</a:t>
                      </a:r>
                      <a:r>
                        <a:rPr lang="en-US" altLang="zh-CN" b="0" baseline="0" dirty="0">
                          <a:solidFill>
                            <a:schemeClr val="tx1">
                              <a:lumMod val="75000"/>
                              <a:lumOff val="25000"/>
                            </a:schemeClr>
                          </a:solidFill>
                          <a:latin typeface="汉仪文黑-55W" pitchFamily="18" charset="-122"/>
                          <a:ea typeface="汉仪文黑-55W" pitchFamily="18" charset="-122"/>
                        </a:rPr>
                        <a:t>7</a:t>
                      </a:r>
                      <a:r>
                        <a:rPr lang="zh-CN" altLang="en-US" b="0" baseline="0" dirty="0">
                          <a:solidFill>
                            <a:schemeClr val="tx1">
                              <a:lumMod val="75000"/>
                              <a:lumOff val="25000"/>
                            </a:schemeClr>
                          </a:solidFill>
                          <a:latin typeface="汉仪文黑-55W" pitchFamily="18" charset="-122"/>
                          <a:ea typeface="汉仪文黑-55W" pitchFamily="18" charset="-122"/>
                        </a:rPr>
                        <a:t>年的生物类科研实体经验，</a:t>
                      </a:r>
                      <a:r>
                        <a:rPr lang="en-US" altLang="zh-CN" b="0" baseline="0" dirty="0">
                          <a:solidFill>
                            <a:schemeClr val="tx1">
                              <a:lumMod val="75000"/>
                              <a:lumOff val="25000"/>
                            </a:schemeClr>
                          </a:solidFill>
                          <a:latin typeface="汉仪文黑-55W" pitchFamily="18" charset="-122"/>
                          <a:ea typeface="汉仪文黑-55W" pitchFamily="18" charset="-122"/>
                        </a:rPr>
                        <a:t>3</a:t>
                      </a:r>
                      <a:r>
                        <a:rPr lang="zh-CN" altLang="en-US" b="0" baseline="0" dirty="0">
                          <a:solidFill>
                            <a:schemeClr val="tx1">
                              <a:lumMod val="75000"/>
                              <a:lumOff val="25000"/>
                            </a:schemeClr>
                          </a:solidFill>
                          <a:latin typeface="汉仪文黑-55W" pitchFamily="18" charset="-122"/>
                          <a:ea typeface="汉仪文黑-55W" pitchFamily="18" charset="-122"/>
                        </a:rPr>
                        <a:t>年医药行业研究经验。</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5" name="文本框 4"/>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诚信、专业、稳健、高效</a:t>
            </a:r>
          </a:p>
        </p:txBody>
      </p:sp>
      <p:sp>
        <p:nvSpPr>
          <p:cNvPr id="6" name="文本框 5"/>
          <p:cNvSpPr txBox="1"/>
          <p:nvPr/>
        </p:nvSpPr>
        <p:spPr>
          <a:xfrm>
            <a:off x="8573450" y="6588000"/>
            <a:ext cx="252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请阅读最后一页重要免责声明</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2"/>
          <p:cNvSpPr txBox="1"/>
          <p:nvPr/>
        </p:nvSpPr>
        <p:spPr>
          <a:xfrm>
            <a:off x="360000" y="1207551"/>
            <a:ext cx="8063865" cy="468630"/>
          </a:xfrm>
          <a:prstGeom prst="rect">
            <a:avLst/>
          </a:prstGeom>
          <a:noFill/>
        </p:spPr>
        <p:txBody>
          <a:bodyPr wrap="square" lIns="0" tIns="34290" rIns="0" bIns="34290" rtlCol="0">
            <a:spAutoFit/>
          </a:bodyPr>
          <a:lstStyle/>
          <a:p>
            <a:pPr algn="just" fontAlgn="auto">
              <a:lnSpc>
                <a:spcPct val="130000"/>
              </a:lnSpc>
              <a:spcAft>
                <a:spcPts val="400"/>
              </a:spcAft>
              <a:tabLst>
                <a:tab pos="200025" algn="l"/>
              </a:tabLst>
            </a:pPr>
            <a:r>
              <a:rPr sz="1000" kern="100" dirty="0">
                <a:solidFill>
                  <a:schemeClr val="tx1">
                    <a:lumMod val="75000"/>
                    <a:lumOff val="25000"/>
                  </a:schemeClr>
                </a:solidFill>
                <a:latin typeface="汉仪文黑-55W" pitchFamily="18" charset="-122"/>
                <a:ea typeface="汉仪文黑-55W" pitchFamily="18" charset="-122"/>
                <a:cs typeface="思源黑体 CN Medium" panose="020B0600000000000000" pitchFamily="34" charset="-122"/>
                <a:sym typeface="+mn-lt"/>
              </a:rPr>
              <a:t>本报告署名分析师具有中国证券业协会授予的证券投资咨询执业资格并注册为证券分析师，以勤勉的职业态度，独立、客观地出具本报告。本报告清晰准确地反映了本人的研究观点。本人不曾因，不因，也将不会因本报告中的具体推荐意见或观点而直接或间接收到任何形式的补偿。</a:t>
            </a:r>
          </a:p>
        </p:txBody>
      </p:sp>
      <p:cxnSp>
        <p:nvCxnSpPr>
          <p:cNvPr id="3" name="直接连接符 2"/>
          <p:cNvCxnSpPr/>
          <p:nvPr/>
        </p:nvCxnSpPr>
        <p:spPr>
          <a:xfrm>
            <a:off x="360000" y="1062551"/>
            <a:ext cx="8028000" cy="0"/>
          </a:xfrm>
          <a:prstGeom prst="line">
            <a:avLst/>
          </a:prstGeom>
          <a:ln w="9525">
            <a:solidFill>
              <a:srgbClr val="46255D"/>
            </a:soli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60000" y="718136"/>
            <a:ext cx="1660525" cy="337185"/>
          </a:xfrm>
          <a:prstGeom prst="rect">
            <a:avLst/>
          </a:prstGeom>
          <a:noFill/>
        </p:spPr>
        <p:txBody>
          <a:bodyPr wrap="square" lIns="0" rtlCol="0">
            <a:spAutoFit/>
          </a:bodyPr>
          <a:lstStyle/>
          <a:p>
            <a:r>
              <a:rPr lang="zh-CN" altLang="en-US" sz="1600" b="1" dirty="0">
                <a:solidFill>
                  <a:srgbClr val="46255D"/>
                </a:solidFill>
                <a:latin typeface="汉仪文黑-55W" pitchFamily="18" charset="-122"/>
                <a:ea typeface="汉仪文黑-55W" pitchFamily="18" charset="-122"/>
              </a:rPr>
              <a:t>证券分析师承诺</a:t>
            </a:r>
          </a:p>
        </p:txBody>
      </p:sp>
      <p:sp>
        <p:nvSpPr>
          <p:cNvPr id="5" name="TextBox 2"/>
          <p:cNvSpPr txBox="1"/>
          <p:nvPr/>
        </p:nvSpPr>
        <p:spPr>
          <a:xfrm>
            <a:off x="8897620" y="1080135"/>
            <a:ext cx="2792730" cy="322652"/>
          </a:xfrm>
          <a:prstGeom prst="rect">
            <a:avLst/>
          </a:prstGeom>
          <a:noFill/>
        </p:spPr>
        <p:txBody>
          <a:bodyPr wrap="square" lIns="0" tIns="34290" rIns="0" bIns="34290" rtlCol="0">
            <a:spAutoFit/>
          </a:bodyPr>
          <a:lstStyle/>
          <a:p>
            <a:pPr lvl="0" algn="just" fontAlgn="auto">
              <a:lnSpc>
                <a:spcPct val="150000"/>
              </a:lnSpc>
              <a:spcAft>
                <a:spcPts val="700"/>
              </a:spcAft>
              <a:buClrTx/>
              <a:buSzTx/>
              <a:buFontTx/>
              <a:tabLst>
                <a:tab pos="200025" algn="l"/>
              </a:tabLst>
            </a:pPr>
            <a:r>
              <a:rPr lang="zh-CN" altLang="en-US" sz="1200" kern="100" dirty="0">
                <a:solidFill>
                  <a:schemeClr val="tx1">
                    <a:lumMod val="75000"/>
                    <a:lumOff val="25000"/>
                  </a:schemeClr>
                </a:solidFill>
                <a:latin typeface="汉仪文黑-55W" pitchFamily="18" charset="-122"/>
                <a:ea typeface="汉仪文黑-55W" pitchFamily="18" charset="-122"/>
                <a:cs typeface="思源黑体 CN Medium" panose="020B0600000000000000" pitchFamily="34" charset="-122"/>
                <a:sym typeface="+mn-lt"/>
              </a:rPr>
              <a:t>股票投资评级说明：</a:t>
            </a:r>
          </a:p>
        </p:txBody>
      </p:sp>
      <p:cxnSp>
        <p:nvCxnSpPr>
          <p:cNvPr id="6" name="直接连接符 5"/>
          <p:cNvCxnSpPr/>
          <p:nvPr/>
        </p:nvCxnSpPr>
        <p:spPr>
          <a:xfrm>
            <a:off x="8874125" y="1052195"/>
            <a:ext cx="2816860" cy="0"/>
          </a:xfrm>
          <a:prstGeom prst="line">
            <a:avLst/>
          </a:prstGeom>
          <a:ln w="9525">
            <a:solidFill>
              <a:srgbClr val="46255D"/>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8896985" y="713740"/>
            <a:ext cx="1922145" cy="337185"/>
          </a:xfrm>
          <a:prstGeom prst="rect">
            <a:avLst/>
          </a:prstGeom>
          <a:noFill/>
        </p:spPr>
        <p:txBody>
          <a:bodyPr wrap="square" lIns="0" rtlCol="0">
            <a:spAutoFit/>
          </a:bodyPr>
          <a:lstStyle/>
          <a:p>
            <a:r>
              <a:rPr lang="zh-CN" altLang="en-US" sz="1600" b="1">
                <a:solidFill>
                  <a:srgbClr val="46255D"/>
                </a:solidFill>
                <a:latin typeface="汉仪文黑-55W" pitchFamily="18" charset="-122"/>
                <a:ea typeface="汉仪文黑-55W" pitchFamily="18" charset="-122"/>
                <a:sym typeface="+mn-ea"/>
              </a:rPr>
              <a:t>证券投资评级说明</a:t>
            </a:r>
            <a:endParaRPr lang="zh-CN" altLang="en-US" sz="1600" b="1">
              <a:solidFill>
                <a:srgbClr val="46255D"/>
              </a:solidFill>
              <a:latin typeface="汉仪文黑-55W" pitchFamily="18" charset="-122"/>
              <a:ea typeface="汉仪文黑-55W" pitchFamily="18" charset="-122"/>
            </a:endParaRPr>
          </a:p>
        </p:txBody>
      </p:sp>
      <p:sp>
        <p:nvSpPr>
          <p:cNvPr id="18" name="灯片编号占位符 17"/>
          <p:cNvSpPr>
            <a:spLocks noGrp="1"/>
          </p:cNvSpPr>
          <p:nvPr>
            <p:ph type="sldNum" sz="quarter" idx="12"/>
          </p:nvPr>
        </p:nvSpPr>
        <p:spPr/>
        <p:txBody>
          <a:bodyPr/>
          <a:lstStyle/>
          <a:p>
            <a:pPr algn="ctr"/>
            <a:r>
              <a:rPr lang="en-US" altLang="zh-CN" b="1" dirty="0">
                <a:solidFill>
                  <a:schemeClr val="bg1">
                    <a:lumMod val="85000"/>
                  </a:schemeClr>
                </a:solidFill>
                <a:latin typeface="汉仪文黑-55W" pitchFamily="18" charset="-122"/>
                <a:ea typeface="汉仪文黑-55W" pitchFamily="18" charset="-122"/>
                <a:sym typeface="+mn-ea"/>
              </a:rPr>
              <a:t>32</a:t>
            </a:r>
          </a:p>
        </p:txBody>
      </p:sp>
      <p:sp>
        <p:nvSpPr>
          <p:cNvPr id="8" name="TextBox 2"/>
          <p:cNvSpPr txBox="1"/>
          <p:nvPr/>
        </p:nvSpPr>
        <p:spPr>
          <a:xfrm>
            <a:off x="360000" y="2293200"/>
            <a:ext cx="8063865" cy="2627258"/>
          </a:xfrm>
          <a:prstGeom prst="rect">
            <a:avLst/>
          </a:prstGeom>
          <a:noFill/>
        </p:spPr>
        <p:txBody>
          <a:bodyPr wrap="square" lIns="0" tIns="34290" rIns="0" bIns="34290" rtlCol="0">
            <a:spAutoFit/>
          </a:bodyPr>
          <a:lstStyle/>
          <a:p>
            <a:pPr lvl="0" algn="just" defTabSz="914400" fontAlgn="auto">
              <a:lnSpc>
                <a:spcPct val="110000"/>
              </a:lnSpc>
              <a:spcAft>
                <a:spcPts val="500"/>
              </a:spcAft>
              <a:buClrTx/>
              <a:buSzTx/>
              <a:buFontTx/>
              <a:tabLst>
                <a:tab pos="200025" algn="l"/>
              </a:tabLst>
            </a:pPr>
            <a:r>
              <a:rPr lang="zh-CN" altLang="en-US" sz="1000" kern="100" dirty="0">
                <a:solidFill>
                  <a:schemeClr val="tx1">
                    <a:lumMod val="75000"/>
                    <a:lumOff val="25000"/>
                  </a:schemeClr>
                </a:solidFill>
                <a:latin typeface="汉仪文黑-55W" pitchFamily="18" charset="-122"/>
                <a:ea typeface="汉仪文黑-55W" pitchFamily="18" charset="-122"/>
                <a:cs typeface="思源黑体 CN Medium" panose="020B0600000000000000" pitchFamily="34" charset="-122"/>
                <a:sym typeface="+mn-lt"/>
              </a:rPr>
              <a:t>华鑫证券有限责任公司（以下简称“华鑫证券”）具有中国证监会核准的证券投资咨询业务资格。本报告由华鑫证券制作，仅供华鑫证券的客户使用。本公司不会因接收人收到本报告而视其为客户。</a:t>
            </a:r>
          </a:p>
          <a:p>
            <a:pPr lvl="0" algn="just" defTabSz="914400" fontAlgn="auto">
              <a:lnSpc>
                <a:spcPct val="110000"/>
              </a:lnSpc>
              <a:spcAft>
                <a:spcPts val="500"/>
              </a:spcAft>
              <a:buClrTx/>
              <a:buSzTx/>
              <a:buFontTx/>
              <a:tabLst>
                <a:tab pos="200025" algn="l"/>
              </a:tabLst>
            </a:pPr>
            <a:r>
              <a:rPr lang="zh-CN" altLang="en-US" sz="1000" kern="100" dirty="0">
                <a:solidFill>
                  <a:schemeClr val="tx1">
                    <a:lumMod val="75000"/>
                    <a:lumOff val="25000"/>
                  </a:schemeClr>
                </a:solidFill>
                <a:latin typeface="汉仪文黑-55W" pitchFamily="18" charset="-122"/>
                <a:ea typeface="汉仪文黑-55W" pitchFamily="18" charset="-122"/>
                <a:cs typeface="思源黑体 CN Medium" panose="020B0600000000000000" pitchFamily="34" charset="-122"/>
                <a:sym typeface="+mn-lt"/>
              </a:rPr>
              <a:t>本报告中的信息均来源于公开资料，华鑫证券研究部门及相关研究人员力求准确可靠，但对这些信息的准确性及完整性不作任何保证。我们已力求报告内容客观、公正，但报告中的信息与所表达的观点不构成所述证券买卖的出价或询价的依据，该等信息、意见并未考虑到获取本报告人员的具体投资目的、财务状况以及特定需求，在任何时候均不构成对任何人的个人推荐。投资者应当对本报告中的信息和意见进行独立评估，并应同时结合各自的投资目的、财务状况和特定需求，必要时就财务、法律、商业、税收等方面咨询专业顾问的意见。对依据或者使用本报告所造成的一切后果，华鑫证券及/或其关联人员均不承担任何法律责任。本公司或关联机构可能会持有报告中所提到的公司所发行的证券头寸并进行交易，还可能为这些公司提供或争取提供投资银行、财务顾问或者金融产品等服务。本公司在知晓范围内依法合规地履行披露。</a:t>
            </a:r>
          </a:p>
          <a:p>
            <a:pPr lvl="0" algn="just" defTabSz="914400" fontAlgn="auto">
              <a:lnSpc>
                <a:spcPct val="110000"/>
              </a:lnSpc>
              <a:spcAft>
                <a:spcPts val="500"/>
              </a:spcAft>
              <a:buClrTx/>
              <a:buSzTx/>
              <a:buFontTx/>
              <a:tabLst>
                <a:tab pos="200025" algn="l"/>
              </a:tabLst>
            </a:pPr>
            <a:r>
              <a:rPr lang="zh-CN" altLang="en-US" sz="1000" kern="100" dirty="0">
                <a:solidFill>
                  <a:schemeClr val="tx1">
                    <a:lumMod val="75000"/>
                    <a:lumOff val="25000"/>
                  </a:schemeClr>
                </a:solidFill>
                <a:latin typeface="汉仪文黑-55W" pitchFamily="18" charset="-122"/>
                <a:ea typeface="汉仪文黑-55W" pitchFamily="18" charset="-122"/>
                <a:cs typeface="思源黑体 CN Medium" panose="020B0600000000000000" pitchFamily="34" charset="-122"/>
                <a:sym typeface="+mn-lt"/>
              </a:rPr>
              <a:t>本报告中的资料、意见、预测均只反映报告初次发布时的判断，可能会随时调整。该等意见、评估及预测无需通知即可随时更改。在不同时期，华鑫证券可能会发出与本报告所载意见、评估及预测不一致的研究报告。华鑫证券没有将此意见及建议向报告所有接收者进行更新的义务。</a:t>
            </a:r>
          </a:p>
          <a:p>
            <a:pPr lvl="0" algn="just" defTabSz="914400" fontAlgn="auto">
              <a:lnSpc>
                <a:spcPct val="110000"/>
              </a:lnSpc>
              <a:spcAft>
                <a:spcPts val="500"/>
              </a:spcAft>
              <a:buClrTx/>
              <a:buSzTx/>
              <a:buFontTx/>
              <a:tabLst>
                <a:tab pos="200025" algn="l"/>
              </a:tabLst>
            </a:pPr>
            <a:r>
              <a:rPr lang="zh-CN" altLang="en-US" sz="1000" kern="100" dirty="0">
                <a:solidFill>
                  <a:schemeClr val="tx1">
                    <a:lumMod val="75000"/>
                    <a:lumOff val="25000"/>
                  </a:schemeClr>
                </a:solidFill>
                <a:latin typeface="汉仪文黑-55W" pitchFamily="18" charset="-122"/>
                <a:ea typeface="汉仪文黑-55W" pitchFamily="18" charset="-122"/>
                <a:cs typeface="思源黑体 CN Medium" panose="020B0600000000000000" pitchFamily="34" charset="-122"/>
                <a:sym typeface="+mn-lt"/>
              </a:rPr>
              <a:t>本报告版权仅为华鑫证券所有，未经华鑫证券书面授权，任何机构和个人不得以任何形式刊载、翻版、复制、发布、转发或引用本报告的任何部分。若华鑫证券以外的机构向其客户发放本报告，则由该机构独自为此发送行为负责，华鑫证券对此等行为不承担任何责任。本报告同时不构成华鑫证券向发送本报告的机构之客户提供的投资建议。如未经华鑫证券授权，私自转载或者转发本报告，所引起的一切后果及法律责任由私自转载或转发者承担。华鑫证券将保留随时追究其法律责任的权利。请投资者慎重使用未经授权刊载或者转发的华鑫证券研究报告。</a:t>
            </a:r>
          </a:p>
        </p:txBody>
      </p:sp>
      <p:cxnSp>
        <p:nvCxnSpPr>
          <p:cNvPr id="11" name="直接连接符 10"/>
          <p:cNvCxnSpPr/>
          <p:nvPr/>
        </p:nvCxnSpPr>
        <p:spPr>
          <a:xfrm>
            <a:off x="360000" y="2150594"/>
            <a:ext cx="8028000" cy="0"/>
          </a:xfrm>
          <a:prstGeom prst="line">
            <a:avLst/>
          </a:prstGeom>
          <a:ln w="9525">
            <a:solidFill>
              <a:srgbClr val="46255D"/>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360000" y="1825200"/>
            <a:ext cx="2122170" cy="337185"/>
          </a:xfrm>
          <a:prstGeom prst="rect">
            <a:avLst/>
          </a:prstGeom>
          <a:noFill/>
        </p:spPr>
        <p:txBody>
          <a:bodyPr wrap="square" lIns="0" rtlCol="0">
            <a:spAutoFit/>
          </a:bodyPr>
          <a:lstStyle/>
          <a:p>
            <a:r>
              <a:rPr lang="zh-CN" altLang="en-US" sz="1600" b="1" dirty="0">
                <a:solidFill>
                  <a:srgbClr val="46255D"/>
                </a:solidFill>
                <a:latin typeface="汉仪文黑-55W" pitchFamily="18" charset="-122"/>
                <a:ea typeface="汉仪文黑-55W" pitchFamily="18" charset="-122"/>
              </a:rPr>
              <a:t>免责条款</a:t>
            </a:r>
          </a:p>
        </p:txBody>
      </p:sp>
      <p:sp>
        <p:nvSpPr>
          <p:cNvPr id="19" name="TextBox 2"/>
          <p:cNvSpPr txBox="1"/>
          <p:nvPr/>
        </p:nvSpPr>
        <p:spPr>
          <a:xfrm>
            <a:off x="8897620" y="4597400"/>
            <a:ext cx="2793365" cy="1558290"/>
          </a:xfrm>
          <a:prstGeom prst="rect">
            <a:avLst/>
          </a:prstGeom>
          <a:noFill/>
        </p:spPr>
        <p:txBody>
          <a:bodyPr wrap="square" lIns="0" tIns="34290" rIns="0" bIns="34290" rtlCol="0">
            <a:spAutoFit/>
          </a:bodyPr>
          <a:lstStyle/>
          <a:p>
            <a:pPr lvl="0" algn="just" defTabSz="914400" fontAlgn="auto">
              <a:lnSpc>
                <a:spcPct val="130000"/>
              </a:lnSpc>
              <a:spcAft>
                <a:spcPts val="700"/>
              </a:spcAft>
              <a:buClrTx/>
              <a:buSzTx/>
              <a:buFontTx/>
              <a:tabLst>
                <a:tab pos="200025" algn="l"/>
              </a:tabLst>
            </a:pPr>
            <a:r>
              <a:rPr lang="zh-CN" altLang="en-US" sz="1000" kern="100" dirty="0">
                <a:solidFill>
                  <a:schemeClr val="tx1">
                    <a:lumMod val="75000"/>
                    <a:lumOff val="25000"/>
                  </a:schemeClr>
                </a:solidFill>
                <a:latin typeface="汉仪文黑-55W" pitchFamily="18" charset="-122"/>
                <a:ea typeface="汉仪文黑-55W" pitchFamily="18" charset="-122"/>
                <a:cs typeface="思源黑体 CN Medium" panose="020B0600000000000000" pitchFamily="34" charset="-122"/>
                <a:sym typeface="+mn-lt"/>
              </a:rPr>
              <a:t>以报告日后的12个月内，预测个股或行业指数相对于相关证券市场主要指数的涨跌幅为标准。</a:t>
            </a:r>
          </a:p>
          <a:p>
            <a:pPr lvl="0" algn="just" defTabSz="914400" fontAlgn="auto">
              <a:lnSpc>
                <a:spcPct val="130000"/>
              </a:lnSpc>
              <a:spcAft>
                <a:spcPts val="700"/>
              </a:spcAft>
              <a:buClrTx/>
              <a:buSzTx/>
              <a:buFontTx/>
              <a:tabLst>
                <a:tab pos="200025" algn="l"/>
              </a:tabLst>
            </a:pPr>
            <a:r>
              <a:rPr lang="zh-CN" altLang="en-US" sz="1000" b="1" kern="100" dirty="0">
                <a:solidFill>
                  <a:schemeClr val="tx1">
                    <a:lumMod val="75000"/>
                    <a:lumOff val="25000"/>
                  </a:schemeClr>
                </a:solidFill>
                <a:latin typeface="汉仪文黑-55W" pitchFamily="18" charset="-122"/>
                <a:ea typeface="汉仪文黑-55W" pitchFamily="18" charset="-122"/>
                <a:cs typeface="思源黑体 CN Medium" panose="020B0600000000000000" pitchFamily="34" charset="-122"/>
                <a:sym typeface="+mn-lt"/>
              </a:rPr>
              <a:t>相关证券市场代表性指数说明：</a:t>
            </a:r>
            <a:r>
              <a:rPr lang="zh-CN" altLang="en-US" sz="1000" kern="100" dirty="0">
                <a:solidFill>
                  <a:schemeClr val="tx1">
                    <a:lumMod val="75000"/>
                    <a:lumOff val="25000"/>
                  </a:schemeClr>
                </a:solidFill>
                <a:latin typeface="汉仪文黑-55W" pitchFamily="18" charset="-122"/>
                <a:ea typeface="汉仪文黑-55W" pitchFamily="18" charset="-122"/>
                <a:cs typeface="思源黑体 CN Medium" panose="020B0600000000000000" pitchFamily="34" charset="-122"/>
                <a:sym typeface="+mn-lt"/>
              </a:rPr>
              <a:t>A股市场以沪深300指数为基准；新三板市场以三板成指（针对协议转让标的）或三板做市指数（针对做市转让标的）为基准；香港市场以恒生指数为基准；美国市场以道琼斯指数为基准。</a:t>
            </a:r>
          </a:p>
        </p:txBody>
      </p:sp>
      <p:graphicFrame>
        <p:nvGraphicFramePr>
          <p:cNvPr id="21" name="表格 20"/>
          <p:cNvGraphicFramePr/>
          <p:nvPr/>
        </p:nvGraphicFramePr>
        <p:xfrm>
          <a:off x="8897620" y="1440815"/>
          <a:ext cx="2790585" cy="1515600"/>
        </p:xfrm>
        <a:graphic>
          <a:graphicData uri="http://schemas.openxmlformats.org/drawingml/2006/table">
            <a:tbl>
              <a:tblPr firstRow="1" bandRow="1">
                <a:tableStyleId>{5C22544A-7EE6-4342-B048-85BDC9FD1C3A}</a:tableStyleId>
              </a:tblPr>
              <a:tblGrid>
                <a:gridCol w="396000">
                  <a:extLst>
                    <a:ext uri="{9D8B030D-6E8A-4147-A177-3AD203B41FA5}">
                      <a16:colId xmlns:a16="http://schemas.microsoft.com/office/drawing/2014/main" val="20000"/>
                    </a:ext>
                  </a:extLst>
                </a:gridCol>
                <a:gridCol w="859790">
                  <a:extLst>
                    <a:ext uri="{9D8B030D-6E8A-4147-A177-3AD203B41FA5}">
                      <a16:colId xmlns:a16="http://schemas.microsoft.com/office/drawing/2014/main" val="20001"/>
                    </a:ext>
                  </a:extLst>
                </a:gridCol>
                <a:gridCol w="1534795">
                  <a:extLst>
                    <a:ext uri="{9D8B030D-6E8A-4147-A177-3AD203B41FA5}">
                      <a16:colId xmlns:a16="http://schemas.microsoft.com/office/drawing/2014/main" val="20002"/>
                    </a:ext>
                  </a:extLst>
                </a:gridCol>
              </a:tblGrid>
              <a:tr h="363600">
                <a:tc>
                  <a:txBody>
                    <a:bodyPr/>
                    <a:lstStyle/>
                    <a:p>
                      <a:pPr algn="ctr" fontAlgn="auto">
                        <a:lnSpc>
                          <a:spcPct val="50000"/>
                        </a:lnSpc>
                        <a:buNone/>
                      </a:pPr>
                      <a:endParaRPr lang="zh-CN" altLang="en-US" sz="1400" baseline="-25000">
                        <a:solidFill>
                          <a:srgbClr val="46255D"/>
                        </a:solidFill>
                        <a:latin typeface="汉仪文黑-55W" pitchFamily="18" charset="-122"/>
                        <a:ea typeface="汉仪文黑-55W" pitchFamily="18" charset="-122"/>
                      </a:endParaRPr>
                    </a:p>
                  </a:txBody>
                  <a:tcPr marL="45720" marR="45720" anchor="ctr">
                    <a:lnT w="12700">
                      <a:solidFill>
                        <a:srgbClr val="5A2781"/>
                      </a:solidFill>
                      <a:prstDash val="solid"/>
                    </a:lnT>
                    <a:lnB w="12700">
                      <a:solidFill>
                        <a:srgbClr val="5A2781"/>
                      </a:solidFill>
                      <a:prstDash val="solid"/>
                    </a:lnB>
                    <a:solidFill>
                      <a:srgbClr val="D7CEE1"/>
                    </a:solidFill>
                  </a:tcPr>
                </a:tc>
                <a:tc>
                  <a:txBody>
                    <a:bodyPr/>
                    <a:lstStyle/>
                    <a:p>
                      <a:pPr algn="ctr" fontAlgn="auto">
                        <a:lnSpc>
                          <a:spcPct val="50000"/>
                        </a:lnSpc>
                        <a:buNone/>
                      </a:pPr>
                      <a:r>
                        <a:rPr lang="zh-CN" altLang="en-US" sz="1400" baseline="-25000" dirty="0">
                          <a:solidFill>
                            <a:srgbClr val="46255D"/>
                          </a:solidFill>
                          <a:latin typeface="汉仪文黑-55W" pitchFamily="18" charset="-122"/>
                          <a:ea typeface="汉仪文黑-55W" pitchFamily="18" charset="-122"/>
                        </a:rPr>
                        <a:t>投资建议</a:t>
                      </a:r>
                    </a:p>
                  </a:txBody>
                  <a:tcPr marL="45720" marR="45720" anchor="ctr">
                    <a:lnT w="12700">
                      <a:solidFill>
                        <a:srgbClr val="5A2781"/>
                      </a:solidFill>
                      <a:prstDash val="solid"/>
                    </a:lnT>
                    <a:lnB w="12700">
                      <a:solidFill>
                        <a:srgbClr val="5A2781"/>
                      </a:solidFill>
                      <a:prstDash val="solid"/>
                    </a:lnB>
                    <a:solidFill>
                      <a:srgbClr val="D7CEE1"/>
                    </a:solidFill>
                  </a:tcPr>
                </a:tc>
                <a:tc>
                  <a:txBody>
                    <a:bodyPr/>
                    <a:lstStyle/>
                    <a:p>
                      <a:pPr algn="ctr" fontAlgn="auto">
                        <a:lnSpc>
                          <a:spcPct val="100000"/>
                        </a:lnSpc>
                        <a:buNone/>
                      </a:pPr>
                      <a:r>
                        <a:rPr lang="zh-CN" altLang="en-US" sz="1400" baseline="-25000">
                          <a:solidFill>
                            <a:srgbClr val="46255D"/>
                          </a:solidFill>
                          <a:latin typeface="汉仪文黑-55W" pitchFamily="18" charset="-122"/>
                          <a:ea typeface="汉仪文黑-55W" pitchFamily="18" charset="-122"/>
                        </a:rPr>
                        <a:t>预测个股相对同期证券市场代表性指数涨幅</a:t>
                      </a:r>
                    </a:p>
                  </a:txBody>
                  <a:tcPr marL="45720" marR="45720" marT="0" anchor="ctr">
                    <a:lnT w="12700">
                      <a:solidFill>
                        <a:srgbClr val="5A2781"/>
                      </a:solidFill>
                      <a:prstDash val="solid"/>
                    </a:lnT>
                    <a:lnB w="12700">
                      <a:solidFill>
                        <a:srgbClr val="5A2781"/>
                      </a:solidFill>
                      <a:prstDash val="solid"/>
                    </a:lnB>
                    <a:solidFill>
                      <a:srgbClr val="D7CEE1"/>
                    </a:solidFill>
                  </a:tcPr>
                </a:tc>
                <a:extLst>
                  <a:ext uri="{0D108BD9-81ED-4DB2-BD59-A6C34878D82A}">
                    <a16:rowId xmlns:a16="http://schemas.microsoft.com/office/drawing/2014/main" val="10000"/>
                  </a:ext>
                </a:extLst>
              </a:tr>
              <a:tr h="288000">
                <a:tc>
                  <a:txBody>
                    <a:bodyPr/>
                    <a:lstStyle/>
                    <a:p>
                      <a:pPr algn="ctr" fontAlgn="auto">
                        <a:lnSpc>
                          <a:spcPct val="50000"/>
                        </a:lnSpc>
                        <a:buNone/>
                      </a:pPr>
                      <a:r>
                        <a:rPr lang="en-US" altLang="zh-CN" sz="1600" baseline="-25000">
                          <a:latin typeface="汉仪文黑-55W" pitchFamily="18" charset="-122"/>
                          <a:ea typeface="汉仪文黑-55W" pitchFamily="18" charset="-122"/>
                        </a:rPr>
                        <a:t>1</a:t>
                      </a:r>
                    </a:p>
                  </a:txBody>
                  <a:tcPr marL="45720" marR="45720" anchor="ctr">
                    <a:lnT w="12700">
                      <a:solidFill>
                        <a:srgbClr val="5A2781"/>
                      </a:solidFill>
                      <a:prstDash val="solid"/>
                    </a:lnT>
                    <a:lnB w="12700">
                      <a:solidFill>
                        <a:srgbClr val="5A2781"/>
                      </a:solidFill>
                      <a:prstDash val="solid"/>
                    </a:lnB>
                    <a:noFill/>
                  </a:tcPr>
                </a:tc>
                <a:tc>
                  <a:txBody>
                    <a:bodyPr/>
                    <a:lstStyle/>
                    <a:p>
                      <a:pPr algn="ctr" fontAlgn="auto">
                        <a:lnSpc>
                          <a:spcPct val="50000"/>
                        </a:lnSpc>
                        <a:buNone/>
                      </a:pPr>
                      <a:r>
                        <a:rPr lang="zh-CN" altLang="en-US" sz="1600" baseline="-25000">
                          <a:latin typeface="汉仪文黑-55W" pitchFamily="18" charset="-122"/>
                          <a:ea typeface="汉仪文黑-55W" pitchFamily="18" charset="-122"/>
                        </a:rPr>
                        <a:t>买入</a:t>
                      </a:r>
                    </a:p>
                  </a:txBody>
                  <a:tcPr marL="45720" marR="45720" anchor="ctr">
                    <a:lnT w="12700">
                      <a:solidFill>
                        <a:srgbClr val="5A2781"/>
                      </a:solidFill>
                      <a:prstDash val="solid"/>
                    </a:lnT>
                    <a:lnB w="12700">
                      <a:solidFill>
                        <a:srgbClr val="5A2781"/>
                      </a:solidFill>
                      <a:prstDash val="solid"/>
                    </a:lnB>
                    <a:noFill/>
                  </a:tcPr>
                </a:tc>
                <a:tc>
                  <a:txBody>
                    <a:bodyPr/>
                    <a:lstStyle/>
                    <a:p>
                      <a:pPr algn="ctr" fontAlgn="auto">
                        <a:lnSpc>
                          <a:spcPct val="50000"/>
                        </a:lnSpc>
                        <a:buNone/>
                      </a:pPr>
                      <a:r>
                        <a:rPr lang="en-US" altLang="zh-CN" sz="1600" baseline="-25000">
                          <a:latin typeface="汉仪文黑-55W" pitchFamily="18" charset="-122"/>
                          <a:ea typeface="汉仪文黑-55W" pitchFamily="18" charset="-122"/>
                        </a:rPr>
                        <a:t>&gt;20%</a:t>
                      </a:r>
                    </a:p>
                  </a:txBody>
                  <a:tcPr marL="45720" marR="45720" anchor="ctr">
                    <a:lnT w="12700">
                      <a:solidFill>
                        <a:srgbClr val="5A2781"/>
                      </a:solidFill>
                      <a:prstDash val="solid"/>
                    </a:lnT>
                    <a:lnB w="12700">
                      <a:solidFill>
                        <a:srgbClr val="5A2781"/>
                      </a:solidFill>
                      <a:prstDash val="solid"/>
                    </a:lnB>
                    <a:noFill/>
                  </a:tcPr>
                </a:tc>
                <a:extLst>
                  <a:ext uri="{0D108BD9-81ED-4DB2-BD59-A6C34878D82A}">
                    <a16:rowId xmlns:a16="http://schemas.microsoft.com/office/drawing/2014/main" val="10001"/>
                  </a:ext>
                </a:extLst>
              </a:tr>
              <a:tr h="288000">
                <a:tc>
                  <a:txBody>
                    <a:bodyPr/>
                    <a:lstStyle/>
                    <a:p>
                      <a:pPr algn="ctr" fontAlgn="auto">
                        <a:lnSpc>
                          <a:spcPct val="50000"/>
                        </a:lnSpc>
                        <a:buNone/>
                      </a:pPr>
                      <a:r>
                        <a:rPr lang="en-US" altLang="zh-CN" sz="1600" baseline="-25000">
                          <a:latin typeface="汉仪文黑-55W" pitchFamily="18" charset="-122"/>
                          <a:ea typeface="汉仪文黑-55W" pitchFamily="18" charset="-122"/>
                        </a:rPr>
                        <a:t>2</a:t>
                      </a:r>
                    </a:p>
                  </a:txBody>
                  <a:tcPr marL="45720" marR="45720" anchor="ctr">
                    <a:lnT w="12700">
                      <a:solidFill>
                        <a:srgbClr val="5A2781"/>
                      </a:solidFill>
                      <a:prstDash val="solid"/>
                    </a:lnT>
                    <a:lnB w="12700">
                      <a:solidFill>
                        <a:srgbClr val="5A2781"/>
                      </a:solidFill>
                      <a:prstDash val="solid"/>
                    </a:lnB>
                    <a:noFill/>
                  </a:tcPr>
                </a:tc>
                <a:tc>
                  <a:txBody>
                    <a:bodyPr/>
                    <a:lstStyle/>
                    <a:p>
                      <a:pPr algn="ctr" fontAlgn="auto">
                        <a:lnSpc>
                          <a:spcPct val="50000"/>
                        </a:lnSpc>
                        <a:buNone/>
                      </a:pPr>
                      <a:r>
                        <a:rPr lang="zh-CN" altLang="en-US" sz="1600" baseline="-25000">
                          <a:latin typeface="汉仪文黑-55W" pitchFamily="18" charset="-122"/>
                          <a:ea typeface="汉仪文黑-55W" pitchFamily="18" charset="-122"/>
                        </a:rPr>
                        <a:t>增持</a:t>
                      </a:r>
                    </a:p>
                  </a:txBody>
                  <a:tcPr marL="45720" marR="45720" anchor="ctr">
                    <a:lnT w="12700">
                      <a:solidFill>
                        <a:srgbClr val="5A2781"/>
                      </a:solidFill>
                      <a:prstDash val="solid"/>
                    </a:lnT>
                    <a:lnB w="12700">
                      <a:solidFill>
                        <a:srgbClr val="5A2781"/>
                      </a:solidFill>
                      <a:prstDash val="solid"/>
                    </a:lnB>
                    <a:noFill/>
                  </a:tcPr>
                </a:tc>
                <a:tc>
                  <a:txBody>
                    <a:bodyPr/>
                    <a:lstStyle/>
                    <a:p>
                      <a:pPr algn="ctr" fontAlgn="auto">
                        <a:lnSpc>
                          <a:spcPct val="50000"/>
                        </a:lnSpc>
                        <a:buNone/>
                      </a:pPr>
                      <a:r>
                        <a:rPr lang="en-US" altLang="zh-CN" sz="1600" baseline="-25000">
                          <a:latin typeface="汉仪文黑-55W" pitchFamily="18" charset="-122"/>
                          <a:ea typeface="汉仪文黑-55W" pitchFamily="18" charset="-122"/>
                          <a:sym typeface="+mn-ea"/>
                        </a:rPr>
                        <a:t>10%—20%</a:t>
                      </a:r>
                    </a:p>
                  </a:txBody>
                  <a:tcPr marL="45720" marR="45720" anchor="ctr">
                    <a:lnT w="12700">
                      <a:solidFill>
                        <a:srgbClr val="5A2781"/>
                      </a:solidFill>
                      <a:prstDash val="solid"/>
                    </a:lnT>
                    <a:lnB w="12700">
                      <a:solidFill>
                        <a:srgbClr val="5A2781"/>
                      </a:solidFill>
                      <a:prstDash val="solid"/>
                    </a:lnB>
                    <a:noFill/>
                  </a:tcPr>
                </a:tc>
                <a:extLst>
                  <a:ext uri="{0D108BD9-81ED-4DB2-BD59-A6C34878D82A}">
                    <a16:rowId xmlns:a16="http://schemas.microsoft.com/office/drawing/2014/main" val="10002"/>
                  </a:ext>
                </a:extLst>
              </a:tr>
              <a:tr h="288000">
                <a:tc>
                  <a:txBody>
                    <a:bodyPr/>
                    <a:lstStyle/>
                    <a:p>
                      <a:pPr algn="ctr" fontAlgn="auto">
                        <a:lnSpc>
                          <a:spcPct val="50000"/>
                        </a:lnSpc>
                        <a:buNone/>
                      </a:pPr>
                      <a:r>
                        <a:rPr lang="en-US" altLang="zh-CN" sz="1600" baseline="-25000">
                          <a:latin typeface="汉仪文黑-55W" pitchFamily="18" charset="-122"/>
                          <a:ea typeface="汉仪文黑-55W" pitchFamily="18" charset="-122"/>
                        </a:rPr>
                        <a:t>3</a:t>
                      </a:r>
                    </a:p>
                  </a:txBody>
                  <a:tcPr marL="45720" marR="45720" anchor="ctr">
                    <a:lnT w="12700">
                      <a:solidFill>
                        <a:srgbClr val="5A2781"/>
                      </a:solidFill>
                      <a:prstDash val="solid"/>
                    </a:lnT>
                    <a:lnB w="12700">
                      <a:solidFill>
                        <a:srgbClr val="5A2781"/>
                      </a:solidFill>
                      <a:prstDash val="solid"/>
                    </a:lnB>
                    <a:noFill/>
                  </a:tcPr>
                </a:tc>
                <a:tc>
                  <a:txBody>
                    <a:bodyPr/>
                    <a:lstStyle/>
                    <a:p>
                      <a:pPr algn="ctr" fontAlgn="auto">
                        <a:lnSpc>
                          <a:spcPct val="50000"/>
                        </a:lnSpc>
                        <a:buNone/>
                      </a:pPr>
                      <a:r>
                        <a:rPr lang="zh-CN" altLang="en-US" sz="1600" baseline="-25000">
                          <a:latin typeface="汉仪文黑-55W" pitchFamily="18" charset="-122"/>
                          <a:ea typeface="汉仪文黑-55W" pitchFamily="18" charset="-122"/>
                        </a:rPr>
                        <a:t>中性</a:t>
                      </a:r>
                    </a:p>
                  </a:txBody>
                  <a:tcPr marL="45720" marR="45720" anchor="ctr">
                    <a:lnT w="12700">
                      <a:solidFill>
                        <a:srgbClr val="5A2781"/>
                      </a:solidFill>
                      <a:prstDash val="solid"/>
                    </a:lnT>
                    <a:lnB w="12700">
                      <a:solidFill>
                        <a:srgbClr val="5A2781"/>
                      </a:solidFill>
                      <a:prstDash val="solid"/>
                    </a:lnB>
                    <a:noFill/>
                  </a:tcPr>
                </a:tc>
                <a:tc>
                  <a:txBody>
                    <a:bodyPr/>
                    <a:lstStyle/>
                    <a:p>
                      <a:pPr algn="ctr" fontAlgn="auto">
                        <a:lnSpc>
                          <a:spcPct val="50000"/>
                        </a:lnSpc>
                        <a:buNone/>
                      </a:pPr>
                      <a:r>
                        <a:rPr lang="en-US" altLang="zh-CN" sz="1600" baseline="-25000">
                          <a:latin typeface="汉仪文黑-55W" pitchFamily="18" charset="-122"/>
                          <a:ea typeface="汉仪文黑-55W" pitchFamily="18" charset="-122"/>
                        </a:rPr>
                        <a:t>-10%—10%</a:t>
                      </a:r>
                    </a:p>
                  </a:txBody>
                  <a:tcPr marL="45720" marR="45720" anchor="ctr">
                    <a:lnT w="12700">
                      <a:solidFill>
                        <a:srgbClr val="5A2781"/>
                      </a:solidFill>
                      <a:prstDash val="solid"/>
                    </a:lnT>
                    <a:lnB w="12700">
                      <a:solidFill>
                        <a:srgbClr val="5A2781"/>
                      </a:solidFill>
                      <a:prstDash val="solid"/>
                    </a:lnB>
                    <a:noFill/>
                  </a:tcPr>
                </a:tc>
                <a:extLst>
                  <a:ext uri="{0D108BD9-81ED-4DB2-BD59-A6C34878D82A}">
                    <a16:rowId xmlns:a16="http://schemas.microsoft.com/office/drawing/2014/main" val="10003"/>
                  </a:ext>
                </a:extLst>
              </a:tr>
              <a:tr h="288000">
                <a:tc>
                  <a:txBody>
                    <a:bodyPr/>
                    <a:lstStyle/>
                    <a:p>
                      <a:pPr algn="ctr" fontAlgn="auto">
                        <a:lnSpc>
                          <a:spcPct val="50000"/>
                        </a:lnSpc>
                        <a:buNone/>
                      </a:pPr>
                      <a:r>
                        <a:rPr lang="en-US" altLang="zh-CN" sz="1600" baseline="-25000">
                          <a:latin typeface="汉仪文黑-55W" pitchFamily="18" charset="-122"/>
                          <a:ea typeface="汉仪文黑-55W" pitchFamily="18" charset="-122"/>
                        </a:rPr>
                        <a:t>4</a:t>
                      </a:r>
                    </a:p>
                  </a:txBody>
                  <a:tcPr marL="45720" marR="45720" anchor="ctr">
                    <a:lnT w="12700">
                      <a:solidFill>
                        <a:srgbClr val="5A2781"/>
                      </a:solidFill>
                      <a:prstDash val="solid"/>
                    </a:lnT>
                    <a:lnB w="12700" cmpd="sng">
                      <a:solidFill>
                        <a:srgbClr val="5A2781"/>
                      </a:solidFill>
                      <a:prstDash val="solid"/>
                    </a:lnB>
                    <a:noFill/>
                  </a:tcPr>
                </a:tc>
                <a:tc>
                  <a:txBody>
                    <a:bodyPr/>
                    <a:lstStyle/>
                    <a:p>
                      <a:pPr algn="ctr" fontAlgn="auto">
                        <a:lnSpc>
                          <a:spcPct val="50000"/>
                        </a:lnSpc>
                        <a:buNone/>
                      </a:pPr>
                      <a:r>
                        <a:rPr lang="zh-CN" altLang="en-US" sz="1600" baseline="-25000">
                          <a:latin typeface="汉仪文黑-55W" pitchFamily="18" charset="-122"/>
                          <a:ea typeface="汉仪文黑-55W" pitchFamily="18" charset="-122"/>
                        </a:rPr>
                        <a:t>卖出</a:t>
                      </a:r>
                    </a:p>
                  </a:txBody>
                  <a:tcPr marL="45720" marR="45720" anchor="ctr">
                    <a:lnT w="12700">
                      <a:solidFill>
                        <a:srgbClr val="5A2781"/>
                      </a:solidFill>
                      <a:prstDash val="solid"/>
                    </a:lnT>
                    <a:lnB w="12700" cmpd="sng">
                      <a:solidFill>
                        <a:srgbClr val="5A2781"/>
                      </a:solidFill>
                      <a:prstDash val="solid"/>
                    </a:lnB>
                    <a:noFill/>
                  </a:tcPr>
                </a:tc>
                <a:tc>
                  <a:txBody>
                    <a:bodyPr/>
                    <a:lstStyle/>
                    <a:p>
                      <a:pPr algn="ctr" fontAlgn="auto">
                        <a:lnSpc>
                          <a:spcPct val="50000"/>
                        </a:lnSpc>
                        <a:buNone/>
                      </a:pPr>
                      <a:r>
                        <a:rPr lang="en-US" altLang="zh-CN" sz="1600" baseline="-25000" dirty="0">
                          <a:latin typeface="汉仪文黑-55W" pitchFamily="18" charset="-122"/>
                          <a:ea typeface="汉仪文黑-55W" pitchFamily="18" charset="-122"/>
                        </a:rPr>
                        <a:t>&lt;-10%</a:t>
                      </a:r>
                    </a:p>
                  </a:txBody>
                  <a:tcPr marL="45720" marR="45720" anchor="ctr">
                    <a:lnT w="12700">
                      <a:solidFill>
                        <a:srgbClr val="5A2781"/>
                      </a:solidFill>
                      <a:prstDash val="solid"/>
                    </a:lnT>
                    <a:lnB w="12700" cmpd="sng">
                      <a:solidFill>
                        <a:srgbClr val="5A2781"/>
                      </a:solidFill>
                      <a:prstDash val="solid"/>
                    </a:lnB>
                    <a:noFill/>
                  </a:tcPr>
                </a:tc>
                <a:extLst>
                  <a:ext uri="{0D108BD9-81ED-4DB2-BD59-A6C34878D82A}">
                    <a16:rowId xmlns:a16="http://schemas.microsoft.com/office/drawing/2014/main" val="10004"/>
                  </a:ext>
                </a:extLst>
              </a:tr>
            </a:tbl>
          </a:graphicData>
        </a:graphic>
      </p:graphicFrame>
      <p:sp>
        <p:nvSpPr>
          <p:cNvPr id="24" name="TextBox 2"/>
          <p:cNvSpPr txBox="1"/>
          <p:nvPr/>
        </p:nvSpPr>
        <p:spPr>
          <a:xfrm>
            <a:off x="8897620" y="2995930"/>
            <a:ext cx="2792730" cy="322652"/>
          </a:xfrm>
          <a:prstGeom prst="rect">
            <a:avLst/>
          </a:prstGeom>
          <a:noFill/>
        </p:spPr>
        <p:txBody>
          <a:bodyPr wrap="square" lIns="0" tIns="34290" rIns="0" bIns="34290" rtlCol="0">
            <a:spAutoFit/>
          </a:bodyPr>
          <a:lstStyle/>
          <a:p>
            <a:pPr lvl="0" algn="just" fontAlgn="auto">
              <a:lnSpc>
                <a:spcPct val="150000"/>
              </a:lnSpc>
              <a:spcAft>
                <a:spcPts val="700"/>
              </a:spcAft>
              <a:buClrTx/>
              <a:buSzTx/>
              <a:buFontTx/>
              <a:tabLst>
                <a:tab pos="200025" algn="l"/>
              </a:tabLst>
            </a:pPr>
            <a:r>
              <a:rPr lang="zh-CN" altLang="en-US" sz="1200" kern="100" dirty="0">
                <a:solidFill>
                  <a:schemeClr val="tx1">
                    <a:lumMod val="75000"/>
                    <a:lumOff val="25000"/>
                  </a:schemeClr>
                </a:solidFill>
                <a:latin typeface="汉仪文黑-55W" pitchFamily="18" charset="-122"/>
                <a:ea typeface="汉仪文黑-55W" pitchFamily="18" charset="-122"/>
                <a:cs typeface="思源黑体 CN Medium" panose="020B0600000000000000" pitchFamily="34" charset="-122"/>
                <a:sym typeface="+mn-lt"/>
              </a:rPr>
              <a:t>行业投资评级说明：</a:t>
            </a:r>
          </a:p>
        </p:txBody>
      </p:sp>
      <p:graphicFrame>
        <p:nvGraphicFramePr>
          <p:cNvPr id="25" name="表格 24"/>
          <p:cNvGraphicFramePr/>
          <p:nvPr/>
        </p:nvGraphicFramePr>
        <p:xfrm>
          <a:off x="8897620" y="3344545"/>
          <a:ext cx="2788045" cy="1227600"/>
        </p:xfrm>
        <a:graphic>
          <a:graphicData uri="http://schemas.openxmlformats.org/drawingml/2006/table">
            <a:tbl>
              <a:tblPr firstRow="1" bandRow="1">
                <a:tableStyleId>{5C22544A-7EE6-4342-B048-85BDC9FD1C3A}</a:tableStyleId>
              </a:tblPr>
              <a:tblGrid>
                <a:gridCol w="396000">
                  <a:extLst>
                    <a:ext uri="{9D8B030D-6E8A-4147-A177-3AD203B41FA5}">
                      <a16:colId xmlns:a16="http://schemas.microsoft.com/office/drawing/2014/main" val="20000"/>
                    </a:ext>
                  </a:extLst>
                </a:gridCol>
                <a:gridCol w="862965">
                  <a:extLst>
                    <a:ext uri="{9D8B030D-6E8A-4147-A177-3AD203B41FA5}">
                      <a16:colId xmlns:a16="http://schemas.microsoft.com/office/drawing/2014/main" val="20001"/>
                    </a:ext>
                  </a:extLst>
                </a:gridCol>
                <a:gridCol w="1529080">
                  <a:extLst>
                    <a:ext uri="{9D8B030D-6E8A-4147-A177-3AD203B41FA5}">
                      <a16:colId xmlns:a16="http://schemas.microsoft.com/office/drawing/2014/main" val="20002"/>
                    </a:ext>
                  </a:extLst>
                </a:gridCol>
              </a:tblGrid>
              <a:tr h="363600">
                <a:tc>
                  <a:txBody>
                    <a:bodyPr/>
                    <a:lstStyle/>
                    <a:p>
                      <a:pPr algn="ctr" fontAlgn="auto">
                        <a:lnSpc>
                          <a:spcPct val="50000"/>
                        </a:lnSpc>
                        <a:buNone/>
                      </a:pPr>
                      <a:endParaRPr lang="zh-CN" altLang="en-US" sz="1400" baseline="-25000">
                        <a:solidFill>
                          <a:srgbClr val="46255D"/>
                        </a:solidFill>
                        <a:latin typeface="汉仪文黑-55W" pitchFamily="18" charset="-122"/>
                        <a:ea typeface="汉仪文黑-55W" pitchFamily="18" charset="-122"/>
                      </a:endParaRPr>
                    </a:p>
                  </a:txBody>
                  <a:tcPr marL="45720" marR="45720" anchor="ctr">
                    <a:lnT w="12700">
                      <a:solidFill>
                        <a:srgbClr val="5A2781"/>
                      </a:solidFill>
                      <a:prstDash val="solid"/>
                    </a:lnT>
                    <a:lnB w="12700">
                      <a:solidFill>
                        <a:srgbClr val="5A2781"/>
                      </a:solidFill>
                      <a:prstDash val="solid"/>
                    </a:lnB>
                    <a:solidFill>
                      <a:srgbClr val="D7CEE1"/>
                    </a:solidFill>
                  </a:tcPr>
                </a:tc>
                <a:tc>
                  <a:txBody>
                    <a:bodyPr/>
                    <a:lstStyle/>
                    <a:p>
                      <a:pPr algn="ctr" fontAlgn="auto">
                        <a:lnSpc>
                          <a:spcPct val="50000"/>
                        </a:lnSpc>
                        <a:buNone/>
                      </a:pPr>
                      <a:r>
                        <a:rPr lang="zh-CN" altLang="en-US" sz="1400" baseline="-25000" dirty="0">
                          <a:solidFill>
                            <a:srgbClr val="46255D"/>
                          </a:solidFill>
                          <a:latin typeface="汉仪文黑-55W" pitchFamily="18" charset="-122"/>
                          <a:ea typeface="汉仪文黑-55W" pitchFamily="18" charset="-122"/>
                        </a:rPr>
                        <a:t>投资建议</a:t>
                      </a:r>
                    </a:p>
                  </a:txBody>
                  <a:tcPr marL="45720" marR="45720" anchor="ctr">
                    <a:lnT w="12700">
                      <a:solidFill>
                        <a:srgbClr val="5A2781"/>
                      </a:solidFill>
                      <a:prstDash val="solid"/>
                    </a:lnT>
                    <a:lnB w="12700">
                      <a:solidFill>
                        <a:srgbClr val="5A2781"/>
                      </a:solidFill>
                      <a:prstDash val="solid"/>
                    </a:lnB>
                    <a:solidFill>
                      <a:srgbClr val="D7CEE1"/>
                    </a:solidFill>
                  </a:tcPr>
                </a:tc>
                <a:tc>
                  <a:txBody>
                    <a:bodyPr/>
                    <a:lstStyle/>
                    <a:p>
                      <a:pPr algn="ctr" fontAlgn="auto">
                        <a:lnSpc>
                          <a:spcPct val="100000"/>
                        </a:lnSpc>
                        <a:buNone/>
                      </a:pPr>
                      <a:r>
                        <a:rPr lang="zh-CN" altLang="en-US" sz="1400" baseline="-25000">
                          <a:solidFill>
                            <a:srgbClr val="46255D"/>
                          </a:solidFill>
                          <a:latin typeface="汉仪文黑-55W" pitchFamily="18" charset="-122"/>
                          <a:ea typeface="汉仪文黑-55W" pitchFamily="18" charset="-122"/>
                        </a:rPr>
                        <a:t>行业指数相对同期证券市场代表性指数涨幅</a:t>
                      </a:r>
                    </a:p>
                  </a:txBody>
                  <a:tcPr marL="45720" marR="45720" marT="0" anchor="ctr">
                    <a:lnT w="12700">
                      <a:solidFill>
                        <a:srgbClr val="5A2781"/>
                      </a:solidFill>
                      <a:prstDash val="solid"/>
                    </a:lnT>
                    <a:lnB w="12700">
                      <a:solidFill>
                        <a:srgbClr val="5A2781"/>
                      </a:solidFill>
                      <a:prstDash val="solid"/>
                    </a:lnB>
                    <a:solidFill>
                      <a:srgbClr val="D7CEE1"/>
                    </a:solidFill>
                  </a:tcPr>
                </a:tc>
                <a:extLst>
                  <a:ext uri="{0D108BD9-81ED-4DB2-BD59-A6C34878D82A}">
                    <a16:rowId xmlns:a16="http://schemas.microsoft.com/office/drawing/2014/main" val="10000"/>
                  </a:ext>
                </a:extLst>
              </a:tr>
              <a:tr h="288000">
                <a:tc>
                  <a:txBody>
                    <a:bodyPr/>
                    <a:lstStyle/>
                    <a:p>
                      <a:pPr algn="ctr" fontAlgn="auto">
                        <a:lnSpc>
                          <a:spcPct val="50000"/>
                        </a:lnSpc>
                        <a:buNone/>
                      </a:pPr>
                      <a:r>
                        <a:rPr lang="en-US" altLang="zh-CN" sz="1600" baseline="-25000">
                          <a:latin typeface="汉仪文黑-55W" pitchFamily="18" charset="-122"/>
                          <a:ea typeface="汉仪文黑-55W" pitchFamily="18" charset="-122"/>
                        </a:rPr>
                        <a:t>1</a:t>
                      </a:r>
                    </a:p>
                  </a:txBody>
                  <a:tcPr marL="45720" marR="45720" anchor="ctr">
                    <a:lnT w="12700">
                      <a:solidFill>
                        <a:srgbClr val="5A2781"/>
                      </a:solidFill>
                      <a:prstDash val="solid"/>
                    </a:lnT>
                    <a:lnB w="12700">
                      <a:solidFill>
                        <a:srgbClr val="5A2781"/>
                      </a:solidFill>
                      <a:prstDash val="solid"/>
                    </a:lnB>
                    <a:noFill/>
                  </a:tcPr>
                </a:tc>
                <a:tc>
                  <a:txBody>
                    <a:bodyPr/>
                    <a:lstStyle/>
                    <a:p>
                      <a:pPr algn="ctr" fontAlgn="auto">
                        <a:lnSpc>
                          <a:spcPct val="50000"/>
                        </a:lnSpc>
                        <a:buNone/>
                      </a:pPr>
                      <a:r>
                        <a:rPr lang="zh-CN" altLang="en-US" sz="1600" baseline="-25000" dirty="0">
                          <a:latin typeface="汉仪文黑-55W" pitchFamily="18" charset="-122"/>
                          <a:ea typeface="汉仪文黑-55W" pitchFamily="18" charset="-122"/>
                        </a:rPr>
                        <a:t>推荐</a:t>
                      </a:r>
                    </a:p>
                  </a:txBody>
                  <a:tcPr marL="45720" marR="45720" anchor="ctr">
                    <a:lnT w="12700">
                      <a:solidFill>
                        <a:srgbClr val="5A2781"/>
                      </a:solidFill>
                      <a:prstDash val="solid"/>
                    </a:lnT>
                    <a:lnB w="12700">
                      <a:solidFill>
                        <a:srgbClr val="5A2781"/>
                      </a:solidFill>
                      <a:prstDash val="solid"/>
                    </a:lnB>
                    <a:noFill/>
                  </a:tcPr>
                </a:tc>
                <a:tc>
                  <a:txBody>
                    <a:bodyPr/>
                    <a:lstStyle/>
                    <a:p>
                      <a:pPr algn="ctr" fontAlgn="auto">
                        <a:lnSpc>
                          <a:spcPct val="50000"/>
                        </a:lnSpc>
                        <a:buNone/>
                      </a:pPr>
                      <a:r>
                        <a:rPr lang="en-US" altLang="zh-CN" sz="1600" baseline="-25000">
                          <a:latin typeface="汉仪文黑-55W" pitchFamily="18" charset="-122"/>
                          <a:ea typeface="汉仪文黑-55W" pitchFamily="18" charset="-122"/>
                        </a:rPr>
                        <a:t>&gt;10%</a:t>
                      </a:r>
                    </a:p>
                  </a:txBody>
                  <a:tcPr marL="45720" marR="45720" anchor="ctr">
                    <a:lnT w="12700">
                      <a:solidFill>
                        <a:srgbClr val="5A2781"/>
                      </a:solidFill>
                      <a:prstDash val="solid"/>
                    </a:lnT>
                    <a:lnB w="12700">
                      <a:solidFill>
                        <a:srgbClr val="5A2781"/>
                      </a:solidFill>
                      <a:prstDash val="solid"/>
                    </a:lnB>
                    <a:noFill/>
                  </a:tcPr>
                </a:tc>
                <a:extLst>
                  <a:ext uri="{0D108BD9-81ED-4DB2-BD59-A6C34878D82A}">
                    <a16:rowId xmlns:a16="http://schemas.microsoft.com/office/drawing/2014/main" val="10001"/>
                  </a:ext>
                </a:extLst>
              </a:tr>
              <a:tr h="288000">
                <a:tc>
                  <a:txBody>
                    <a:bodyPr/>
                    <a:lstStyle/>
                    <a:p>
                      <a:pPr algn="ctr" fontAlgn="auto">
                        <a:lnSpc>
                          <a:spcPct val="50000"/>
                        </a:lnSpc>
                        <a:buNone/>
                      </a:pPr>
                      <a:r>
                        <a:rPr lang="en-US" altLang="zh-CN" sz="1600" baseline="-25000">
                          <a:latin typeface="汉仪文黑-55W" pitchFamily="18" charset="-122"/>
                          <a:ea typeface="汉仪文黑-55W" pitchFamily="18" charset="-122"/>
                        </a:rPr>
                        <a:t>2</a:t>
                      </a:r>
                    </a:p>
                  </a:txBody>
                  <a:tcPr marL="45720" marR="45720" anchor="ctr">
                    <a:lnT w="12700">
                      <a:solidFill>
                        <a:srgbClr val="5A2781"/>
                      </a:solidFill>
                      <a:prstDash val="solid"/>
                    </a:lnT>
                    <a:lnB w="12700">
                      <a:solidFill>
                        <a:srgbClr val="5A2781"/>
                      </a:solidFill>
                      <a:prstDash val="solid"/>
                    </a:lnB>
                    <a:noFill/>
                  </a:tcPr>
                </a:tc>
                <a:tc>
                  <a:txBody>
                    <a:bodyPr/>
                    <a:lstStyle/>
                    <a:p>
                      <a:pPr algn="ctr" fontAlgn="auto">
                        <a:lnSpc>
                          <a:spcPct val="50000"/>
                        </a:lnSpc>
                        <a:buNone/>
                      </a:pPr>
                      <a:r>
                        <a:rPr lang="zh-CN" altLang="en-US" sz="1600" baseline="-25000">
                          <a:latin typeface="汉仪文黑-55W" pitchFamily="18" charset="-122"/>
                          <a:ea typeface="汉仪文黑-55W" pitchFamily="18" charset="-122"/>
                        </a:rPr>
                        <a:t>中性</a:t>
                      </a:r>
                    </a:p>
                  </a:txBody>
                  <a:tcPr marL="45720" marR="45720" anchor="ctr">
                    <a:lnT w="12700">
                      <a:solidFill>
                        <a:srgbClr val="5A2781"/>
                      </a:solidFill>
                      <a:prstDash val="solid"/>
                    </a:lnT>
                    <a:lnB w="12700">
                      <a:solidFill>
                        <a:srgbClr val="5A2781"/>
                      </a:solidFill>
                      <a:prstDash val="solid"/>
                    </a:lnB>
                    <a:noFill/>
                  </a:tcPr>
                </a:tc>
                <a:tc>
                  <a:txBody>
                    <a:bodyPr/>
                    <a:lstStyle/>
                    <a:p>
                      <a:pPr algn="ctr" fontAlgn="auto">
                        <a:lnSpc>
                          <a:spcPct val="50000"/>
                        </a:lnSpc>
                        <a:buNone/>
                      </a:pPr>
                      <a:r>
                        <a:rPr lang="en-US" altLang="zh-CN" sz="1600" baseline="-25000">
                          <a:latin typeface="汉仪文黑-55W" pitchFamily="18" charset="-122"/>
                          <a:ea typeface="汉仪文黑-55W" pitchFamily="18" charset="-122"/>
                          <a:sym typeface="+mn-ea"/>
                        </a:rPr>
                        <a:t>-10%—10%</a:t>
                      </a:r>
                    </a:p>
                  </a:txBody>
                  <a:tcPr marL="45720" marR="45720" anchor="ctr">
                    <a:lnT w="12700">
                      <a:solidFill>
                        <a:srgbClr val="5A2781"/>
                      </a:solidFill>
                      <a:prstDash val="solid"/>
                    </a:lnT>
                    <a:lnB w="12700">
                      <a:solidFill>
                        <a:srgbClr val="5A2781"/>
                      </a:solidFill>
                      <a:prstDash val="solid"/>
                    </a:lnB>
                    <a:noFill/>
                  </a:tcPr>
                </a:tc>
                <a:extLst>
                  <a:ext uri="{0D108BD9-81ED-4DB2-BD59-A6C34878D82A}">
                    <a16:rowId xmlns:a16="http://schemas.microsoft.com/office/drawing/2014/main" val="10002"/>
                  </a:ext>
                </a:extLst>
              </a:tr>
              <a:tr h="288000">
                <a:tc>
                  <a:txBody>
                    <a:bodyPr/>
                    <a:lstStyle/>
                    <a:p>
                      <a:pPr algn="ctr" fontAlgn="auto">
                        <a:lnSpc>
                          <a:spcPct val="50000"/>
                        </a:lnSpc>
                        <a:buNone/>
                      </a:pPr>
                      <a:r>
                        <a:rPr lang="en-US" altLang="zh-CN" sz="1600" baseline="-25000">
                          <a:latin typeface="汉仪文黑-55W" pitchFamily="18" charset="-122"/>
                          <a:ea typeface="汉仪文黑-55W" pitchFamily="18" charset="-122"/>
                        </a:rPr>
                        <a:t>3</a:t>
                      </a:r>
                    </a:p>
                  </a:txBody>
                  <a:tcPr marL="45720" marR="45720" anchor="ctr">
                    <a:lnT w="12700">
                      <a:solidFill>
                        <a:srgbClr val="5A2781"/>
                      </a:solidFill>
                      <a:prstDash val="solid"/>
                    </a:lnT>
                    <a:lnB w="12700">
                      <a:solidFill>
                        <a:srgbClr val="5A2781"/>
                      </a:solidFill>
                      <a:prstDash val="solid"/>
                    </a:lnB>
                    <a:noFill/>
                  </a:tcPr>
                </a:tc>
                <a:tc>
                  <a:txBody>
                    <a:bodyPr/>
                    <a:lstStyle/>
                    <a:p>
                      <a:pPr algn="ctr" fontAlgn="auto">
                        <a:lnSpc>
                          <a:spcPct val="50000"/>
                        </a:lnSpc>
                        <a:buNone/>
                      </a:pPr>
                      <a:r>
                        <a:rPr lang="zh-CN" altLang="en-US" sz="1600" baseline="-25000">
                          <a:latin typeface="汉仪文黑-55W" pitchFamily="18" charset="-122"/>
                          <a:ea typeface="汉仪文黑-55W" pitchFamily="18" charset="-122"/>
                        </a:rPr>
                        <a:t>回避</a:t>
                      </a:r>
                    </a:p>
                  </a:txBody>
                  <a:tcPr marL="45720" marR="45720" anchor="ctr">
                    <a:lnT w="12700">
                      <a:solidFill>
                        <a:srgbClr val="5A2781"/>
                      </a:solidFill>
                      <a:prstDash val="solid"/>
                    </a:lnT>
                    <a:lnB w="12700">
                      <a:solidFill>
                        <a:srgbClr val="5A2781"/>
                      </a:solidFill>
                      <a:prstDash val="solid"/>
                    </a:lnB>
                    <a:noFill/>
                  </a:tcPr>
                </a:tc>
                <a:tc>
                  <a:txBody>
                    <a:bodyPr/>
                    <a:lstStyle/>
                    <a:p>
                      <a:pPr algn="ctr" fontAlgn="auto">
                        <a:lnSpc>
                          <a:spcPct val="50000"/>
                        </a:lnSpc>
                        <a:buNone/>
                      </a:pPr>
                      <a:r>
                        <a:rPr lang="en-US" altLang="zh-CN" sz="1600" baseline="-25000" dirty="0">
                          <a:latin typeface="汉仪文黑-55W" pitchFamily="18" charset="-122"/>
                          <a:ea typeface="汉仪文黑-55W" pitchFamily="18" charset="-122"/>
                          <a:sym typeface="+mn-ea"/>
                        </a:rPr>
                        <a:t>&lt;-10%</a:t>
                      </a:r>
                    </a:p>
                  </a:txBody>
                  <a:tcPr marL="45720" marR="45720" anchor="ctr">
                    <a:lnT w="12700">
                      <a:solidFill>
                        <a:srgbClr val="5A2781"/>
                      </a:solidFill>
                      <a:prstDash val="solid"/>
                    </a:lnT>
                    <a:lnB w="12700">
                      <a:solidFill>
                        <a:srgbClr val="5A2781"/>
                      </a:solidFill>
                      <a:prstDash val="solid"/>
                    </a:lnB>
                    <a:noFill/>
                  </a:tcPr>
                </a:tc>
                <a:extLst>
                  <a:ext uri="{0D108BD9-81ED-4DB2-BD59-A6C34878D82A}">
                    <a16:rowId xmlns:a16="http://schemas.microsoft.com/office/drawing/2014/main" val="10003"/>
                  </a:ext>
                </a:extLst>
              </a:tr>
            </a:tbl>
          </a:graphicData>
        </a:graphic>
      </p:graphicFrame>
      <p:sp>
        <p:nvSpPr>
          <p:cNvPr id="17" name="文本框 16"/>
          <p:cNvSpPr txBox="1"/>
          <p:nvPr/>
        </p:nvSpPr>
        <p:spPr>
          <a:xfrm>
            <a:off x="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诚信、专业、稳健、高效</a:t>
            </a:r>
          </a:p>
        </p:txBody>
      </p:sp>
      <p:sp>
        <p:nvSpPr>
          <p:cNvPr id="20" name="文本框 19"/>
          <p:cNvSpPr txBox="1"/>
          <p:nvPr/>
        </p:nvSpPr>
        <p:spPr>
          <a:xfrm>
            <a:off x="8933450" y="6588000"/>
            <a:ext cx="2160000" cy="30777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dirty="0">
                <a:solidFill>
                  <a:schemeClr val="bg2"/>
                </a:solidFill>
                <a:latin typeface="汉仪文黑-55W" pitchFamily="18" charset="-122"/>
                <a:ea typeface="汉仪文黑-55W" pitchFamily="18" charset="-122"/>
              </a:rPr>
              <a:t>请阅读本页重要免责声明</a:t>
            </a:r>
          </a:p>
        </p:txBody>
      </p:sp>
      <p:graphicFrame>
        <p:nvGraphicFramePr>
          <p:cNvPr id="2" name="表格 1" descr="BDCONTENTCONTROL_Compliance_Lastpage_State" title="合规提示末页声明"/>
          <p:cNvGraphicFramePr>
            <a:graphicFrameLocks noGrp="1"/>
          </p:cNvGraphicFramePr>
          <p:nvPr/>
        </p:nvGraphicFramePr>
        <p:xfrm>
          <a:off x="360000" y="5022000"/>
          <a:ext cx="8064000" cy="381000"/>
        </p:xfrm>
        <a:graphic>
          <a:graphicData uri="http://schemas.openxmlformats.org/drawingml/2006/table">
            <a:tbl>
              <a:tblPr firstRow="1" bandRow="1">
                <a:tableStyleId>{5C22544A-7EE6-4342-B048-85BDC9FD1C3A}</a:tableStyleId>
              </a:tblPr>
              <a:tblGrid>
                <a:gridCol w="8064000">
                  <a:extLst>
                    <a:ext uri="{9D8B030D-6E8A-4147-A177-3AD203B41FA5}">
                      <a16:colId xmlns:a16="http://schemas.microsoft.com/office/drawing/2014/main" val="20000"/>
                    </a:ext>
                  </a:extLst>
                </a:gridCol>
              </a:tblGrid>
              <a:tr h="381000">
                <a:tc>
                  <a:txBody>
                    <a:bodyPr/>
                    <a:lstStyle/>
                    <a:p>
                      <a:pPr>
                        <a:lnSpc>
                          <a:spcPct val="130000"/>
                        </a:lnSpc>
                      </a:pPr>
                      <a:endParaRPr lang="zh-CN" altLang="en-US" sz="1000" dirty="0">
                        <a:solidFill>
                          <a:srgbClr val="46255D"/>
                        </a:solidFill>
                        <a:latin typeface="汉仪文黑-55W" pitchFamily="18" charset="-122"/>
                        <a:ea typeface="汉仪文黑-55W" pitchFamily="18" charset="-122"/>
                      </a:endParaRPr>
                    </a:p>
                  </a:txBody>
                  <a:tcPr marL="0" marR="0" marT="36000" marB="3600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6510"/>
            <a:ext cx="12192000" cy="6885940"/>
          </a:xfrm>
          <a:prstGeom prst="rect">
            <a:avLst/>
          </a:prstGeom>
          <a:solidFill>
            <a:srgbClr val="4625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文黑-55W" pitchFamily="18" charset="-122"/>
              <a:ea typeface="汉仪文黑-55W" pitchFamily="18" charset="-122"/>
            </a:endParaRPr>
          </a:p>
        </p:txBody>
      </p:sp>
      <p:grpSp>
        <p:nvGrpSpPr>
          <p:cNvPr id="14" name="组合 13"/>
          <p:cNvGrpSpPr/>
          <p:nvPr/>
        </p:nvGrpSpPr>
        <p:grpSpPr>
          <a:xfrm>
            <a:off x="2756239" y="2712130"/>
            <a:ext cx="6679522" cy="1433739"/>
            <a:chOff x="4590" y="7070"/>
            <a:chExt cx="7566" cy="1624"/>
          </a:xfrm>
        </p:grpSpPr>
        <p:pic>
          <p:nvPicPr>
            <p:cNvPr id="2" name="图片 1" descr="华鑫证券logo横版橙框白字-偏紫色背景使用"/>
            <p:cNvPicPr>
              <a:picLocks noChangeAspect="1"/>
            </p:cNvPicPr>
            <p:nvPr/>
          </p:nvPicPr>
          <p:blipFill>
            <a:blip r:embed="rId3"/>
            <a:stretch>
              <a:fillRect/>
            </a:stretch>
          </p:blipFill>
          <p:spPr>
            <a:xfrm>
              <a:off x="4590" y="7423"/>
              <a:ext cx="3792" cy="862"/>
            </a:xfrm>
            <a:prstGeom prst="rect">
              <a:avLst/>
            </a:prstGeom>
          </p:spPr>
        </p:pic>
        <p:cxnSp>
          <p:nvCxnSpPr>
            <p:cNvPr id="3" name="直接连接符 2"/>
            <p:cNvCxnSpPr/>
            <p:nvPr/>
          </p:nvCxnSpPr>
          <p:spPr>
            <a:xfrm>
              <a:off x="8702" y="7443"/>
              <a:ext cx="0" cy="822"/>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descr="图片1"/>
            <p:cNvPicPr>
              <a:picLocks noChangeAspect="1"/>
            </p:cNvPicPr>
            <p:nvPr/>
          </p:nvPicPr>
          <p:blipFill>
            <a:blip r:embed="rId4"/>
            <a:stretch>
              <a:fillRect/>
            </a:stretch>
          </p:blipFill>
          <p:spPr>
            <a:xfrm>
              <a:off x="8944" y="7070"/>
              <a:ext cx="3212" cy="1624"/>
            </a:xfrm>
            <a:prstGeom prst="rect">
              <a:avLst/>
            </a:prstGeom>
          </p:spPr>
        </p:pic>
      </p:grpSp>
      <p:graphicFrame>
        <p:nvGraphicFramePr>
          <p:cNvPr id="4" name="表格 5"/>
          <p:cNvGraphicFramePr>
            <a:graphicFrameLocks noGrp="1"/>
          </p:cNvGraphicFramePr>
          <p:nvPr/>
        </p:nvGraphicFramePr>
        <p:xfrm>
          <a:off x="9675600" y="6548400"/>
          <a:ext cx="2336400" cy="309600"/>
        </p:xfrm>
        <a:graphic>
          <a:graphicData uri="http://schemas.openxmlformats.org/drawingml/2006/table">
            <a:tbl>
              <a:tblPr firstRow="1" bandRow="1">
                <a:tableStyleId>{5C22544A-7EE6-4342-B048-85BDC9FD1C3A}</a:tableStyleId>
              </a:tblPr>
              <a:tblGrid>
                <a:gridCol w="936916">
                  <a:extLst>
                    <a:ext uri="{9D8B030D-6E8A-4147-A177-3AD203B41FA5}">
                      <a16:colId xmlns:a16="http://schemas.microsoft.com/office/drawing/2014/main" val="20000"/>
                    </a:ext>
                  </a:extLst>
                </a:gridCol>
                <a:gridCol w="1399484">
                  <a:extLst>
                    <a:ext uri="{9D8B030D-6E8A-4147-A177-3AD203B41FA5}">
                      <a16:colId xmlns:a16="http://schemas.microsoft.com/office/drawing/2014/main" val="20001"/>
                    </a:ext>
                  </a:extLst>
                </a:gridCol>
              </a:tblGrid>
              <a:tr h="309600">
                <a:tc>
                  <a:txBody>
                    <a:bodyPr/>
                    <a:lstStyle/>
                    <a:p>
                      <a:r>
                        <a:rPr lang="zh-CN" altLang="en-US" sz="1400" baseline="0" dirty="0">
                          <a:latin typeface="汉仪文黑-55W" pitchFamily="18" charset="-122"/>
                          <a:ea typeface="思源黑体 CN Regular" pitchFamily="34" charset="-122"/>
                        </a:rPr>
                        <a:t>报告编号</a:t>
                      </a:r>
                      <a:r>
                        <a:rPr lang="en-US" altLang="zh-CN" sz="1400" baseline="0" dirty="0">
                          <a:latin typeface="汉仪文黑-55W" pitchFamily="18" charset="-122"/>
                          <a:ea typeface="思源黑体 CN Regular" pitchFamily="34" charset="-122"/>
                        </a:rPr>
                        <a:t>:</a:t>
                      </a:r>
                      <a:endParaRPr lang="zh-CN" altLang="en-US" sz="1400" baseline="0" dirty="0">
                        <a:latin typeface="汉仪文黑-55W" pitchFamily="18" charset="-122"/>
                        <a:ea typeface="思源黑体 CN Regular" pitchFamily="34" charset="-122"/>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endParaRPr lang="zh-CN" altLang="en-US" sz="1400" baseline="0" dirty="0">
                        <a:latin typeface="汉仪文黑-55W" pitchFamily="18" charset="-122"/>
                        <a:ea typeface="思源黑体 CN Regular" pitchFamily="34" charset="-122"/>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6" name="文本框 5" descr="BDCONTENTCONTROL_AUTO_SAVE_ReportNo" title="报告编号"/>
          <p:cNvSpPr txBox="1"/>
          <p:nvPr/>
        </p:nvSpPr>
        <p:spPr>
          <a:xfrm>
            <a:off x="10572000" y="6548400"/>
            <a:ext cx="1620000" cy="307777"/>
          </a:xfrm>
          <a:prstGeom prst="rect">
            <a:avLst/>
          </a:prstGeom>
          <a:noFill/>
        </p:spPr>
        <p:txBody>
          <a:bodyPr wrap="square" rtlCol="0">
            <a:spAutoFit/>
          </a:bodyPr>
          <a:lstStyle/>
          <a:p>
            <a:r>
              <a:rPr lang="en-US" altLang="zh-CN" sz="1400" smtClean="0">
                <a:solidFill>
                  <a:schemeClr val="bg1"/>
                </a:solidFill>
                <a:latin typeface="汉仪文黑-55W" pitchFamily="18" charset="-122"/>
                <a:ea typeface="汉仪文黑-55W" pitchFamily="18" charset="-122"/>
              </a:rPr>
              <a:t>260823222447</a:t>
            </a:r>
            <a:endParaRPr lang="zh-CN" altLang="en-US" sz="1400" dirty="0">
              <a:solidFill>
                <a:schemeClr val="bg1"/>
              </a:solidFill>
              <a:latin typeface="汉仪文黑-55W" pitchFamily="18" charset="-122"/>
              <a:ea typeface="汉仪文黑-55W" pitchFamily="18"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QzN2M0NzRjMTVlNTA1YzcyZTM1NDRiOGYzZTQ3MW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 name="KSO_WM_UNIT_TABLE_BEAUTIFY" val="smartTable{b914262a-c54d-43e4-8270-c7e23d9042ae}"/>
  <p:tag name="TABLE_ENDDRAG_ORIGIN_RECT" val="878*411"/>
  <p:tag name="TABLE_ENDDRAG_RECT" val="40*64*878*41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otalTime>3694</TotalTime>
  <Words>6289</Words>
  <Application>Microsoft Office PowerPoint</Application>
  <PresentationFormat>宽屏</PresentationFormat>
  <Paragraphs>548</Paragraphs>
  <Slides>33</Slides>
  <Notes>33</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33</vt:i4>
      </vt:variant>
    </vt:vector>
  </HeadingPairs>
  <TitlesOfParts>
    <vt:vector size="49" baseType="lpstr">
      <vt:lpstr>Calibri Light</vt:lpstr>
      <vt:lpstr>黑体</vt:lpstr>
      <vt:lpstr>思源黑体 CN Medium</vt:lpstr>
      <vt:lpstr>宋体</vt:lpstr>
      <vt:lpstr>Arial Black</vt:lpstr>
      <vt:lpstr>Arial</vt:lpstr>
      <vt:lpstr>苹方</vt:lpstr>
      <vt:lpstr>思源黑体 CN Bold</vt:lpstr>
      <vt:lpstr>Calibri</vt:lpstr>
      <vt:lpstr>时尚中黑简体</vt:lpstr>
      <vt:lpstr>汉仪文黑-55W</vt:lpstr>
      <vt:lpstr>思源黑体 CN Regular</vt:lpstr>
      <vt:lpstr>微软雅黑</vt:lpstr>
      <vt:lpstr>Wingdings</vt:lpstr>
      <vt:lpstr>Office 主题​​</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ZL</dc:creator>
  <cp:lastModifiedBy>吴景欢</cp:lastModifiedBy>
  <cp:revision>6811</cp:revision>
  <cp:lastPrinted>2026-08-23T14:25:38Z</cp:lastPrinted>
  <dcterms:created xsi:type="dcterms:W3CDTF">2026-07-25T05:14:10Z</dcterms:created>
  <dcterms:modified xsi:type="dcterms:W3CDTF">2026-08-28T13:23:39Z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2052-12.1.26035.26035</vt:lpwstr>
  </property>
  <property fmtid="{D5CDD505-2E9C-101B-9397-08002B2CF9AE}" pid="3" name="ICV">
    <vt:lpwstr>455C78A54E7917CA6835526A9E147E2C_43</vt:lpwstr>
  </property>
  <property fmtid="{D5CDD505-2E9C-101B-9397-08002B2CF9AE}" pid="4" name="ReportType_TType_Value">
    <vt:lpwstr>709751452521652</vt:lpwstr>
  </property>
  <property fmtid="{D5CDD505-2E9C-101B-9397-08002B2CF9AE}" pid="5" name="ReportType_TType_DisplayName">
    <vt:lpwstr>行业报告</vt:lpwstr>
  </property>
  <property fmtid="{D5CDD505-2E9C-101B-9397-08002B2CF9AE}" pid="6" name="BD_Doc_Temp_ID">
    <vt:lpwstr>d22b7646-2150-47ec-ab9c-0c2b8bc87641</vt:lpwstr>
  </property>
  <property fmtid="{D5CDD505-2E9C-101B-9397-08002B2CF9AE}" pid="7" name="BDCONTENTCONTROL_2380d2e8-df43-49bc-81fb-cb6913377050">
    <vt:lpwstr>GetData?Formula=PVBBUigiSU5EVVNSYXRpbmciKQ==&amp;FunctionName=PAR&amp;ContentType=TEXT&amp;Caption=投资评级&amp;DatasourceType=PAR&amp;StyleId=&amp;Other=&amp;IsOnlyRefresh=False&amp;PageCount=0&amp;TableHeadCount=0&amp;TableFootCount=0&amp;IsDataSubmission=&amp;SaveProperty=&amp;IsRelation=</vt:lpwstr>
  </property>
  <property fmtid="{D5CDD505-2E9C-101B-9397-08002B2CF9AE}" pid="8" name="BDCONTENTCONTROL_63f47762-dd74-4c5f-a679-0c39a39a636a">
    <vt:lpwstr>GetData?Formula=PVBBUigiSU5EVVNBanVzdCIp&amp;FunctionName=PAR&amp;ContentType=TEXT&amp;Caption=评级变动&amp;DatasourceType=PAR&amp;StyleId=&amp;Other=&amp;IsOnlyRefresh=False&amp;PageCount=0&amp;TableHeadCount=0&amp;TableFootCount=0&amp;IsDataSubmission=&amp;SaveProperty=&amp;IsRelation=</vt:lpwstr>
  </property>
  <property fmtid="{D5CDD505-2E9C-101B-9397-08002B2CF9AE}" pid="9" name="BDCONTENTCONTROL_568a89c2-6fec-4f7f-b7e9-ce8e3ef95768">
    <vt:lpwstr>GetData?Formula=PVBBUigiUmVwb3J0RGF0ZSIp&amp;FunctionName=PAR&amp;ContentType=TEXT&amp;Caption=报告日期&amp;DatasourceType=PAR&amp;StyleId=&amp;Other=yyyy年MM月dd日&amp;IsOnlyRefresh=False&amp;PageCount=0&amp;TableHeadCount=0&amp;TableFootCount=0&amp;IsDataSubmission=&amp;SaveProperty=&amp;IsRelation=</vt:lpwstr>
  </property>
  <property fmtid="{D5CDD505-2E9C-101B-9397-08002B2CF9AE}" pid="10" name="BDCONTENTCONTROL_78895e25-459a-40e7-a62e-8ce2a04d8cfc">
    <vt:lpwstr>GetData?Formula=PURJWSgiUG9zdFNlcnZpY2UuYXNweD9TZXJ2aWNlPVN1YmplY3REYXRhU2VydmljZS5HZXRzJkZ1bmN0aW9uPUdldHNTZXJ2aWNlJkZMQUc9MSZPQkpfVldfSUQ9OTAwMDA0MSZTVEFGRklEPScke1N0YWZmSURfVmFsdWV9JyIp&amp;FunctionName=DIY&amp;ContentType=TABLE&amp;Caption=作者显示&amp;DatasourceType=DIY</vt:lpwstr>
  </property>
  <property fmtid="{D5CDD505-2E9C-101B-9397-08002B2CF9AE}" pid="11" name="BDCONTENTCONTROL_78895e25-459a-40e7-a62e-8ce2a04d8cfc#2">
    <vt:lpwstr>Table&amp;StyleId=&amp;Other=9000041&amp;IsOnlyRefresh=False&amp;PageCount=1&amp;TableHeadCount=0&amp;TableFootCount=0&amp;IsDataSubmission=&amp;SaveProperty=&amp;IsRelation=</vt:lpwstr>
  </property>
  <property fmtid="{D5CDD505-2E9C-101B-9397-08002B2CF9AE}" pid="12" name="BDCONTENTCONTROL_58c026e3-c01c-4aab-b516-24beffdf374a">
    <vt:lpwstr>GetData?Formula=PURJWSgiUG9zdFNlcnZpY2UuYXNweD9TZXJ2aWNlPVN1YmplY3REYXRhU2VydmljZS5HZXRzJkZ1bmN0aW9uPUdldHNTZXJ2aWNlJkZMQUc9MSZPQkpfVldfSUQ9OTAwMDI4MiZTVEFGRklEPScke1N0YWZmSURfVmFsdWV9JyIp&amp;FunctionName=DIY&amp;ContentType=TABLE&amp;Caption=作者显示2&amp;DatasourceType=DI</vt:lpwstr>
  </property>
  <property fmtid="{D5CDD505-2E9C-101B-9397-08002B2CF9AE}" pid="13" name="BDCONTENTCONTROL_58c026e3-c01c-4aab-b516-24beffdf374a#2">
    <vt:lpwstr>YTable&amp;StyleId=&amp;Other=9000282&amp;IsOnlyRefresh=False&amp;PageCount=1&amp;TableHeadCount=0&amp;TableFootCount=0&amp;IsDataSubmission=&amp;SaveProperty=&amp;IsRelation=</vt:lpwstr>
  </property>
  <property fmtid="{D5CDD505-2E9C-101B-9397-08002B2CF9AE}" pid="14" name="BDCONTENTCONTROL_90e1ebba-a0f4-4268-9e60-051484c2d934">
    <vt:lpwstr>GetData?Formula=PURJWSgiUG9zdFNlcnZpY2UuYXNweD9TZXJ2aWNlPVN1YmplY3REYXRhU2VydmljZS5HZXRzJkZ1bmN0aW9uPUdldHNTZXJ2aWNlJkZMQUc9MSZPQkpfVldfSUQ9OTAwMDA0MSZTVEFGRklEPScke1N0YWZmSURfVmFsdWV9JyIp&amp;FunctionName=DIY&amp;ContentType=TABLE&amp;Caption=作者显示&amp;DatasourceType=DIY</vt:lpwstr>
  </property>
  <property fmtid="{D5CDD505-2E9C-101B-9397-08002B2CF9AE}" pid="15" name="BDCONTENTCONTROL_90e1ebba-a0f4-4268-9e60-051484c2d934#2">
    <vt:lpwstr>Table&amp;StyleId=&amp;Other=9000041&amp;IsOnlyRefresh=False&amp;PageCount=1&amp;TableHeadCount=0&amp;TableFootCount=0&amp;IsDataSubmission=&amp;SaveProperty=&amp;IsRelation=</vt:lpwstr>
  </property>
  <property fmtid="{D5CDD505-2E9C-101B-9397-08002B2CF9AE}" pid="16" name="BDCONTENTCONTROL_7ab7a55b-5b2c-413a-8fc0-fd2e841ab377">
    <vt:lpwstr>GetData?Formula=PURJWSgiUG9zdFNlcnZpY2UuYXNweD9TZXJ2aWNlPVN1YmplY3REYXRhU2VydmljZS5HZXRzJkZ1bmN0aW9uPUdldHNTZXJ2aWNlJkZMQUc9MSZPQkpfVldfSUQ9OTAwMDI4MiZTVEFGRklEPScke1N0YWZmSURfVmFsdWV9JyIp&amp;FunctionName=DIY&amp;ContentType=TABLE&amp;Caption=作者显示2&amp;DatasourceType=DI</vt:lpwstr>
  </property>
  <property fmtid="{D5CDD505-2E9C-101B-9397-08002B2CF9AE}" pid="17" name="BDCONTENTCONTROL_7ab7a55b-5b2c-413a-8fc0-fd2e841ab377#2">
    <vt:lpwstr>YTable&amp;StyleId=&amp;Other=9000282&amp;IsOnlyRefresh=False&amp;PageCount=0&amp;TableHeadCount=0&amp;TableFootCount=0&amp;IsDataSubmission=&amp;SaveProperty=&amp;IsRelation=</vt:lpwstr>
  </property>
  <property fmtid="{D5CDD505-2E9C-101B-9397-08002B2CF9AE}" pid="18" name="BDCONTENTCONTROL_f7840041-47e4-4615-8afd-da1009d6f917">
    <vt:lpwstr>GetData?Formula=PURJWSgiUG9zdFNlcnZpY2UuYXNweD8mU2VydmljZT1TdWJqZWN0RGF0YVNlcnZpY2UuR2V0cyZGdW5jdGlvbj1HZXRzU2VydmljZSZGTEFHPTEmT0JKX1ZXX0lEPTkwMDAyNTAmUkVQT1JUREFURT0nJHtSZXBvcnREYXRlX1ZhbHVlfScmU1RLQ09ERT0nJHtDb2RlTGlzdF9WYWx1ZX0nJlBJTkRFWD0xIik=&amp;Functi</vt:lpwstr>
  </property>
  <property fmtid="{D5CDD505-2E9C-101B-9397-08002B2CF9AE}" pid="19" name="BDCONTENTCONTROL_f7840041-47e4-4615-8afd-da1009d6f917#2">
    <vt:lpwstr>onName=DIY&amp;ContentType=TABLE&amp;Caption=重点公司主要财务指标&amp;DatasourceType=DIYTable&amp;StyleId=&amp;Other=9000250&amp;IsOnlyRefresh=False&amp;PageCount=1&amp;TableHeadCount=0&amp;TableFootCount=0&amp;IsDataSubmission=&amp;SaveProperty=&amp;IsRelation=</vt:lpwstr>
  </property>
  <property fmtid="{D5CDD505-2E9C-101B-9397-08002B2CF9AE}" pid="20" name="BDCONTENTCONTROL_c9c3a71c-a646-4161-b359-a3f355741946">
    <vt:lpwstr>GetData?Formula=PUdUQygiQkRDX1pEWSgic3RhZmZwZWZ0bmFtZSIsIicke1N0YWZmSURfVmFsdWV9JyIpIik=&amp;FunctionName=GTC&amp;ContentType=TEXT&amp;Caption=作者所属分组&amp;DatasourceType=GTC&amp;StyleId=&amp;Other=&amp;IsOnlyRefresh=False&amp;PageCount=0&amp;TableHeadCount=0&amp;TableFootCount=0&amp;IsDataSubmission</vt:lpwstr>
  </property>
  <property fmtid="{D5CDD505-2E9C-101B-9397-08002B2CF9AE}" pid="21" name="BDCONTENTCONTROL_c9c3a71c-a646-4161-b359-a3f355741946#2">
    <vt:lpwstr>=&amp;SaveProperty=&amp;IsRelation=</vt:lpwstr>
  </property>
  <property fmtid="{D5CDD505-2E9C-101B-9397-08002B2CF9AE}" pid="22" name="BDCONTENTCONTROL_c29eb107-6f0f-4002-9f1b-0eef07c025fa">
    <vt:lpwstr>GetData?Formula=PURJWSgiUG9zdFNlcnZpY2UuYXNweD9TZXJ2aWNlPVN1YmplY3REYXRhU2VydmljZS5HZXRzJkZ1bmN0aW9uPUdldHNTZXJ2aWNlJkZMQUc9MSZPQkpfVldfSUQ9OTAwMDA0MCZTVEFGRklEPScke1N0YWZmSURfVmFsdWV9JyIp&amp;FunctionName=DIY&amp;ContentType=TABLE&amp;Caption=自我介绍&amp;DatasourceType=DIY</vt:lpwstr>
  </property>
  <property fmtid="{D5CDD505-2E9C-101B-9397-08002B2CF9AE}" pid="23" name="BDCONTENTCONTROL_c29eb107-6f0f-4002-9f1b-0eef07c025fa#2">
    <vt:lpwstr>Table&amp;StyleId=&amp;Other=9000040&amp;IsOnlyRefresh=False&amp;PageCount=1&amp;TableHeadCount=0&amp;TableFootCount=0&amp;IsDataSubmission=&amp;SaveProperty=&amp;IsRelation=</vt:lpwstr>
  </property>
  <property fmtid="{D5CDD505-2E9C-101B-9397-08002B2CF9AE}" pid="24" name="BDCONTENTCONTROL_b2e4b1cb-113f-470a-982f-17156fa86572">
    <vt:lpwstr>GetData?Formula=PURJWSgiUG9zdFNlcnZpY2UuYXNweD8mU2VydmljZT1TdWJqZWN0RGF0YVNlcnZpY2UuR2V0cyZGdW5jdGlvbj1HZXRzU2VydmljZSZGTEFHPTEmT0JKX1ZXX0lEPTkwMDAwNDAmU1RBRkZJRD0nJHtTdGFmZklEX1ZhbHVlfScmUElOREVYPTEiKQ==&amp;FunctionName=DIY&amp;ContentType=TABLE&amp;Caption=自我介绍&amp;Da</vt:lpwstr>
  </property>
  <property fmtid="{D5CDD505-2E9C-101B-9397-08002B2CF9AE}" pid="25" name="BDCONTENTCONTROL_b2e4b1cb-113f-470a-982f-17156fa86572#2">
    <vt:lpwstr>tasourceType=DIYTable&amp;StyleId=&amp;Other=9000040&amp;IsOnlyRefresh=False&amp;PageCount=1&amp;TableHeadCount=0&amp;TableFootCount=0&amp;IsDataSubmission=&amp;SaveProperty=&amp;IsRelation=</vt:lpwstr>
  </property>
  <property fmtid="{D5CDD505-2E9C-101B-9397-08002B2CF9AE}" pid="26" name="BDCONTENTCONTROL_Author_Show2">
    <vt:lpwstr>GetData?Formula=PURJWSgiUG9zdFNlcnZpY2UuYXNweD8mU2VydmljZT1TdWJqZWN0RGF0YVNlcnZpY2UuR2V0cyZGdW5jdGlvbj1HZXRzU2VydmljZSZGTEFHPTEmT0JKX1ZXX0lEPTkwMDAyODImU1RBRkZJRD0nJHtTdGFmZklEX1ZhbHVlfSciKQ==&amp;FunctionName=DIY&amp;ContentType=TABLE&amp;Caption=作者显示2&amp;DatasourceTyp</vt:lpwstr>
  </property>
  <property fmtid="{D5CDD505-2E9C-101B-9397-08002B2CF9AE}" pid="27" name="BDCONTENTCONTROL_Author_Show2#2">
    <vt:lpwstr>e=DIYTable&amp;StyleId=79&amp;Other=9000282&amp;IsOnlyRefresh=False&amp;PageCount=1&amp;TableHeadCount=0&amp;TableFootCount=0&amp;IsDataSubmission=&amp;SaveProperty=&amp;IsRelation=</vt:lpwstr>
  </property>
  <property fmtid="{D5CDD505-2E9C-101B-9397-08002B2CF9AE}" pid="28" name="BDCONTENTCONTROL_Author_Show1">
    <vt:lpwstr>GetData?Formula=PURJWSgiUG9zdFNlcnZpY2UuYXNweD8mU2VydmljZT1TdWJqZWN0RGF0YVNlcnZpY2UuR2V0cyZGdW5jdGlvbj1HZXRzU2VydmljZSZGTEFHPTEmT0JKX1ZXX0lEPTkwMDAyODImU1RBRkZJRD0nJHtTdGFmZklEX1ZhbHVlfSciKQ==&amp;FunctionName=DIY&amp;ContentType=TABLE&amp;Caption=作者显示2&amp;DatasourceTyp</vt:lpwstr>
  </property>
  <property fmtid="{D5CDD505-2E9C-101B-9397-08002B2CF9AE}" pid="29" name="BDCONTENTCONTROL_Author_Show1#2">
    <vt:lpwstr>e=DIYTable&amp;StyleId=79&amp;Other=9000282&amp;IsOnlyRefresh=False&amp;PageCount=1&amp;TableHeadCount=0&amp;TableFootCount=0&amp;IsDataSubmission=&amp;SaveProperty=&amp;IsRelation=</vt:lpwstr>
  </property>
  <property fmtid="{D5CDD505-2E9C-101B-9397-08002B2CF9AE}" pid="30" name="BDCONTENTCONTROL_68f3cfb9-6488-4e2f-9d04-330d983fbc92">
    <vt:lpwstr>GetData?Formula=PVBBUigiUmVwb3J0VHlwZSIp&amp;FunctionName=PAR&amp;ContentType=TEXT&amp;Caption=报告类型&amp;DatasourceType=PAR&amp;StyleId=&amp;Other=&amp;IsOnlyRefresh=False&amp;PageCount=0&amp;TableHeadCount=0&amp;TableFootCount=0&amp;IsDataSubmission=&amp;SaveProperty=&amp;IsRelation=</vt:lpwstr>
  </property>
  <property fmtid="{D5CDD505-2E9C-101B-9397-08002B2CF9AE}" pid="31" name="BDCONTENTCONTROL_Company_MainFinance1">
    <vt:lpwstr>GetData?Formula=PURJWSgiUG9zdFNlcnZpY2UuYXNweD9TZXJ2aWNlPVN1YmplY3REYXRhU2VydmljZS5HZXRzJkZ1bmN0aW9uPUdldHNTZXJ2aWNlJkZMQUc9MSZPQkpfVldfSUQ9OTAwMDI1MCZSRVBPUlREQVRFPScke1JlcG9ydERhdGVfVmFsdWV9JyZTVEtDT0RFPScke0NvZGVMaXN0X1ZhbHVlfSciKQ==&amp;FunctionName=DIY&amp;C</vt:lpwstr>
  </property>
  <property fmtid="{D5CDD505-2E9C-101B-9397-08002B2CF9AE}" pid="32" name="BDCONTENTCONTROL_Company_MainFinance1#2">
    <vt:lpwstr>ontentType=TABLE&amp;Caption=重点公司主要财务指标&amp;DatasourceType=DIYTable&amp;StyleId=84&amp;Other=9000250&amp;IsOnlyRefresh=False&amp;PageCount=1&amp;TableHeadCount=0&amp;TableFootCount=0&amp;IsDataSubmission=&amp;SaveProperty=&amp;IsRelation=</vt:lpwstr>
  </property>
  <property fmtid="{D5CDD505-2E9C-101B-9397-08002B2CF9AE}" pid="33" name="BDCONTENTCONTROL_bc6f4cea-ad2d-44ad-8789-449df5b72453">
    <vt:lpwstr>GetData?Formula=PURJWSgiUG9zdFNlcnZpY2UuYXNweD8mU2VydmljZT1TdWJqZWN0RGF0YVNlcnZpY2UuR2V0cyZGdW5jdGlvbj1HZXRzU2VydmljZSZGTEFHPTEmT0JKX1ZXX0lEPTkwMDAyNTAmUkVQT1JUREFURT0nJHtSZXBvcnREYXRlX1ZhbHVlfScmU1RLQ09ERT0nJHtDb2RlTGlzdF9WYWx1ZX0nJlBJTkRFWD0xIik=&amp;Functi</vt:lpwstr>
  </property>
  <property fmtid="{D5CDD505-2E9C-101B-9397-08002B2CF9AE}" pid="34" name="BDCONTENTCONTROL_bc6f4cea-ad2d-44ad-8789-449df5b72453#2">
    <vt:lpwstr>onName=DIY&amp;ContentType=TABLE&amp;Caption=重点公司主要财务指标&amp;DatasourceType=DIYTable&amp;StyleId=84&amp;Other=9000250&amp;IsOnlyRefresh=False&amp;PageCount=1&amp;TableHeadCount=0&amp;TableFootCount=0&amp;IsDataSubmission=&amp;SaveProperty=&amp;IsRelation=</vt:lpwstr>
  </property>
  <property fmtid="{D5CDD505-2E9C-101B-9397-08002B2CF9AE}" pid="35" name="BDCONTENTCONTROL_6044f46b-5f50-4a8e-bcc3-18a768000d15">
    <vt:lpwstr>GetData?Formula=PURJWSgiUG9zdFNlcnZpY2UuYXNweD8mU2VydmljZT1TdWJqZWN0RGF0YVNlcnZpY2UuR2V0cyZGdW5jdGlvbj1HZXRzU2VydmljZSZGTEFHPTEmT0JKX1ZXX0lEPTkwMDAyNTAmUkVQT1JUREFURT0nJHtSZXBvcnREYXRlX1ZhbHVlfScmU1RLQ09ERT0nJHtDb2RlTGlzdF9WYWx1ZX0nJlBJTkRFWD0xIik=&amp;Functi</vt:lpwstr>
  </property>
  <property fmtid="{D5CDD505-2E9C-101B-9397-08002B2CF9AE}" pid="36" name="BDCONTENTCONTROL_6044f46b-5f50-4a8e-bcc3-18a768000d15#2">
    <vt:lpwstr>onName=DIY&amp;ContentType=TABLE&amp;Caption=重点公司主要财务指标&amp;DatasourceType=DIYTable&amp;StyleId=84&amp;Other=9000250&amp;IsOnlyRefresh=False&amp;PageCount=1&amp;TableHeadCount=0&amp;TableFootCount=0&amp;IsDataSubmission=&amp;SaveProperty=&amp;IsRelation=</vt:lpwstr>
  </property>
  <property fmtid="{D5CDD505-2E9C-101B-9397-08002B2CF9AE}" pid="37" name="BDCONTENTCONTROL_45401df4-013c-4d54-b562-6625afc1c16b">
    <vt:lpwstr>GetData?Formula=PURJWSgiUG9zdFNlcnZpY2UuYXNweD8mU2VydmljZT1TdWJqZWN0RGF0YVNlcnZpY2UuR2V0cyZGdW5jdGlvbj1HZXRzU2VydmljZSZGTEFHPTEmT0JKX1ZXX0lEPTkwMDAyNTAmUkVQT1JUREFURT0nJHtSZXBvcnREYXRlX1ZhbHVlfScmU1RLQ09ERT0nJHtDb2RlTGlzdF9WYWx1ZX0nJlBJTkRFWD0xIik=&amp;Functi</vt:lpwstr>
  </property>
  <property fmtid="{D5CDD505-2E9C-101B-9397-08002B2CF9AE}" pid="38" name="BDCONTENTCONTROL_45401df4-013c-4d54-b562-6625afc1c16b#2">
    <vt:lpwstr>onName=DIY&amp;ContentType=TABLE&amp;Caption=重点公司主要财务指标&amp;DatasourceType=DIYTable&amp;StyleId=84&amp;Other=9000250&amp;IsOnlyRefresh=False&amp;PageCount=1&amp;TableHeadCount=0&amp;TableFootCount=0&amp;IsDataSubmission=&amp;SaveProperty=&amp;IsRelation=</vt:lpwstr>
  </property>
  <property fmtid="{D5CDD505-2E9C-101B-9397-08002B2CF9AE}" pid="39" name="BDCONTENTCONTROL_2d799f7f-3549-4010-9f51-f510d7642913">
    <vt:lpwstr>GetData?Formula=PURJWSgiUG9zdFNlcnZpY2UuYXNweD8mU2VydmljZT1TdWJqZWN0RGF0YVNlcnZpY2UuR2V0cyZGdW5jdGlvbj1HZXRzU2VydmljZSZGTEFHPTEmT0JKX1ZXX0lEPTkwMDAyNTAmUkVQT1JUREFURT0nJHtSZXBvcnREYXRlX1ZhbHVlfScmU1RLQ09ERT0nJHtDb2RlTGlzdF9WYWx1ZX0nJlBJTkRFWD0xIik=&amp;Functi</vt:lpwstr>
  </property>
  <property fmtid="{D5CDD505-2E9C-101B-9397-08002B2CF9AE}" pid="40" name="BDCONTENTCONTROL_2d799f7f-3549-4010-9f51-f510d7642913#2">
    <vt:lpwstr>onName=DIY&amp;ContentType=TABLE&amp;Caption=重点公司主要财务指标&amp;DatasourceType=DIYTable&amp;StyleId=84&amp;Other=9000250&amp;IsOnlyRefresh=False&amp;PageCount=1&amp;TableHeadCount=0&amp;TableFootCount=0&amp;IsDataSubmission=&amp;SaveProperty=&amp;IsRelation=</vt:lpwstr>
  </property>
  <property fmtid="{D5CDD505-2E9C-101B-9397-08002B2CF9AE}" pid="41" name="BDCONTENTCONTROL_Company_MainFinance2">
    <vt:lpwstr>GetData?Formula=PURJWSgiUG9zdFNlcnZpY2UuYXNweD9TZXJ2aWNlPVN1YmplY3REYXRhU2VydmljZS5HZXRzJkZ1bmN0aW9uPUdldHNTZXJ2aWNlJkZMQUc9MSZPQkpfVldfSUQ9OTAwMDI1MCZSRVBPUlREQVRFPScke1JlcG9ydERhdGVfVmFsdWV9JyZTVEtDT0RFPScke0NvZGVMaXN0X1ZhbHVlMn0nIik=&amp;FunctionName=DIY&amp;C</vt:lpwstr>
  </property>
  <property fmtid="{D5CDD505-2E9C-101B-9397-08002B2CF9AE}" pid="42" name="BDCONTENTCONTROL_Company_MainFinance2#2">
    <vt:lpwstr>ontentType=TABLE&amp;Caption=重点公司主要财务指标&amp;DatasourceType=DIYTable&amp;StyleId=84&amp;Other=9000250&amp;IsOnlyRefresh=False&amp;PageCount=1&amp;TableHeadCount=0&amp;TableFootCount=0&amp;IsDataSubmission=&amp;SaveProperty=&amp;IsRelation=</vt:lpwstr>
  </property>
  <property fmtid="{D5CDD505-2E9C-101B-9397-08002B2CF9AE}" pid="43" name="BDCONTENTCONTROL_Company_MainFinance3">
    <vt:lpwstr>GetData?Formula=PURJWSgiUG9zdFNlcnZpY2UuYXNweD9TZXJ2aWNlPVN1YmplY3REYXRhU2VydmljZS5HZXRzJkZ1bmN0aW9uPUdldHNTZXJ2aWNlJkZMQUc9MSZPQkpfVldfSUQ9OTAwMDI1MCZSRVBPUlREQVRFPScke1JlcG9ydERhdGVfVmFsdWV9JyZTVEtDT0RFPScke0NvZGVMaXN0X1ZhbHVlM30nIik=&amp;FunctionName=DIY&amp;C</vt:lpwstr>
  </property>
  <property fmtid="{D5CDD505-2E9C-101B-9397-08002B2CF9AE}" pid="44" name="BDCONTENTCONTROL_Company_MainFinance3#2">
    <vt:lpwstr>ontentType=TABLE&amp;Caption=重点公司主要财务指标&amp;DatasourceType=DIYTable&amp;StyleId=84&amp;Other=9000250&amp;IsOnlyRefresh=False&amp;PageCount=1&amp;TableHeadCount=0&amp;TableFootCount=0&amp;IsDataSubmission=&amp;SaveProperty=&amp;IsRelation=</vt:lpwstr>
  </property>
  <property fmtid="{D5CDD505-2E9C-101B-9397-08002B2CF9AE}" pid="45" name="BDCONTENTCONTROL_Company_MainFinance4">
    <vt:lpwstr>GetData?Formula=PURJWSgiUG9zdFNlcnZpY2UuYXNweD9TZXJ2aWNlPVN1YmplY3REYXRhU2VydmljZS5HZXRzJkZ1bmN0aW9uPUdldHNTZXJ2aWNlJkZMQUc9MSZPQkpfVldfSUQ9OTAwMDI1MCZSRVBPUlREQVRFPScke1JlcG9ydERhdGVfVmFsdWV9JyZTVEtDT0RFPScke0NvZGVMaXN0X1ZhbHVlNH0nIik=&amp;FunctionName=DIY&amp;C</vt:lpwstr>
  </property>
  <property fmtid="{D5CDD505-2E9C-101B-9397-08002B2CF9AE}" pid="46" name="BDCONTENTCONTROL_Company_MainFinance4#2">
    <vt:lpwstr>ontentType=TABLE&amp;Caption=重点公司主要财务指标&amp;DatasourceType=DIYTable&amp;StyleId=84&amp;Other=9000250&amp;IsOnlyRefresh=False&amp;PageCount=1&amp;TableHeadCount=0&amp;TableFootCount=0&amp;IsDataSubmission=&amp;SaveProperty=&amp;IsRelation=</vt:lpwstr>
  </property>
  <property fmtid="{D5CDD505-2E9C-101B-9397-08002B2CF9AE}" pid="47" name="BDCONTENTCONTROL_Company_MainFinance5">
    <vt:lpwstr>GetData?Formula=PURJWSgiUG9zdFNlcnZpY2UuYXNweD9TZXJ2aWNlPVN1YmplY3REYXRhU2VydmljZS5HZXRzJkZ1bmN0aW9uPUdldHNTZXJ2aWNlJkZMQUc9MSZPQkpfVldfSUQ9OTAwMDI1MCZSRVBPUlREQVRFPScke1JlcG9ydERhdGVfVmFsdWV9JyZTVEtDT0RFPScke0NvZGVMaXN0X1ZhbHVlNX0nIik=&amp;FunctionName=DIY&amp;C</vt:lpwstr>
  </property>
  <property fmtid="{D5CDD505-2E9C-101B-9397-08002B2CF9AE}" pid="48" name="BDCONTENTCONTROL_Company_MainFinance5#2">
    <vt:lpwstr>ontentType=TABLE&amp;Caption=重点公司主要财务指标&amp;DatasourceType=DIYTable&amp;StyleId=84&amp;Other=9000250&amp;IsOnlyRefresh=False&amp;PageCount=1&amp;TableHeadCount=0&amp;TableFootCount=0&amp;IsDataSubmission=&amp;SaveProperty=&amp;IsRelation=</vt:lpwstr>
  </property>
  <property fmtid="{D5CDD505-2E9C-101B-9397-08002B2CF9AE}" pid="49" name="BDCONTENTCONTROL_3bcd1352-8837-4e87-b25c-c055db3cc5e6">
    <vt:lpwstr>GetData?Formula=PURJWSgiUG9zdFNlcnZpY2UuYXNweD9TZXJ2aWNlPVN1YmplY3REYXRhU2VydmljZS5HZXRzJkZ1bmN0aW9uPUdldHNTZXJ2aWNlJkZMQUc9MSZPQkpfVldfSUQ9OTAwMDA0MiZTVEtDT0RFPScke0NvZGVMaXN0X1ZhbHVlfSciKQ==&amp;FunctionName=DIY&amp;ContentType=TABLE&amp;Caption=合规提示末页声明&amp;Datasource</vt:lpwstr>
  </property>
  <property fmtid="{D5CDD505-2E9C-101B-9397-08002B2CF9AE}" pid="50" name="BDCONTENTCONTROL_3bcd1352-8837-4e87-b25c-c055db3cc5e6#2">
    <vt:lpwstr>Type=DIYTable&amp;StyleId=&amp;Other=9000042&amp;IsOnlyRefresh=False&amp;PageCount=1&amp;TableHeadCount=0&amp;TableFootCount=0&amp;IsDataSubmission=&amp;SaveProperty=&amp;IsRelation=</vt:lpwstr>
  </property>
  <property fmtid="{D5CDD505-2E9C-101B-9397-08002B2CF9AE}" pid="51" name="BDCONTENTCONTROL_cdb66808-a14f-4001-ae8c-541de5c33713">
    <vt:lpwstr>GetData?Formula=PURJWSgiUG9zdFNlcnZpY2UuYXNweD9TZXJ2aWNlPVN1YmplY3REYXRhU2VydmljZS5HZXRzJkZ1bmN0aW9uPUdldHNTZXJ2aWNlJkZMQUc9MSZPQkpfVldfSUQ9OTAwMDA0MiZTVEtDT0RFPScke0JEX0NPREV9JyIp&amp;FunctionName=DIY&amp;ContentType=TABLE&amp;Caption=合规提示末页声明&amp;DatasourceType=DIYTabl</vt:lpwstr>
  </property>
  <property fmtid="{D5CDD505-2E9C-101B-9397-08002B2CF9AE}" pid="52" name="BDCONTENTCONTROL_cdb66808-a14f-4001-ae8c-541de5c33713#2">
    <vt:lpwstr>e&amp;StyleId=&amp;Other=9000042&amp;IsOnlyRefresh=False&amp;PageCount=1&amp;TableHeadCount=0&amp;TableFootCount=0&amp;IsDataSubmission=&amp;SaveProperty=&amp;IsRelation=</vt:lpwstr>
  </property>
  <property fmtid="{D5CDD505-2E9C-101B-9397-08002B2CF9AE}" pid="53" name="BDCONTENTCONTROL_Compliance_Lastpage_State">
    <vt:lpwstr>GetData?Formula=PURJWSgiUG9zdFNlcnZpY2UuYXNweD9TZXJ2aWNlPVN1YmplY3REYXRhU2VydmljZS5HZXRzJkZ1bmN0aW9uPUdldHNTZXJ2aWNlJkZMQUc9MSZPQkpfVldfSUQ9OTAwMDA0MiZTVEtDT0RFPScke0NvZGVMaXN0X1ZhbHVlfSciKQ==&amp;FunctionName=DIY&amp;ContentType=TABLE&amp;Caption=合规提示末页声明&amp;Datasource</vt:lpwstr>
  </property>
  <property fmtid="{D5CDD505-2E9C-101B-9397-08002B2CF9AE}" pid="54" name="BDCONTENTCONTROL_Compliance_Lastpage_State#2">
    <vt:lpwstr>Type=DIYTable&amp;StyleId=&amp;Other=9000042&amp;IsOnlyRefresh=False&amp;PageCount=0&amp;TableHeadCount=0&amp;TableFootCount=0&amp;IsDataSubmission=&amp;SaveProperty=&amp;IsRelation=</vt:lpwstr>
  </property>
  <property fmtid="{D5CDD505-2E9C-101B-9397-08002B2CF9AE}" pid="55" name="Report_Version">
    <vt:lpwstr>行业周报PPT_v1.1</vt:lpwstr>
  </property>
  <property fmtid="{D5CDD505-2E9C-101B-9397-08002B2CF9AE}" pid="56" name="BDCONTENTCONTROL_AUTO_SAVE_Risk">
    <vt:lpwstr>风险提示一：_x000d__x000d_点击此处添加文本内容，如关键词、部分简单介绍等。点击此处添加文本内容，如关键词、部分简单介绍等。点击此处添加文本内容，如关键词、部分简单介绍等。点击此处添加文本内容_x000d__x000d_风险提示二：_x000d__x000d_点击此处添加文本内容，如关键词、部分简单介绍等。点击此处添加文本内容，如关键词、部分简单介绍等。点击此处添加文本内容，如关键词、部分简单介绍等。点击此处添加文本内容_x000d__x000d_风险提示三：_x000d__x000d_点击此处添加文本内容，如关键词、部分简单介绍等。点击此处添加文本内容，如关键词、部分简单介绍等。点击此处添加文本内容，如关键词</vt:lpwstr>
  </property>
  <property fmtid="{D5CDD505-2E9C-101B-9397-08002B2CF9AE}" pid="57" name="BDCONTENTCONTROL_AUTO_SAVE_Risk#2">
    <vt:lpwstr>、部分简单介绍等。点击此处添加文本内容</vt:lpwstr>
  </property>
  <property fmtid="{D5CDD505-2E9C-101B-9397-08002B2CF9AE}" pid="58" name="ComplianceCheckTime">
    <vt:lpwstr>2026-08-23 22:24:47</vt:lpwstr>
  </property>
  <property fmtid="{D5CDD505-2E9C-101B-9397-08002B2CF9AE}" pid="59" name="ComplianceCheckResult">
    <vt:lpwstr>st,敏感型词,1;保障,敏感型词,2;唯一,敏感型词,1;验证,敏感型词,1;重点关注,敏感型词,1;最大,敏感型词,5</vt:lpwstr>
  </property>
  <property fmtid="{D5CDD505-2E9C-101B-9397-08002B2CF9AE}" pid="60" name="ReportType_Value">
    <vt:lpwstr>575030157180339</vt:lpwstr>
  </property>
  <property fmtid="{D5CDD505-2E9C-101B-9397-08002B2CF9AE}" pid="61" name="ReportType_DisplayName">
    <vt:lpwstr>行业周报</vt:lpwstr>
  </property>
  <property fmtid="{D5CDD505-2E9C-101B-9397-08002B2CF9AE}" pid="62" name="ReportDate_Value">
    <vt:lpwstr>2026-08-28</vt:lpwstr>
  </property>
  <property fmtid="{D5CDD505-2E9C-101B-9397-08002B2CF9AE}" pid="63" name="ReportDate_DisplayName">
    <vt:lpwstr>2026年08月28日</vt:lpwstr>
  </property>
  <property fmtid="{D5CDD505-2E9C-101B-9397-08002B2CF9AE}" pid="64" name="IndusList_Value">
    <vt:lpwstr>6332393</vt:lpwstr>
  </property>
  <property fmtid="{D5CDD505-2E9C-101B-9397-08002B2CF9AE}" pid="65" name="IndusList_DisplayName">
    <vt:lpwstr>医药生物</vt:lpwstr>
  </property>
  <property fmtid="{D5CDD505-2E9C-101B-9397-08002B2CF9AE}" pid="66" name="INDUSRating_Value">
    <vt:lpwstr>1</vt:lpwstr>
  </property>
  <property fmtid="{D5CDD505-2E9C-101B-9397-08002B2CF9AE}" pid="67" name="INDUSRating_DisplayName">
    <vt:lpwstr>推荐</vt:lpwstr>
  </property>
  <property fmtid="{D5CDD505-2E9C-101B-9397-08002B2CF9AE}" pid="68" name="INDUSAjust_Value">
    <vt:lpwstr>3</vt:lpwstr>
  </property>
  <property fmtid="{D5CDD505-2E9C-101B-9397-08002B2CF9AE}" pid="69" name="INDUSAjust_DisplayName">
    <vt:lpwstr>维持</vt:lpwstr>
  </property>
  <property fmtid="{D5CDD505-2E9C-101B-9397-08002B2CF9AE}" pid="70" name="CodeList_Value">
    <vt:lpwstr>688176.SH,688488.SH,688382.SH,002317.SZ,002821.SZ,301235.SZ,301257.SZ,688513.SH,603259.SH;</vt:lpwstr>
  </property>
  <property fmtid="{D5CDD505-2E9C-101B-9397-08002B2CF9AE}" pid="71" name="CodeList_DisplayName">
    <vt:lpwstr>688176.SH(亚虹医药-U),688488.SH(艾迪药业),688382.SH(益方生物-U),002317.SZ(众生药业),002821.SZ(凯莱英),301235.SZ(华康洁净),301257.SZ(普蕊斯),688513.SH(苑东生物),603259.SH(药明康德);</vt:lpwstr>
  </property>
  <property fmtid="{D5CDD505-2E9C-101B-9397-08002B2CF9AE}" pid="72" name="docSaved">
    <vt:lpwstr>false</vt:lpwstr>
  </property>
  <property fmtid="{D5CDD505-2E9C-101B-9397-08002B2CF9AE}" pid="73" name="BDCONTENTCONTROL_AUTO_SAVE_SubTitle">
    <vt:lpwstr>医药行业周报</vt:lpwstr>
  </property>
  <property fmtid="{D5CDD505-2E9C-101B-9397-08002B2CF9AE}" pid="74" name="BDCONTENTCONTROL_AUTO_SAVE_Title">
    <vt:lpwstr>关注mRNA癌症疫苗进展</vt:lpwstr>
  </property>
  <property fmtid="{D5CDD505-2E9C-101B-9397-08002B2CF9AE}" pid="75" name="verifycontent">
    <vt:lpwstr>重点公司主要财务指标:||股价|||||||;|||2025|2026E|2027E|2025|2026E|2027E|;002317.SZ|众生药业|25.85|0.32|0.38|0.49|80.78|68.03|52.76|买入;002821.SZ|凯莱英|164.94|||||||;301235.SZ|华康洁净|45.63|1.09|1.87|2.79|41.86|24.40|16.35|买入;301257.SZ|普蕊斯|43.00|||||||;603259.SH|药明康德|157.40|6.4</vt:lpwstr>
  </property>
  <property fmtid="{D5CDD505-2E9C-101B-9397-08002B2CF9AE}" pid="76" name="verifycontent#2">
    <vt:lpwstr>2|7.15|8.88|24.52|22.01|17.73|买入;688176.SH|亚虹医药-U|11.88|-0.73|-0.55|-0.26|-16.27|-21.60|-45.69|买入;688382.SH|益方生物-U|20.09|-0.55|-0.46|-0.35|-36.53|-43.67|-57.40|买入;688488.SH|艾迪药业|16.12|-0.05|0.13|0.24|-322.40|124.00|67.17|买入;688513.SH|苑东生物|43.58|||||||</vt:lpwstr>
  </property>
  <property fmtid="{D5CDD505-2E9C-101B-9397-08002B2CF9AE}" pid="77" name="BDCONTENTCONTROL_AUTO_SAVE_ReportNo">
    <vt:lpwstr>260823222447</vt:lpwstr>
  </property>
  <property fmtid="{D5CDD505-2E9C-101B-9397-08002B2CF9AE}" pid="78" name="BDCONTENTCONTROL_AUTO_SAVE_Summary">
    <vt:lpwstr>1.mRNA癌症疫苗取得临床重要突破，未来产业前景广阔_x000d__x000d_2026年8月19日，Moderna和默沙东共同宣布mRNA癌症疫苗Intismeran Autogene 联用KEYTRUDA在完全切除的IIB-IV期黑色素瘤患者辅助治疗中取得阳性结果。Intismeran Autogene 为mRNA个体化癌症疫苗，区别于通用型疫苗，Intismeran Autogene 包含的肿瘤抗原是经过肿瘤活检、测序、筛选、优化后得到的，临床实验组99.1% 的抗原为独立，仅有0.9%存在重叠。此前肿瘤疫苗临床失败的重</vt:lpwstr>
  </property>
  <property fmtid="{D5CDD505-2E9C-101B-9397-08002B2CF9AE}" pid="79" name="BDCONTENTCONTROL_AUTO_SAVE_Summary#2">
    <vt:lpwstr>要原因之一在于肿瘤抗原的异质性，mRNA肿瘤疫苗通过个体化设计解决此问题，对于肿瘤疫苗的研发具有重要的里程碑意义。目前Moderna和默沙东还在推进非小细胞肺癌、肾细胞癌和非浸润膀胱癌的辅助治疗研究，晚期黑色素细胞瘤的主治治疗也在推进中。这意味着未来mRNA癌症疫苗将不是停留在单一瘤种或者仅限于控制癌症复发的场景，未来有希望和K药联用进入关键前期。Moderna也在持续迭代mRNA疫苗的技术平台，第二代技术会考虑个体化疫苗的持续治疗和成本问题，开发通用型而且具有相当保护力的疫苗。第三代技术，mRNA技术将</vt:lpwstr>
  </property>
  <property fmtid="{D5CDD505-2E9C-101B-9397-08002B2CF9AE}" pid="80" name="BDCONTENTCONTROL_AUTO_SAVE_Summary#3">
    <vt:lpwstr>于TCE和体内CAR-T结合，进一步提高肿瘤的响应率，未来mRNA癌症疫苗有望成为肿瘤免疫治疗的主要增长极。_x000d__x000d_
2026年中国创新出海趋势持续强化，市场对创新药配置回升带来估值修复的弹性，维持医药行业“推荐”的评级，具体的推选方向和选股思路如下：_x000d__x000d_1）CXO景气度进入业绩确认期，新签CDMO订单有望提升，估值有提升空间，推荐【药明康德】、【凯莱英】、【九洲药业】、【益诺思】、【普蕊斯】。早研方向关注【药康生物】。_x000d_2）自免领域，关注口服方向以及UC/IBD等难治领域的突破，推荐【益方生物】，【亚虹医药</vt:lpwstr>
  </property>
  <property fmtid="{D5CDD505-2E9C-101B-9397-08002B2CF9AE}" pid="81" name="BDCONTENTCONTROL_AUTO_SAVE_Summary#4">
    <vt:lpwstr>】，关注【荃信生物】、【诺诚健华】，国内商业化突破和重磅品种潜力，关注【康诺亚】；_x000d_3）中国企业在MASH领域的进展和持续突破，有望实现出海突破，推荐【众生药业】。_x000d_4）GLP-1创新出海，推荐【众生药业】，【歌礼制药】，关注【联邦制药】、【恒瑞医药】、【甘李药业】。_x000d_5）KRAS靶点在胰腺癌等瘤种治疗的持续突破，关注【加科思-B】、【劲方医药-B】，上游产业链配套关注【康龙化成】。_x000d_6）关注核药市场的发展机遇，推荐【百洋医药】、【东诚药业】，关注【中国同辐】。_x000d_7）胰岛素和类似物出海突破，关注【通化东宝</vt:lpwstr>
  </property>
  <property fmtid="{D5CDD505-2E9C-101B-9397-08002B2CF9AE}" pid="82" name="BDCONTENTCONTROL_AUTO_SAVE_Summary#5">
    <vt:lpwstr>】、【东阳光药】。_x000d_8）Q2同店趋势好转，行业并购整合节奏恢复，推荐【益丰药房】和【老百姓】。_x000d_9）两用物项管理效果见证落地，中国产业链替代进程加速，粉体价格提升提升利润，推荐【爱迪特】，关注【国瓷材料】。_x000d_10）放疗技术革新突破，推荐【百洋医药】。</vt:lpwstr>
  </property>
  <property fmtid="{D5CDD505-2E9C-101B-9397-08002B2CF9AE}" pid="83" name="UserIntroductionJson">
    <vt:lpwstr>[]</vt:lpwstr>
  </property>
</Properties>
</file>